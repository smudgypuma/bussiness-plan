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media/image13.jpg" ContentType="image/jp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36.jpg" ContentType="image/jpg"/>
  <Override PartName="/ppt/media/image37.jpg" ContentType="image/jpg"/>
  <Override PartName="/ppt/media/image38.jpg" ContentType="image/jpg"/>
  <Override PartName="/ppt/media/image39.jpg" ContentType="image/jpg"/>
  <Override PartName="/ppt/media/image40.jpg" ContentType="image/jpg"/>
  <Override PartName="/ppt/media/image41.jpg" ContentType="image/jpg"/>
  <Override PartName="/ppt/media/image42.jpg" ContentType="image/jpg"/>
  <Override PartName="/ppt/media/image43.jpg" ContentType="image/jpg"/>
  <Override PartName="/ppt/media/image44.jpg" ContentType="image/jpg"/>
  <Override PartName="/ppt/media/image45.jpg" ContentType="image/jpg"/>
  <Override PartName="/ppt/media/image46.jpg" ContentType="image/jp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0" r:id="rId1"/>
  </p:sldMasterIdLst>
  <p:notesMasterIdLst>
    <p:notesMasterId r:id="rId43"/>
  </p:notesMasterIdLst>
  <p:handoutMasterIdLst>
    <p:handoutMasterId r:id="rId44"/>
  </p:handoutMasterIdLst>
  <p:sldIdLst>
    <p:sldId id="261" r:id="rId2"/>
    <p:sldId id="549" r:id="rId3"/>
    <p:sldId id="550" r:id="rId4"/>
    <p:sldId id="263" r:id="rId5"/>
    <p:sldId id="264" r:id="rId6"/>
    <p:sldId id="271" r:id="rId7"/>
    <p:sldId id="309" r:id="rId8"/>
    <p:sldId id="384" r:id="rId9"/>
    <p:sldId id="405" r:id="rId10"/>
    <p:sldId id="410" r:id="rId11"/>
    <p:sldId id="411" r:id="rId12"/>
    <p:sldId id="416" r:id="rId13"/>
    <p:sldId id="412" r:id="rId14"/>
    <p:sldId id="552" r:id="rId15"/>
    <p:sldId id="333" r:id="rId16"/>
    <p:sldId id="335" r:id="rId17"/>
    <p:sldId id="334" r:id="rId18"/>
    <p:sldId id="319" r:id="rId19"/>
    <p:sldId id="387" r:id="rId20"/>
    <p:sldId id="388" r:id="rId21"/>
    <p:sldId id="389" r:id="rId22"/>
    <p:sldId id="390" r:id="rId23"/>
    <p:sldId id="391" r:id="rId24"/>
    <p:sldId id="392" r:id="rId25"/>
    <p:sldId id="393" r:id="rId26"/>
    <p:sldId id="398" r:id="rId27"/>
    <p:sldId id="400" r:id="rId28"/>
    <p:sldId id="401" r:id="rId29"/>
    <p:sldId id="415" r:id="rId30"/>
    <p:sldId id="554" r:id="rId31"/>
    <p:sldId id="417" r:id="rId32"/>
    <p:sldId id="555" r:id="rId33"/>
    <p:sldId id="418" r:id="rId34"/>
    <p:sldId id="556" r:id="rId35"/>
    <p:sldId id="403" r:id="rId36"/>
    <p:sldId id="404" r:id="rId37"/>
    <p:sldId id="557" r:id="rId38"/>
    <p:sldId id="406" r:id="rId39"/>
    <p:sldId id="407" r:id="rId40"/>
    <p:sldId id="332" r:id="rId41"/>
    <p:sldId id="54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clrMru>
    <a:srgbClr val="EEEEEE"/>
    <a:srgbClr val="FFFFFF"/>
    <a:srgbClr val="00A6D7"/>
    <a:srgbClr val="555555"/>
    <a:srgbClr val="777777"/>
    <a:srgbClr val="888888"/>
    <a:srgbClr val="AAAAAA"/>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26" autoAdjust="0"/>
    <p:restoredTop sz="90979" autoAdjust="0"/>
  </p:normalViewPr>
  <p:slideViewPr>
    <p:cSldViewPr>
      <p:cViewPr varScale="1">
        <p:scale>
          <a:sx n="103" d="100"/>
          <a:sy n="103" d="100"/>
        </p:scale>
        <p:origin x="420"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FC4B8F-5CF0-453D-89DE-73693169AB6D}" type="doc">
      <dgm:prSet loTypeId="urn:microsoft.com/office/officeart/2005/8/layout/venn1" loCatId="relationship" qsTypeId="urn:microsoft.com/office/officeart/2005/8/quickstyle/simple1" qsCatId="simple" csTypeId="urn:microsoft.com/office/officeart/2005/8/colors/colorful5" csCatId="colorful" phldr="1"/>
      <dgm:spPr/>
    </dgm:pt>
    <dgm:pt modelId="{FB614A47-BCB4-434D-AADC-A9A1CD26F01B}">
      <dgm:prSet phldrT="[Text]"/>
      <dgm:spPr/>
      <dgm:t>
        <a:bodyPr/>
        <a:lstStyle/>
        <a:p>
          <a:r>
            <a:rPr lang="nl-NL" dirty="0" err="1"/>
            <a:t>Desirability</a:t>
          </a:r>
          <a:endParaRPr lang="nl-NL" dirty="0"/>
        </a:p>
      </dgm:t>
    </dgm:pt>
    <dgm:pt modelId="{9CF92F06-14FA-464A-AD63-1AEDC1C60B38}" type="parTrans" cxnId="{B815963C-1BFB-4020-AAD7-E5325803E110}">
      <dgm:prSet/>
      <dgm:spPr/>
      <dgm:t>
        <a:bodyPr/>
        <a:lstStyle/>
        <a:p>
          <a:endParaRPr lang="nl-NL"/>
        </a:p>
      </dgm:t>
    </dgm:pt>
    <dgm:pt modelId="{AD387BB9-BA55-4D64-8DB1-32A042CEB687}" type="sibTrans" cxnId="{B815963C-1BFB-4020-AAD7-E5325803E110}">
      <dgm:prSet/>
      <dgm:spPr/>
      <dgm:t>
        <a:bodyPr/>
        <a:lstStyle/>
        <a:p>
          <a:endParaRPr lang="nl-NL"/>
        </a:p>
      </dgm:t>
    </dgm:pt>
    <dgm:pt modelId="{511AA2D3-4D85-4C93-9D7C-1E890376CA28}">
      <dgm:prSet phldrT="[Text]"/>
      <dgm:spPr/>
      <dgm:t>
        <a:bodyPr/>
        <a:lstStyle/>
        <a:p>
          <a:r>
            <a:rPr lang="nl-NL" dirty="0" err="1"/>
            <a:t>Viability</a:t>
          </a:r>
          <a:endParaRPr lang="nl-NL" dirty="0"/>
        </a:p>
      </dgm:t>
    </dgm:pt>
    <dgm:pt modelId="{61439082-D2AA-4C3F-8381-046E641F60D6}" type="parTrans" cxnId="{60E553D5-6A88-4176-93DB-3A0BDB0F4DED}">
      <dgm:prSet/>
      <dgm:spPr/>
      <dgm:t>
        <a:bodyPr/>
        <a:lstStyle/>
        <a:p>
          <a:endParaRPr lang="nl-NL"/>
        </a:p>
      </dgm:t>
    </dgm:pt>
    <dgm:pt modelId="{6DE4C860-59E7-4FBC-B6EC-4D54A4C952B4}" type="sibTrans" cxnId="{60E553D5-6A88-4176-93DB-3A0BDB0F4DED}">
      <dgm:prSet/>
      <dgm:spPr/>
      <dgm:t>
        <a:bodyPr/>
        <a:lstStyle/>
        <a:p>
          <a:endParaRPr lang="nl-NL"/>
        </a:p>
      </dgm:t>
    </dgm:pt>
    <dgm:pt modelId="{F37C5A36-B70E-403F-A6AD-76322CC4CA77}">
      <dgm:prSet phldrT="[Text]"/>
      <dgm:spPr/>
      <dgm:t>
        <a:bodyPr/>
        <a:lstStyle/>
        <a:p>
          <a:r>
            <a:rPr lang="nl-NL" dirty="0" err="1"/>
            <a:t>Feasibility</a:t>
          </a:r>
          <a:endParaRPr lang="nl-NL" dirty="0"/>
        </a:p>
      </dgm:t>
    </dgm:pt>
    <dgm:pt modelId="{33E014CE-046C-40A4-8BAD-70450D4F3A51}" type="parTrans" cxnId="{4F502234-3A32-456E-A838-B1CD1FFC0893}">
      <dgm:prSet/>
      <dgm:spPr/>
      <dgm:t>
        <a:bodyPr/>
        <a:lstStyle/>
        <a:p>
          <a:endParaRPr lang="nl-NL"/>
        </a:p>
      </dgm:t>
    </dgm:pt>
    <dgm:pt modelId="{2AB34CA1-8C68-43CD-AA69-1CF0FE26CCA6}" type="sibTrans" cxnId="{4F502234-3A32-456E-A838-B1CD1FFC0893}">
      <dgm:prSet/>
      <dgm:spPr/>
      <dgm:t>
        <a:bodyPr/>
        <a:lstStyle/>
        <a:p>
          <a:endParaRPr lang="nl-NL"/>
        </a:p>
      </dgm:t>
    </dgm:pt>
    <dgm:pt modelId="{1E76B36A-6F86-422C-B896-4AE22C10CAA2}" type="pres">
      <dgm:prSet presAssocID="{9BFC4B8F-5CF0-453D-89DE-73693169AB6D}" presName="compositeShape" presStyleCnt="0">
        <dgm:presLayoutVars>
          <dgm:chMax val="7"/>
          <dgm:dir/>
          <dgm:resizeHandles val="exact"/>
        </dgm:presLayoutVars>
      </dgm:prSet>
      <dgm:spPr/>
    </dgm:pt>
    <dgm:pt modelId="{A9127DD7-A3C2-400C-A5E8-6D511F930DCB}" type="pres">
      <dgm:prSet presAssocID="{FB614A47-BCB4-434D-AADC-A9A1CD26F01B}" presName="circ1" presStyleLbl="vennNode1" presStyleIdx="0" presStyleCnt="3"/>
      <dgm:spPr/>
    </dgm:pt>
    <dgm:pt modelId="{CE9B957A-8EA0-4764-912B-9BF0684815C1}" type="pres">
      <dgm:prSet presAssocID="{FB614A47-BCB4-434D-AADC-A9A1CD26F01B}" presName="circ1Tx" presStyleLbl="revTx" presStyleIdx="0" presStyleCnt="0">
        <dgm:presLayoutVars>
          <dgm:chMax val="0"/>
          <dgm:chPref val="0"/>
          <dgm:bulletEnabled val="1"/>
        </dgm:presLayoutVars>
      </dgm:prSet>
      <dgm:spPr/>
    </dgm:pt>
    <dgm:pt modelId="{79F20F5C-20D7-4B6D-8BFC-7CDBBB549A34}" type="pres">
      <dgm:prSet presAssocID="{511AA2D3-4D85-4C93-9D7C-1E890376CA28}" presName="circ2" presStyleLbl="vennNode1" presStyleIdx="1" presStyleCnt="3"/>
      <dgm:spPr/>
    </dgm:pt>
    <dgm:pt modelId="{C59F69F2-8F4F-4A9C-A4CB-2F55CDF0C037}" type="pres">
      <dgm:prSet presAssocID="{511AA2D3-4D85-4C93-9D7C-1E890376CA28}" presName="circ2Tx" presStyleLbl="revTx" presStyleIdx="0" presStyleCnt="0">
        <dgm:presLayoutVars>
          <dgm:chMax val="0"/>
          <dgm:chPref val="0"/>
          <dgm:bulletEnabled val="1"/>
        </dgm:presLayoutVars>
      </dgm:prSet>
      <dgm:spPr/>
    </dgm:pt>
    <dgm:pt modelId="{B4BD0C78-5D2E-49AC-908A-FA0E6B37FC7F}" type="pres">
      <dgm:prSet presAssocID="{F37C5A36-B70E-403F-A6AD-76322CC4CA77}" presName="circ3" presStyleLbl="vennNode1" presStyleIdx="2" presStyleCnt="3"/>
      <dgm:spPr/>
    </dgm:pt>
    <dgm:pt modelId="{CE914605-F18E-4F39-871B-44B9812A2C35}" type="pres">
      <dgm:prSet presAssocID="{F37C5A36-B70E-403F-A6AD-76322CC4CA77}" presName="circ3Tx" presStyleLbl="revTx" presStyleIdx="0" presStyleCnt="0">
        <dgm:presLayoutVars>
          <dgm:chMax val="0"/>
          <dgm:chPref val="0"/>
          <dgm:bulletEnabled val="1"/>
        </dgm:presLayoutVars>
      </dgm:prSet>
      <dgm:spPr/>
    </dgm:pt>
  </dgm:ptLst>
  <dgm:cxnLst>
    <dgm:cxn modelId="{D5BEEA2D-0E5E-416F-8BB9-B64238A3A82A}" type="presOf" srcId="{FB614A47-BCB4-434D-AADC-A9A1CD26F01B}" destId="{A9127DD7-A3C2-400C-A5E8-6D511F930DCB}" srcOrd="0" destOrd="0" presId="urn:microsoft.com/office/officeart/2005/8/layout/venn1"/>
    <dgm:cxn modelId="{4F502234-3A32-456E-A838-B1CD1FFC0893}" srcId="{9BFC4B8F-5CF0-453D-89DE-73693169AB6D}" destId="{F37C5A36-B70E-403F-A6AD-76322CC4CA77}" srcOrd="2" destOrd="0" parTransId="{33E014CE-046C-40A4-8BAD-70450D4F3A51}" sibTransId="{2AB34CA1-8C68-43CD-AA69-1CF0FE26CCA6}"/>
    <dgm:cxn modelId="{B815963C-1BFB-4020-AAD7-E5325803E110}" srcId="{9BFC4B8F-5CF0-453D-89DE-73693169AB6D}" destId="{FB614A47-BCB4-434D-AADC-A9A1CD26F01B}" srcOrd="0" destOrd="0" parTransId="{9CF92F06-14FA-464A-AD63-1AEDC1C60B38}" sibTransId="{AD387BB9-BA55-4D64-8DB1-32A042CEB687}"/>
    <dgm:cxn modelId="{B3D0025F-944E-4BE8-B890-E53274F7E57E}" type="presOf" srcId="{FB614A47-BCB4-434D-AADC-A9A1CD26F01B}" destId="{CE9B957A-8EA0-4764-912B-9BF0684815C1}" srcOrd="1" destOrd="0" presId="urn:microsoft.com/office/officeart/2005/8/layout/venn1"/>
    <dgm:cxn modelId="{97A9D474-A086-46E0-813E-BDA2F65C2165}" type="presOf" srcId="{F37C5A36-B70E-403F-A6AD-76322CC4CA77}" destId="{CE914605-F18E-4F39-871B-44B9812A2C35}" srcOrd="1" destOrd="0" presId="urn:microsoft.com/office/officeart/2005/8/layout/venn1"/>
    <dgm:cxn modelId="{1BD81F89-BAA7-4EB4-94D9-370F2D360073}" type="presOf" srcId="{9BFC4B8F-5CF0-453D-89DE-73693169AB6D}" destId="{1E76B36A-6F86-422C-B896-4AE22C10CAA2}" srcOrd="0" destOrd="0" presId="urn:microsoft.com/office/officeart/2005/8/layout/venn1"/>
    <dgm:cxn modelId="{53200ECF-41A4-407C-B496-E795F4881B80}" type="presOf" srcId="{F37C5A36-B70E-403F-A6AD-76322CC4CA77}" destId="{B4BD0C78-5D2E-49AC-908A-FA0E6B37FC7F}" srcOrd="0" destOrd="0" presId="urn:microsoft.com/office/officeart/2005/8/layout/venn1"/>
    <dgm:cxn modelId="{67EAA9D2-53BA-42F3-8709-2F0970A5FC4A}" type="presOf" srcId="{511AA2D3-4D85-4C93-9D7C-1E890376CA28}" destId="{79F20F5C-20D7-4B6D-8BFC-7CDBBB549A34}" srcOrd="0" destOrd="0" presId="urn:microsoft.com/office/officeart/2005/8/layout/venn1"/>
    <dgm:cxn modelId="{60E553D5-6A88-4176-93DB-3A0BDB0F4DED}" srcId="{9BFC4B8F-5CF0-453D-89DE-73693169AB6D}" destId="{511AA2D3-4D85-4C93-9D7C-1E890376CA28}" srcOrd="1" destOrd="0" parTransId="{61439082-D2AA-4C3F-8381-046E641F60D6}" sibTransId="{6DE4C860-59E7-4FBC-B6EC-4D54A4C952B4}"/>
    <dgm:cxn modelId="{E23665EF-20AC-492E-A262-22CD7D8A4273}" type="presOf" srcId="{511AA2D3-4D85-4C93-9D7C-1E890376CA28}" destId="{C59F69F2-8F4F-4A9C-A4CB-2F55CDF0C037}" srcOrd="1" destOrd="0" presId="urn:microsoft.com/office/officeart/2005/8/layout/venn1"/>
    <dgm:cxn modelId="{54DED834-19B7-417B-8AD2-C292CBD5E2DB}" type="presParOf" srcId="{1E76B36A-6F86-422C-B896-4AE22C10CAA2}" destId="{A9127DD7-A3C2-400C-A5E8-6D511F930DCB}" srcOrd="0" destOrd="0" presId="urn:microsoft.com/office/officeart/2005/8/layout/venn1"/>
    <dgm:cxn modelId="{E8674D16-5606-4416-AA9F-B794F897D81C}" type="presParOf" srcId="{1E76B36A-6F86-422C-B896-4AE22C10CAA2}" destId="{CE9B957A-8EA0-4764-912B-9BF0684815C1}" srcOrd="1" destOrd="0" presId="urn:microsoft.com/office/officeart/2005/8/layout/venn1"/>
    <dgm:cxn modelId="{5B410EB6-BC3D-46BF-A745-53A58C1AAFB8}" type="presParOf" srcId="{1E76B36A-6F86-422C-B896-4AE22C10CAA2}" destId="{79F20F5C-20D7-4B6D-8BFC-7CDBBB549A34}" srcOrd="2" destOrd="0" presId="urn:microsoft.com/office/officeart/2005/8/layout/venn1"/>
    <dgm:cxn modelId="{4D1876DA-BF90-49A4-A5E2-B3FDA4DE80D3}" type="presParOf" srcId="{1E76B36A-6F86-422C-B896-4AE22C10CAA2}" destId="{C59F69F2-8F4F-4A9C-A4CB-2F55CDF0C037}" srcOrd="3" destOrd="0" presId="urn:microsoft.com/office/officeart/2005/8/layout/venn1"/>
    <dgm:cxn modelId="{04E7EF50-8BF5-40DC-A5B8-B0E86E5BEFD0}" type="presParOf" srcId="{1E76B36A-6F86-422C-B896-4AE22C10CAA2}" destId="{B4BD0C78-5D2E-49AC-908A-FA0E6B37FC7F}" srcOrd="4" destOrd="0" presId="urn:microsoft.com/office/officeart/2005/8/layout/venn1"/>
    <dgm:cxn modelId="{78C0E147-CC91-4441-813D-63324022B79A}" type="presParOf" srcId="{1E76B36A-6F86-422C-B896-4AE22C10CAA2}" destId="{CE914605-F18E-4F39-871B-44B9812A2C35}"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75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custLinFactNeighborY="15288"/>
      <dgm:spPr>
        <a:solidFill>
          <a:schemeClr val="accent3"/>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75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40000"/>
            <a:lumOff val="60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custLinFactY="100000" custLinFactNeighborX="16073" custLinFactNeighborY="191512">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custLinFactNeighborY="24635"/>
      <dgm:spPr>
        <a:solidFill>
          <a:schemeClr val="accent3">
            <a:lumMod val="50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a:noFill/>
  </dgm:bg>
  <dgm:whole/>
  <dgm:extLst>
    <a:ext uri="http://schemas.microsoft.com/office/drawing/2008/diagram">
      <dsp:dataModelExt xmlns:dsp="http://schemas.microsoft.com/office/drawing/2008/diagram" relId="rId2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75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custLinFactNeighborY="15288"/>
      <dgm:spPr>
        <a:solidFill>
          <a:schemeClr val="accent3"/>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75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dgm:spPr>
        <a:solidFill>
          <a:schemeClr val="accent3">
            <a:lumMod val="40000"/>
            <a:lumOff val="60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E1F9019-88D6-45C1-8755-E0EB47AD890C}" type="doc">
      <dgm:prSet loTypeId="urn:microsoft.com/office/officeart/2005/8/layout/hProcess3" loCatId="process" qsTypeId="urn:microsoft.com/office/officeart/2005/8/quickstyle/simple1" qsCatId="simple" csTypeId="urn:microsoft.com/office/officeart/2005/8/colors/accent1_2" csCatId="accent1" phldr="1"/>
      <dgm:spPr/>
    </dgm:pt>
    <dgm:pt modelId="{AECA10BC-EB4A-49F2-979E-AA7CCB4C9D44}">
      <dgm:prSet phldrT="[Text]"/>
      <dgm:spPr/>
      <dgm:t>
        <a:bodyPr/>
        <a:lstStyle/>
        <a:p>
          <a:r>
            <a:rPr lang="nl-NL" dirty="0"/>
            <a:t> </a:t>
          </a:r>
        </a:p>
      </dgm:t>
    </dgm:pt>
    <dgm:pt modelId="{CF69421E-9463-42FE-B438-2BBE85FBD089}" type="parTrans" cxnId="{DFEDC74A-D8A3-4593-9A23-FB96AF8A975B}">
      <dgm:prSet/>
      <dgm:spPr/>
      <dgm:t>
        <a:bodyPr/>
        <a:lstStyle/>
        <a:p>
          <a:endParaRPr lang="nl-NL"/>
        </a:p>
      </dgm:t>
    </dgm:pt>
    <dgm:pt modelId="{F40A5CAE-575E-4310-A6AB-237BBCD75E5F}" type="sibTrans" cxnId="{DFEDC74A-D8A3-4593-9A23-FB96AF8A975B}">
      <dgm:prSet/>
      <dgm:spPr/>
      <dgm:t>
        <a:bodyPr/>
        <a:lstStyle/>
        <a:p>
          <a:endParaRPr lang="nl-NL"/>
        </a:p>
      </dgm:t>
    </dgm:pt>
    <dgm:pt modelId="{D80D4EA1-97C0-4476-A74D-9ECE85EB9F8E}">
      <dgm:prSet phldrT="[Text]"/>
      <dgm:spPr/>
      <dgm:t>
        <a:bodyPr/>
        <a:lstStyle/>
        <a:p>
          <a:r>
            <a:rPr lang="nl-NL" dirty="0"/>
            <a:t> </a:t>
          </a:r>
        </a:p>
      </dgm:t>
    </dgm:pt>
    <dgm:pt modelId="{A3A6C69E-8ECC-4E67-A58B-764926F339ED}" type="parTrans" cxnId="{8F1DC60D-A5E2-4372-8443-8C868AF5C23E}">
      <dgm:prSet/>
      <dgm:spPr/>
      <dgm:t>
        <a:bodyPr/>
        <a:lstStyle/>
        <a:p>
          <a:endParaRPr lang="nl-NL"/>
        </a:p>
      </dgm:t>
    </dgm:pt>
    <dgm:pt modelId="{927A3DD0-7F92-41D1-96EB-589D3C2F7F59}" type="sibTrans" cxnId="{8F1DC60D-A5E2-4372-8443-8C868AF5C23E}">
      <dgm:prSet/>
      <dgm:spPr/>
      <dgm:t>
        <a:bodyPr/>
        <a:lstStyle/>
        <a:p>
          <a:endParaRPr lang="nl-NL"/>
        </a:p>
      </dgm:t>
    </dgm:pt>
    <dgm:pt modelId="{3AE2CC46-48C7-4680-B69F-0B3A7C8B8DD3}">
      <dgm:prSet phldrT="[Text]"/>
      <dgm:spPr/>
      <dgm:t>
        <a:bodyPr/>
        <a:lstStyle/>
        <a:p>
          <a:r>
            <a:rPr lang="nl-NL" dirty="0"/>
            <a:t> </a:t>
          </a:r>
        </a:p>
      </dgm:t>
    </dgm:pt>
    <dgm:pt modelId="{C7A9B65A-61A2-4EB6-8D0D-5DCF63E8C9BB}" type="parTrans" cxnId="{BB6B3D8D-A7E4-474E-8B71-29CABF997701}">
      <dgm:prSet/>
      <dgm:spPr/>
      <dgm:t>
        <a:bodyPr/>
        <a:lstStyle/>
        <a:p>
          <a:endParaRPr lang="nl-NL"/>
        </a:p>
      </dgm:t>
    </dgm:pt>
    <dgm:pt modelId="{D605AAEC-2DDD-478C-9BAD-A41BD35E4008}" type="sibTrans" cxnId="{BB6B3D8D-A7E4-474E-8B71-29CABF997701}">
      <dgm:prSet/>
      <dgm:spPr/>
      <dgm:t>
        <a:bodyPr/>
        <a:lstStyle/>
        <a:p>
          <a:endParaRPr lang="nl-NL"/>
        </a:p>
      </dgm:t>
    </dgm:pt>
    <dgm:pt modelId="{506F8FB3-2D1E-4656-8747-12FD4DD89509}" type="pres">
      <dgm:prSet presAssocID="{1E1F9019-88D6-45C1-8755-E0EB47AD890C}" presName="Name0" presStyleCnt="0">
        <dgm:presLayoutVars>
          <dgm:dir/>
          <dgm:animLvl val="lvl"/>
          <dgm:resizeHandles val="exact"/>
        </dgm:presLayoutVars>
      </dgm:prSet>
      <dgm:spPr/>
    </dgm:pt>
    <dgm:pt modelId="{89138EA3-36C5-4333-94EB-B876D4353863}" type="pres">
      <dgm:prSet presAssocID="{1E1F9019-88D6-45C1-8755-E0EB47AD890C}" presName="dummy" presStyleCnt="0"/>
      <dgm:spPr/>
    </dgm:pt>
    <dgm:pt modelId="{E94CA7BF-535E-4E87-BA26-B0B4FCA57551}" type="pres">
      <dgm:prSet presAssocID="{1E1F9019-88D6-45C1-8755-E0EB47AD890C}" presName="linH" presStyleCnt="0"/>
      <dgm:spPr/>
    </dgm:pt>
    <dgm:pt modelId="{8DC95863-30F0-4744-88FD-CE8F1F79A1B6}" type="pres">
      <dgm:prSet presAssocID="{1E1F9019-88D6-45C1-8755-E0EB47AD890C}" presName="padding1" presStyleCnt="0"/>
      <dgm:spPr/>
    </dgm:pt>
    <dgm:pt modelId="{31EB8E27-A86F-4559-8B65-D48BBC0E1135}" type="pres">
      <dgm:prSet presAssocID="{AECA10BC-EB4A-49F2-979E-AA7CCB4C9D44}" presName="linV" presStyleCnt="0"/>
      <dgm:spPr/>
    </dgm:pt>
    <dgm:pt modelId="{3E15C31B-3E07-4892-AEC6-7663AD39E300}" type="pres">
      <dgm:prSet presAssocID="{AECA10BC-EB4A-49F2-979E-AA7CCB4C9D44}" presName="spVertical1" presStyleCnt="0"/>
      <dgm:spPr/>
    </dgm:pt>
    <dgm:pt modelId="{1ED6B623-5C1A-46F6-A6AF-C6BF02EE1C66}" type="pres">
      <dgm:prSet presAssocID="{AECA10BC-EB4A-49F2-979E-AA7CCB4C9D44}" presName="parTx" presStyleLbl="revTx" presStyleIdx="0" presStyleCnt="3">
        <dgm:presLayoutVars>
          <dgm:chMax val="0"/>
          <dgm:chPref val="0"/>
          <dgm:bulletEnabled val="1"/>
        </dgm:presLayoutVars>
      </dgm:prSet>
      <dgm:spPr/>
    </dgm:pt>
    <dgm:pt modelId="{3DBF411C-5EA0-4827-9BDD-7B351101F8EA}" type="pres">
      <dgm:prSet presAssocID="{AECA10BC-EB4A-49F2-979E-AA7CCB4C9D44}" presName="spVertical2" presStyleCnt="0"/>
      <dgm:spPr/>
    </dgm:pt>
    <dgm:pt modelId="{369862C8-283F-4403-8BD0-BAAE31A69883}" type="pres">
      <dgm:prSet presAssocID="{AECA10BC-EB4A-49F2-979E-AA7CCB4C9D44}" presName="spVertical3" presStyleCnt="0"/>
      <dgm:spPr/>
    </dgm:pt>
    <dgm:pt modelId="{41C1C13B-94EA-4633-8EA7-009EC3B956B0}" type="pres">
      <dgm:prSet presAssocID="{F40A5CAE-575E-4310-A6AB-237BBCD75E5F}" presName="space" presStyleCnt="0"/>
      <dgm:spPr/>
    </dgm:pt>
    <dgm:pt modelId="{D3CCA7D3-6962-4D4A-9E1B-91524207ACAD}" type="pres">
      <dgm:prSet presAssocID="{D80D4EA1-97C0-4476-A74D-9ECE85EB9F8E}" presName="linV" presStyleCnt="0"/>
      <dgm:spPr/>
    </dgm:pt>
    <dgm:pt modelId="{CA7AA089-7C10-481E-91A7-326A011A26CC}" type="pres">
      <dgm:prSet presAssocID="{D80D4EA1-97C0-4476-A74D-9ECE85EB9F8E}" presName="spVertical1" presStyleCnt="0"/>
      <dgm:spPr/>
    </dgm:pt>
    <dgm:pt modelId="{AF8F457C-6770-40E9-87DC-2E38246A479F}" type="pres">
      <dgm:prSet presAssocID="{D80D4EA1-97C0-4476-A74D-9ECE85EB9F8E}" presName="parTx" presStyleLbl="revTx" presStyleIdx="1" presStyleCnt="3">
        <dgm:presLayoutVars>
          <dgm:chMax val="0"/>
          <dgm:chPref val="0"/>
          <dgm:bulletEnabled val="1"/>
        </dgm:presLayoutVars>
      </dgm:prSet>
      <dgm:spPr/>
    </dgm:pt>
    <dgm:pt modelId="{570F1961-C9B9-403C-B1C4-BAC5B4CCD85A}" type="pres">
      <dgm:prSet presAssocID="{D80D4EA1-97C0-4476-A74D-9ECE85EB9F8E}" presName="spVertical2" presStyleCnt="0"/>
      <dgm:spPr/>
    </dgm:pt>
    <dgm:pt modelId="{0BB3BA82-9404-413B-A066-D31D6102BE6F}" type="pres">
      <dgm:prSet presAssocID="{D80D4EA1-97C0-4476-A74D-9ECE85EB9F8E}" presName="spVertical3" presStyleCnt="0"/>
      <dgm:spPr/>
    </dgm:pt>
    <dgm:pt modelId="{003F87EF-DF00-4DF8-8BD3-D41EEF00EB08}" type="pres">
      <dgm:prSet presAssocID="{927A3DD0-7F92-41D1-96EB-589D3C2F7F59}" presName="space" presStyleCnt="0"/>
      <dgm:spPr/>
    </dgm:pt>
    <dgm:pt modelId="{03AC9748-FED3-44FB-9190-1D5867454EA7}" type="pres">
      <dgm:prSet presAssocID="{3AE2CC46-48C7-4680-B69F-0B3A7C8B8DD3}" presName="linV" presStyleCnt="0"/>
      <dgm:spPr/>
    </dgm:pt>
    <dgm:pt modelId="{9D3A8F21-ABFE-4C2C-800A-8344DB3DD73D}" type="pres">
      <dgm:prSet presAssocID="{3AE2CC46-48C7-4680-B69F-0B3A7C8B8DD3}" presName="spVertical1" presStyleCnt="0"/>
      <dgm:spPr/>
    </dgm:pt>
    <dgm:pt modelId="{1F510769-4201-447A-8D44-8293C722D3D0}" type="pres">
      <dgm:prSet presAssocID="{3AE2CC46-48C7-4680-B69F-0B3A7C8B8DD3}" presName="parTx" presStyleLbl="revTx" presStyleIdx="2" presStyleCnt="3" custLinFactY="100000" custLinFactNeighborX="16073" custLinFactNeighborY="191512">
        <dgm:presLayoutVars>
          <dgm:chMax val="0"/>
          <dgm:chPref val="0"/>
          <dgm:bulletEnabled val="1"/>
        </dgm:presLayoutVars>
      </dgm:prSet>
      <dgm:spPr/>
    </dgm:pt>
    <dgm:pt modelId="{77E06E57-BB24-4F1B-B84F-F5B160ACE44E}" type="pres">
      <dgm:prSet presAssocID="{3AE2CC46-48C7-4680-B69F-0B3A7C8B8DD3}" presName="spVertical2" presStyleCnt="0"/>
      <dgm:spPr/>
    </dgm:pt>
    <dgm:pt modelId="{B3325545-6494-4F2A-BFEC-DB00DB6B50A0}" type="pres">
      <dgm:prSet presAssocID="{3AE2CC46-48C7-4680-B69F-0B3A7C8B8DD3}" presName="spVertical3" presStyleCnt="0"/>
      <dgm:spPr/>
    </dgm:pt>
    <dgm:pt modelId="{71C30638-4FED-447E-850E-384F919CBFE4}" type="pres">
      <dgm:prSet presAssocID="{1E1F9019-88D6-45C1-8755-E0EB47AD890C}" presName="padding2" presStyleCnt="0"/>
      <dgm:spPr/>
    </dgm:pt>
    <dgm:pt modelId="{EABD9153-86D5-4D87-A057-B59937BE0ED9}" type="pres">
      <dgm:prSet presAssocID="{1E1F9019-88D6-45C1-8755-E0EB47AD890C}" presName="negArrow" presStyleCnt="0"/>
      <dgm:spPr/>
    </dgm:pt>
    <dgm:pt modelId="{FBC2F4E6-3E34-4B92-AD3A-F9BCF173EEDE}" type="pres">
      <dgm:prSet presAssocID="{1E1F9019-88D6-45C1-8755-E0EB47AD890C}" presName="backgroundArrow" presStyleLbl="node1" presStyleIdx="0" presStyleCnt="1" custLinFactNeighborY="24635"/>
      <dgm:spPr>
        <a:solidFill>
          <a:schemeClr val="accent3">
            <a:lumMod val="50000"/>
          </a:schemeClr>
        </a:solidFill>
      </dgm:spPr>
    </dgm:pt>
  </dgm:ptLst>
  <dgm:cxnLst>
    <dgm:cxn modelId="{8F1DC60D-A5E2-4372-8443-8C868AF5C23E}" srcId="{1E1F9019-88D6-45C1-8755-E0EB47AD890C}" destId="{D80D4EA1-97C0-4476-A74D-9ECE85EB9F8E}" srcOrd="1" destOrd="0" parTransId="{A3A6C69E-8ECC-4E67-A58B-764926F339ED}" sibTransId="{927A3DD0-7F92-41D1-96EB-589D3C2F7F59}"/>
    <dgm:cxn modelId="{98C3862A-081A-4699-AED3-6F0E894C1CD0}" type="presOf" srcId="{D80D4EA1-97C0-4476-A74D-9ECE85EB9F8E}" destId="{AF8F457C-6770-40E9-87DC-2E38246A479F}" srcOrd="0" destOrd="0" presId="urn:microsoft.com/office/officeart/2005/8/layout/hProcess3"/>
    <dgm:cxn modelId="{2B073D6A-B115-4786-9AEA-73CD3092E280}" type="presOf" srcId="{AECA10BC-EB4A-49F2-979E-AA7CCB4C9D44}" destId="{1ED6B623-5C1A-46F6-A6AF-C6BF02EE1C66}" srcOrd="0" destOrd="0" presId="urn:microsoft.com/office/officeart/2005/8/layout/hProcess3"/>
    <dgm:cxn modelId="{DFEDC74A-D8A3-4593-9A23-FB96AF8A975B}" srcId="{1E1F9019-88D6-45C1-8755-E0EB47AD890C}" destId="{AECA10BC-EB4A-49F2-979E-AA7CCB4C9D44}" srcOrd="0" destOrd="0" parTransId="{CF69421E-9463-42FE-B438-2BBE85FBD089}" sibTransId="{F40A5CAE-575E-4310-A6AB-237BBCD75E5F}"/>
    <dgm:cxn modelId="{9680FE52-AC11-4A91-88CD-9422BA68249F}" type="presOf" srcId="{3AE2CC46-48C7-4680-B69F-0B3A7C8B8DD3}" destId="{1F510769-4201-447A-8D44-8293C722D3D0}" srcOrd="0" destOrd="0" presId="urn:microsoft.com/office/officeart/2005/8/layout/hProcess3"/>
    <dgm:cxn modelId="{BB6B3D8D-A7E4-474E-8B71-29CABF997701}" srcId="{1E1F9019-88D6-45C1-8755-E0EB47AD890C}" destId="{3AE2CC46-48C7-4680-B69F-0B3A7C8B8DD3}" srcOrd="2" destOrd="0" parTransId="{C7A9B65A-61A2-4EB6-8D0D-5DCF63E8C9BB}" sibTransId="{D605AAEC-2DDD-478C-9BAD-A41BD35E4008}"/>
    <dgm:cxn modelId="{075D2ECE-88E7-4B30-9968-CCD4E005DCE6}" type="presOf" srcId="{1E1F9019-88D6-45C1-8755-E0EB47AD890C}" destId="{506F8FB3-2D1E-4656-8747-12FD4DD89509}" srcOrd="0" destOrd="0" presId="urn:microsoft.com/office/officeart/2005/8/layout/hProcess3"/>
    <dgm:cxn modelId="{8F256F73-8118-42DB-AAA2-4B84BEF91849}" type="presParOf" srcId="{506F8FB3-2D1E-4656-8747-12FD4DD89509}" destId="{89138EA3-36C5-4333-94EB-B876D4353863}" srcOrd="0" destOrd="0" presId="urn:microsoft.com/office/officeart/2005/8/layout/hProcess3"/>
    <dgm:cxn modelId="{C3649472-17B6-41D4-BE25-712C3BB5817A}" type="presParOf" srcId="{506F8FB3-2D1E-4656-8747-12FD4DD89509}" destId="{E94CA7BF-535E-4E87-BA26-B0B4FCA57551}" srcOrd="1" destOrd="0" presId="urn:microsoft.com/office/officeart/2005/8/layout/hProcess3"/>
    <dgm:cxn modelId="{251F42FC-4D72-47EA-81E2-D957CB431705}" type="presParOf" srcId="{E94CA7BF-535E-4E87-BA26-B0B4FCA57551}" destId="{8DC95863-30F0-4744-88FD-CE8F1F79A1B6}" srcOrd="0" destOrd="0" presId="urn:microsoft.com/office/officeart/2005/8/layout/hProcess3"/>
    <dgm:cxn modelId="{4D20ACE9-FA2C-45EB-9F6A-FFCA814C8C15}" type="presParOf" srcId="{E94CA7BF-535E-4E87-BA26-B0B4FCA57551}" destId="{31EB8E27-A86F-4559-8B65-D48BBC0E1135}" srcOrd="1" destOrd="0" presId="urn:microsoft.com/office/officeart/2005/8/layout/hProcess3"/>
    <dgm:cxn modelId="{33DEAD53-A7B6-4F97-B4FB-2AD055C4A9FA}" type="presParOf" srcId="{31EB8E27-A86F-4559-8B65-D48BBC0E1135}" destId="{3E15C31B-3E07-4892-AEC6-7663AD39E300}" srcOrd="0" destOrd="0" presId="urn:microsoft.com/office/officeart/2005/8/layout/hProcess3"/>
    <dgm:cxn modelId="{D970078C-9F95-413A-9B9D-5F96B4540939}" type="presParOf" srcId="{31EB8E27-A86F-4559-8B65-D48BBC0E1135}" destId="{1ED6B623-5C1A-46F6-A6AF-C6BF02EE1C66}" srcOrd="1" destOrd="0" presId="urn:microsoft.com/office/officeart/2005/8/layout/hProcess3"/>
    <dgm:cxn modelId="{BCF0516A-C70B-45B2-8621-C116E2714AF2}" type="presParOf" srcId="{31EB8E27-A86F-4559-8B65-D48BBC0E1135}" destId="{3DBF411C-5EA0-4827-9BDD-7B351101F8EA}" srcOrd="2" destOrd="0" presId="urn:microsoft.com/office/officeart/2005/8/layout/hProcess3"/>
    <dgm:cxn modelId="{3D4AA21B-EFAE-42B0-8945-607ECCC9F950}" type="presParOf" srcId="{31EB8E27-A86F-4559-8B65-D48BBC0E1135}" destId="{369862C8-283F-4403-8BD0-BAAE31A69883}" srcOrd="3" destOrd="0" presId="urn:microsoft.com/office/officeart/2005/8/layout/hProcess3"/>
    <dgm:cxn modelId="{0106B286-AAD0-4C36-AB17-C64B52FA07DD}" type="presParOf" srcId="{E94CA7BF-535E-4E87-BA26-B0B4FCA57551}" destId="{41C1C13B-94EA-4633-8EA7-009EC3B956B0}" srcOrd="2" destOrd="0" presId="urn:microsoft.com/office/officeart/2005/8/layout/hProcess3"/>
    <dgm:cxn modelId="{A73FD215-70BD-47C6-A9FC-8D995BE3914A}" type="presParOf" srcId="{E94CA7BF-535E-4E87-BA26-B0B4FCA57551}" destId="{D3CCA7D3-6962-4D4A-9E1B-91524207ACAD}" srcOrd="3" destOrd="0" presId="urn:microsoft.com/office/officeart/2005/8/layout/hProcess3"/>
    <dgm:cxn modelId="{1996A38B-02BB-42FB-BFFC-CAEF233FCDD4}" type="presParOf" srcId="{D3CCA7D3-6962-4D4A-9E1B-91524207ACAD}" destId="{CA7AA089-7C10-481E-91A7-326A011A26CC}" srcOrd="0" destOrd="0" presId="urn:microsoft.com/office/officeart/2005/8/layout/hProcess3"/>
    <dgm:cxn modelId="{F85071CF-BA3B-4E0C-87D7-045643AB4A2D}" type="presParOf" srcId="{D3CCA7D3-6962-4D4A-9E1B-91524207ACAD}" destId="{AF8F457C-6770-40E9-87DC-2E38246A479F}" srcOrd="1" destOrd="0" presId="urn:microsoft.com/office/officeart/2005/8/layout/hProcess3"/>
    <dgm:cxn modelId="{12A55B49-757A-4098-9635-DBCF97B0D4AA}" type="presParOf" srcId="{D3CCA7D3-6962-4D4A-9E1B-91524207ACAD}" destId="{570F1961-C9B9-403C-B1C4-BAC5B4CCD85A}" srcOrd="2" destOrd="0" presId="urn:microsoft.com/office/officeart/2005/8/layout/hProcess3"/>
    <dgm:cxn modelId="{02990404-DAA9-4AF2-A51D-E2F85F7C328F}" type="presParOf" srcId="{D3CCA7D3-6962-4D4A-9E1B-91524207ACAD}" destId="{0BB3BA82-9404-413B-A066-D31D6102BE6F}" srcOrd="3" destOrd="0" presId="urn:microsoft.com/office/officeart/2005/8/layout/hProcess3"/>
    <dgm:cxn modelId="{429FEE03-B7E1-4A6F-9219-47E771F3BC80}" type="presParOf" srcId="{E94CA7BF-535E-4E87-BA26-B0B4FCA57551}" destId="{003F87EF-DF00-4DF8-8BD3-D41EEF00EB08}" srcOrd="4" destOrd="0" presId="urn:microsoft.com/office/officeart/2005/8/layout/hProcess3"/>
    <dgm:cxn modelId="{FA2EEDC7-F4A8-4EC1-9A3D-D1905C6DFE4F}" type="presParOf" srcId="{E94CA7BF-535E-4E87-BA26-B0B4FCA57551}" destId="{03AC9748-FED3-44FB-9190-1D5867454EA7}" srcOrd="5" destOrd="0" presId="urn:microsoft.com/office/officeart/2005/8/layout/hProcess3"/>
    <dgm:cxn modelId="{50D46471-84F0-4724-B5F0-FE5A08BC4B47}" type="presParOf" srcId="{03AC9748-FED3-44FB-9190-1D5867454EA7}" destId="{9D3A8F21-ABFE-4C2C-800A-8344DB3DD73D}" srcOrd="0" destOrd="0" presId="urn:microsoft.com/office/officeart/2005/8/layout/hProcess3"/>
    <dgm:cxn modelId="{52105075-5042-4B13-A3A0-40BAE56F4E71}" type="presParOf" srcId="{03AC9748-FED3-44FB-9190-1D5867454EA7}" destId="{1F510769-4201-447A-8D44-8293C722D3D0}" srcOrd="1" destOrd="0" presId="urn:microsoft.com/office/officeart/2005/8/layout/hProcess3"/>
    <dgm:cxn modelId="{133ADBA6-BAEC-46CA-970B-04C35AEAB842}" type="presParOf" srcId="{03AC9748-FED3-44FB-9190-1D5867454EA7}" destId="{77E06E57-BB24-4F1B-B84F-F5B160ACE44E}" srcOrd="2" destOrd="0" presId="urn:microsoft.com/office/officeart/2005/8/layout/hProcess3"/>
    <dgm:cxn modelId="{A7A70C36-91E6-4902-AF45-67339931E934}" type="presParOf" srcId="{03AC9748-FED3-44FB-9190-1D5867454EA7}" destId="{B3325545-6494-4F2A-BFEC-DB00DB6B50A0}" srcOrd="3" destOrd="0" presId="urn:microsoft.com/office/officeart/2005/8/layout/hProcess3"/>
    <dgm:cxn modelId="{264C1614-A62D-4820-A69D-AEB9B915BC74}" type="presParOf" srcId="{E94CA7BF-535E-4E87-BA26-B0B4FCA57551}" destId="{71C30638-4FED-447E-850E-384F919CBFE4}" srcOrd="6" destOrd="0" presId="urn:microsoft.com/office/officeart/2005/8/layout/hProcess3"/>
    <dgm:cxn modelId="{A729728A-2DA6-4FA1-BDAF-80D50283158B}" type="presParOf" srcId="{E94CA7BF-535E-4E87-BA26-B0B4FCA57551}" destId="{EABD9153-86D5-4D87-A057-B59937BE0ED9}" srcOrd="7" destOrd="0" presId="urn:microsoft.com/office/officeart/2005/8/layout/hProcess3"/>
    <dgm:cxn modelId="{EA1BB1BF-1506-4C10-A1BB-B80E966D4C4D}" type="presParOf" srcId="{E94CA7BF-535E-4E87-BA26-B0B4FCA57551}" destId="{FBC2F4E6-3E34-4B92-AD3A-F9BCF173EEDE}" srcOrd="8" destOrd="0" presId="urn:microsoft.com/office/officeart/2005/8/layout/hProcess3"/>
  </dgm:cxnLst>
  <dgm:bg>
    <a:noFill/>
  </dgm:bg>
  <dgm:whole/>
  <dgm:extLst>
    <a:ext uri="http://schemas.microsoft.com/office/drawing/2008/diagram">
      <dsp:dataModelExt xmlns:dsp="http://schemas.microsoft.com/office/drawing/2008/diagram" relId="rId2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127DD7-A3C2-400C-A5E8-6D511F930DCB}">
      <dsp:nvSpPr>
        <dsp:cNvPr id="0" name=""/>
        <dsp:cNvSpPr/>
      </dsp:nvSpPr>
      <dsp:spPr>
        <a:xfrm>
          <a:off x="2100579" y="54292"/>
          <a:ext cx="2606040" cy="2606040"/>
        </a:xfrm>
        <a:prstGeom prst="ellipse">
          <a:avLst/>
        </a:prstGeom>
        <a:solidFill>
          <a:schemeClr val="accent5">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nl-NL" sz="2600" kern="1200" dirty="0" err="1"/>
            <a:t>Desirability</a:t>
          </a:r>
          <a:endParaRPr lang="nl-NL" sz="2600" kern="1200" dirty="0"/>
        </a:p>
      </dsp:txBody>
      <dsp:txXfrm>
        <a:off x="2448052" y="510349"/>
        <a:ext cx="1911096" cy="1172718"/>
      </dsp:txXfrm>
    </dsp:sp>
    <dsp:sp modelId="{79F20F5C-20D7-4B6D-8BFC-7CDBBB549A34}">
      <dsp:nvSpPr>
        <dsp:cNvPr id="0" name=""/>
        <dsp:cNvSpPr/>
      </dsp:nvSpPr>
      <dsp:spPr>
        <a:xfrm>
          <a:off x="3040926" y="1683067"/>
          <a:ext cx="2606040" cy="2606040"/>
        </a:xfrm>
        <a:prstGeom prst="ellipse">
          <a:avLst/>
        </a:prstGeom>
        <a:solidFill>
          <a:schemeClr val="accent5">
            <a:alpha val="50000"/>
            <a:hueOff val="-1307943"/>
            <a:satOff val="7781"/>
            <a:lumOff val="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nl-NL" sz="2600" kern="1200" dirty="0" err="1"/>
            <a:t>Viability</a:t>
          </a:r>
          <a:endParaRPr lang="nl-NL" sz="2600" kern="1200" dirty="0"/>
        </a:p>
      </dsp:txBody>
      <dsp:txXfrm>
        <a:off x="3837940" y="2356294"/>
        <a:ext cx="1563624" cy="1433322"/>
      </dsp:txXfrm>
    </dsp:sp>
    <dsp:sp modelId="{B4BD0C78-5D2E-49AC-908A-FA0E6B37FC7F}">
      <dsp:nvSpPr>
        <dsp:cNvPr id="0" name=""/>
        <dsp:cNvSpPr/>
      </dsp:nvSpPr>
      <dsp:spPr>
        <a:xfrm>
          <a:off x="1160233" y="1683067"/>
          <a:ext cx="2606040" cy="2606040"/>
        </a:xfrm>
        <a:prstGeom prst="ellipse">
          <a:avLst/>
        </a:prstGeom>
        <a:solidFill>
          <a:schemeClr val="accent5">
            <a:alpha val="50000"/>
            <a:hueOff val="-2615887"/>
            <a:satOff val="15563"/>
            <a:lumOff val="627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r>
            <a:rPr lang="nl-NL" sz="2600" kern="1200" dirty="0" err="1"/>
            <a:t>Feasibility</a:t>
          </a:r>
          <a:endParaRPr lang="nl-NL" sz="2600" kern="1200" dirty="0"/>
        </a:p>
      </dsp:txBody>
      <dsp:txXfrm>
        <a:off x="1405636" y="2356294"/>
        <a:ext cx="1563624" cy="14333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60443"/>
          <a:ext cx="1862630" cy="432000"/>
        </a:xfrm>
        <a:prstGeom prst="rightArrow">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40000"/>
            <a:lumOff val="6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60443"/>
          <a:ext cx="1862630" cy="432000"/>
        </a:xfrm>
        <a:prstGeom prst="rightArrow">
          <a:avLst/>
        </a:prstGeom>
        <a:solidFill>
          <a:schemeClr val="accent3">
            <a:lumMod val="5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347180" y="276443"/>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347180" y="276443"/>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60443"/>
          <a:ext cx="1862630" cy="432000"/>
        </a:xfrm>
        <a:prstGeom prst="rightArrow">
          <a:avLst/>
        </a:prstGeom>
        <a:solidFill>
          <a:schemeClr val="accent3"/>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75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30221"/>
          <a:ext cx="1862630" cy="432000"/>
        </a:xfrm>
        <a:prstGeom prst="rightArrow">
          <a:avLst/>
        </a:prstGeom>
        <a:solidFill>
          <a:schemeClr val="accent3">
            <a:lumMod val="40000"/>
            <a:lumOff val="6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272042"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272042" y="138221"/>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2F4E6-3E34-4B92-AD3A-F9BCF173EEDE}">
      <dsp:nvSpPr>
        <dsp:cNvPr id="0" name=""/>
        <dsp:cNvSpPr/>
      </dsp:nvSpPr>
      <dsp:spPr>
        <a:xfrm>
          <a:off x="0" y="60443"/>
          <a:ext cx="1862630" cy="432000"/>
        </a:xfrm>
        <a:prstGeom prst="rightArrow">
          <a:avLst/>
        </a:prstGeom>
        <a:solidFill>
          <a:schemeClr val="accent3">
            <a:lumMod val="5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510769-4201-447A-8D44-8293C722D3D0}">
      <dsp:nvSpPr>
        <dsp:cNvPr id="0" name=""/>
        <dsp:cNvSpPr/>
      </dsp:nvSpPr>
      <dsp:spPr>
        <a:xfrm>
          <a:off x="1347180" y="276443"/>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347180" y="276443"/>
        <a:ext cx="467476" cy="216000"/>
      </dsp:txXfrm>
    </dsp:sp>
    <dsp:sp modelId="{AF8F457C-6770-40E9-87DC-2E38246A479F}">
      <dsp:nvSpPr>
        <dsp:cNvPr id="0" name=""/>
        <dsp:cNvSpPr/>
      </dsp:nvSpPr>
      <dsp:spPr>
        <a:xfrm>
          <a:off x="711071"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711071" y="138221"/>
        <a:ext cx="467476" cy="216000"/>
      </dsp:txXfrm>
    </dsp:sp>
    <dsp:sp modelId="{1ED6B623-5C1A-46F6-A6AF-C6BF02EE1C66}">
      <dsp:nvSpPr>
        <dsp:cNvPr id="0" name=""/>
        <dsp:cNvSpPr/>
      </dsp:nvSpPr>
      <dsp:spPr>
        <a:xfrm>
          <a:off x="150099" y="138221"/>
          <a:ext cx="467476" cy="21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60960" rIns="0" bIns="60960" numCol="1" spcCol="1270" anchor="ctr" anchorCtr="0">
          <a:noAutofit/>
        </a:bodyPr>
        <a:lstStyle/>
        <a:p>
          <a:pPr marL="0" lvl="0" indent="0" algn="ctr" defTabSz="266700">
            <a:lnSpc>
              <a:spcPct val="90000"/>
            </a:lnSpc>
            <a:spcBef>
              <a:spcPct val="0"/>
            </a:spcBef>
            <a:spcAft>
              <a:spcPct val="35000"/>
            </a:spcAft>
            <a:buNone/>
          </a:pPr>
          <a:r>
            <a:rPr lang="nl-NL" sz="600" kern="1200" dirty="0"/>
            <a:t> </a:t>
          </a:r>
        </a:p>
      </dsp:txBody>
      <dsp:txXfrm>
        <a:off x="150099" y="138221"/>
        <a:ext cx="467476" cy="21600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nl-NL"/>
          </a:p>
        </p:txBody>
      </p:sp>
      <p:sp>
        <p:nvSpPr>
          <p:cNvPr id="317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nl-NL"/>
          </a:p>
        </p:txBody>
      </p:sp>
      <p:sp>
        <p:nvSpPr>
          <p:cNvPr id="317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nl-NL"/>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BAC0E1E6-749F-9548-BCD1-CD2D7127180A}" type="slidenum">
              <a:rPr lang="nl-NL"/>
              <a:pPr/>
              <a:t>‹#›</a:t>
            </a:fld>
            <a:endParaRPr lang="nl-NL"/>
          </a:p>
        </p:txBody>
      </p:sp>
    </p:spTree>
    <p:extLst>
      <p:ext uri="{BB962C8B-B14F-4D97-AF65-F5344CB8AC3E}">
        <p14:creationId xmlns:p14="http://schemas.microsoft.com/office/powerpoint/2010/main" val="31059326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en-US"/>
          </a:p>
        </p:txBody>
      </p:sp>
      <p:sp>
        <p:nvSpPr>
          <p:cNvPr id="1638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en-US"/>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1638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39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en-US"/>
          </a:p>
        </p:txBody>
      </p:sp>
      <p:sp>
        <p:nvSpPr>
          <p:cNvPr id="1639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45F322C4-35AC-3B49-8F9A-76AA27B2233E}" type="slidenum">
              <a:rPr lang="en-US"/>
              <a:pPr/>
              <a:t>‹#›</a:t>
            </a:fld>
            <a:endParaRPr lang="en-US"/>
          </a:p>
        </p:txBody>
      </p:sp>
    </p:spTree>
    <p:extLst>
      <p:ext uri="{BB962C8B-B14F-4D97-AF65-F5344CB8AC3E}">
        <p14:creationId xmlns:p14="http://schemas.microsoft.com/office/powerpoint/2010/main" val="256545339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charset="0"/>
        <a:ea typeface="ＭＳ Ｐゴシック" charset="0"/>
        <a:cs typeface="+mn-cs"/>
      </a:defRPr>
    </a:lvl1pPr>
    <a:lvl2pPr marL="457200" algn="l" rtl="0" fontAlgn="base">
      <a:spcBef>
        <a:spcPct val="30000"/>
      </a:spcBef>
      <a:spcAft>
        <a:spcPct val="0"/>
      </a:spcAft>
      <a:defRPr sz="1200" kern="1200">
        <a:solidFill>
          <a:schemeClr val="tx1"/>
        </a:solidFill>
        <a:latin typeface="Times" charset="0"/>
        <a:ea typeface="ＭＳ Ｐゴシック" charset="0"/>
        <a:cs typeface="+mn-cs"/>
      </a:defRPr>
    </a:lvl2pPr>
    <a:lvl3pPr marL="914400" algn="l" rtl="0" fontAlgn="base">
      <a:spcBef>
        <a:spcPct val="30000"/>
      </a:spcBef>
      <a:spcAft>
        <a:spcPct val="0"/>
      </a:spcAft>
      <a:defRPr sz="1200" kern="1200">
        <a:solidFill>
          <a:schemeClr val="tx1"/>
        </a:solidFill>
        <a:latin typeface="Times" charset="0"/>
        <a:ea typeface="ＭＳ Ｐゴシック" charset="0"/>
        <a:cs typeface="+mn-cs"/>
      </a:defRPr>
    </a:lvl3pPr>
    <a:lvl4pPr marL="1371600" algn="l" rtl="0" fontAlgn="base">
      <a:spcBef>
        <a:spcPct val="30000"/>
      </a:spcBef>
      <a:spcAft>
        <a:spcPct val="0"/>
      </a:spcAft>
      <a:defRPr sz="1200" kern="1200">
        <a:solidFill>
          <a:schemeClr val="tx1"/>
        </a:solidFill>
        <a:latin typeface="Times" charset="0"/>
        <a:ea typeface="ＭＳ Ｐゴシック" charset="0"/>
        <a:cs typeface="+mn-cs"/>
      </a:defRPr>
    </a:lvl4pPr>
    <a:lvl5pPr marL="1828800" algn="l" rtl="0" fontAlgn="base">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39EDF051-E83F-934D-83D1-BFAE87361422}" type="slidenum">
              <a:rPr lang="en-GB" sz="1200"/>
              <a:pPr eaLnBrk="1" hangingPunct="1"/>
              <a:t>1</a:t>
            </a:fld>
            <a:endParaRPr lang="en-GB" sz="1200"/>
          </a:p>
        </p:txBody>
      </p:sp>
      <p:sp>
        <p:nvSpPr>
          <p:cNvPr id="19458" name="Rectangle 2"/>
          <p:cNvSpPr>
            <a:spLocks noGrp="1" noRot="1" noChangeAspect="1" noChangeArrowheads="1" noTextEdit="1"/>
          </p:cNvSpPr>
          <p:nvPr>
            <p:ph type="sldImg"/>
          </p:nvPr>
        </p:nvSpPr>
        <p:spPr>
          <a:xfrm>
            <a:off x="381000" y="685800"/>
            <a:ext cx="6096000" cy="3429000"/>
          </a:xfrm>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4C1E6F28-6BC6-CA4F-A29A-C39A6C471DE4}" type="slidenum">
              <a:rPr lang="en-GB" sz="1200"/>
              <a:pPr eaLnBrk="1" hangingPunct="1"/>
              <a:t>4</a:t>
            </a:fld>
            <a:endParaRPr lang="en-GB" sz="1200"/>
          </a:p>
        </p:txBody>
      </p:sp>
      <p:sp>
        <p:nvSpPr>
          <p:cNvPr id="23554" name="Rectangle 2"/>
          <p:cNvSpPr>
            <a:spLocks noGrp="1" noRot="1" noChangeAspect="1" noChangeArrowheads="1" noTextEdit="1"/>
          </p:cNvSpPr>
          <p:nvPr>
            <p:ph type="sldImg"/>
          </p:nvPr>
        </p:nvSpPr>
        <p:spPr>
          <a:xfrm>
            <a:off x="381000" y="685800"/>
            <a:ext cx="6096000" cy="3429000"/>
          </a:xfrm>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7BF07468-B97C-DF4E-BDB1-4B72D98E4C26}" type="slidenum">
              <a:rPr lang="en-GB" sz="1200"/>
              <a:pPr eaLnBrk="1" hangingPunct="1"/>
              <a:t>6</a:t>
            </a:fld>
            <a:endParaRPr lang="en-GB" sz="1200"/>
          </a:p>
        </p:txBody>
      </p:sp>
      <p:sp>
        <p:nvSpPr>
          <p:cNvPr id="33794" name="Rectangle 2"/>
          <p:cNvSpPr>
            <a:spLocks noGrp="1" noRot="1" noChangeAspect="1" noChangeArrowheads="1" noTextEdit="1"/>
          </p:cNvSpPr>
          <p:nvPr>
            <p:ph type="sldImg"/>
          </p:nvPr>
        </p:nvSpPr>
        <p:spPr>
          <a:xfrm>
            <a:off x="381000" y="685800"/>
            <a:ext cx="6096000" cy="3429000"/>
          </a:xfrm>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30FBFAAD-4C3A-47C5-AB03-119E6C0EF60E}" type="slidenum">
              <a:rPr lang="nl-NL" smtClean="0"/>
              <a:t>8</a:t>
            </a:fld>
            <a:endParaRPr lang="nl-NL"/>
          </a:p>
        </p:txBody>
      </p:sp>
    </p:spTree>
    <p:extLst>
      <p:ext uri="{BB962C8B-B14F-4D97-AF65-F5344CB8AC3E}">
        <p14:creationId xmlns:p14="http://schemas.microsoft.com/office/powerpoint/2010/main" val="1284935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a:xfrm>
            <a:off x="914508" y="4344608"/>
            <a:ext cx="5028986" cy="411355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nl-NL">
              <a:latin typeface="Times" charset="0"/>
            </a:endParaRPr>
          </a:p>
        </p:txBody>
      </p:sp>
    </p:spTree>
    <p:extLst>
      <p:ext uri="{BB962C8B-B14F-4D97-AF65-F5344CB8AC3E}">
        <p14:creationId xmlns:p14="http://schemas.microsoft.com/office/powerpoint/2010/main" val="2541623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84E1DCA4-CD2C-7542-9674-D8A73E4D399D}" type="slidenum">
              <a:rPr lang="en-US" sz="1200"/>
              <a:pPr eaLnBrk="1" hangingPunct="1"/>
              <a:t>25</a:t>
            </a:fld>
            <a:endParaRPr lang="en-US" sz="120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960695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E2DC5CD9-5A53-514E-A40A-F22AB5106C75}" type="slidenum">
              <a:rPr lang="en-US" sz="1200"/>
              <a:pPr eaLnBrk="1" hangingPunct="1"/>
              <a:t>26</a:t>
            </a:fld>
            <a:endParaRPr lang="en-US" sz="1200"/>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257612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p:spPr>
        <p:txBody>
          <a:bodyPr/>
          <a:lstStyle/>
          <a:p>
            <a:endParaRPr lang="en-US" altLang="en-US">
              <a:latin typeface="Times" pitchFamily="18" charset="0"/>
            </a:endParaRPr>
          </a:p>
        </p:txBody>
      </p:sp>
      <p:sp>
        <p:nvSpPr>
          <p:cNvPr id="62468" name="Slide Number Placeholder 3"/>
          <p:cNvSpPr>
            <a:spLocks noGrp="1"/>
          </p:cNvSpPr>
          <p:nvPr>
            <p:ph type="sldNum" sz="quarter" idx="5"/>
          </p:nvPr>
        </p:nvSpPr>
        <p:spPr>
          <a:noFill/>
        </p:spPr>
        <p:txBody>
          <a:bodyPr/>
          <a:lstStyle>
            <a:lvl1pPr defTabSz="950913">
              <a:defRPr sz="2400">
                <a:solidFill>
                  <a:schemeClr val="tx1"/>
                </a:solidFill>
                <a:latin typeface="Tahoma" pitchFamily="34" charset="0"/>
              </a:defRPr>
            </a:lvl1pPr>
            <a:lvl2pPr marL="742950" indent="-285750" defTabSz="950913">
              <a:defRPr sz="2400">
                <a:solidFill>
                  <a:schemeClr val="tx1"/>
                </a:solidFill>
                <a:latin typeface="Tahoma" pitchFamily="34" charset="0"/>
              </a:defRPr>
            </a:lvl2pPr>
            <a:lvl3pPr marL="1143000" indent="-228600" defTabSz="950913">
              <a:defRPr sz="2400">
                <a:solidFill>
                  <a:schemeClr val="tx1"/>
                </a:solidFill>
                <a:latin typeface="Tahoma" pitchFamily="34" charset="0"/>
              </a:defRPr>
            </a:lvl3pPr>
            <a:lvl4pPr marL="1600200" indent="-228600" defTabSz="950913">
              <a:defRPr sz="2400">
                <a:solidFill>
                  <a:schemeClr val="tx1"/>
                </a:solidFill>
                <a:latin typeface="Tahoma" pitchFamily="34" charset="0"/>
              </a:defRPr>
            </a:lvl4pPr>
            <a:lvl5pPr marL="2057400" indent="-228600" defTabSz="950913">
              <a:defRPr sz="2400">
                <a:solidFill>
                  <a:schemeClr val="tx1"/>
                </a:solidFill>
                <a:latin typeface="Tahoma" pitchFamily="34" charset="0"/>
              </a:defRPr>
            </a:lvl5pPr>
            <a:lvl6pPr marL="2514600" indent="-228600" defTabSz="950913" eaLnBrk="0" fontAlgn="base" hangingPunct="0">
              <a:spcBef>
                <a:spcPct val="0"/>
              </a:spcBef>
              <a:spcAft>
                <a:spcPct val="0"/>
              </a:spcAft>
              <a:defRPr sz="2400">
                <a:solidFill>
                  <a:schemeClr val="tx1"/>
                </a:solidFill>
                <a:latin typeface="Tahoma" pitchFamily="34" charset="0"/>
              </a:defRPr>
            </a:lvl6pPr>
            <a:lvl7pPr marL="2971800" indent="-228600" defTabSz="950913" eaLnBrk="0" fontAlgn="base" hangingPunct="0">
              <a:spcBef>
                <a:spcPct val="0"/>
              </a:spcBef>
              <a:spcAft>
                <a:spcPct val="0"/>
              </a:spcAft>
              <a:defRPr sz="2400">
                <a:solidFill>
                  <a:schemeClr val="tx1"/>
                </a:solidFill>
                <a:latin typeface="Tahoma" pitchFamily="34" charset="0"/>
              </a:defRPr>
            </a:lvl7pPr>
            <a:lvl8pPr marL="3429000" indent="-228600" defTabSz="950913" eaLnBrk="0" fontAlgn="base" hangingPunct="0">
              <a:spcBef>
                <a:spcPct val="0"/>
              </a:spcBef>
              <a:spcAft>
                <a:spcPct val="0"/>
              </a:spcAft>
              <a:defRPr sz="2400">
                <a:solidFill>
                  <a:schemeClr val="tx1"/>
                </a:solidFill>
                <a:latin typeface="Tahoma" pitchFamily="34" charset="0"/>
              </a:defRPr>
            </a:lvl8pPr>
            <a:lvl9pPr marL="3886200" indent="-228600" defTabSz="950913" eaLnBrk="0" fontAlgn="base" hangingPunct="0">
              <a:spcBef>
                <a:spcPct val="0"/>
              </a:spcBef>
              <a:spcAft>
                <a:spcPct val="0"/>
              </a:spcAft>
              <a:defRPr sz="2400">
                <a:solidFill>
                  <a:schemeClr val="tx1"/>
                </a:solidFill>
                <a:latin typeface="Tahoma" pitchFamily="34" charset="0"/>
              </a:defRPr>
            </a:lvl9pPr>
          </a:lstStyle>
          <a:p>
            <a:fld id="{9F27F5A3-547A-456F-A9CD-175FB312B700}" type="slidenum">
              <a:rPr lang="en-US" altLang="en-US" sz="1200" smtClean="0">
                <a:latin typeface="Times" pitchFamily="18" charset="0"/>
              </a:rPr>
              <a:pPr/>
              <a:t>27</a:t>
            </a:fld>
            <a:endParaRPr lang="en-US" altLang="en-US" sz="1200">
              <a:latin typeface="Times" pitchFamily="18" charset="0"/>
            </a:endParaRPr>
          </a:p>
        </p:txBody>
      </p:sp>
    </p:spTree>
    <p:extLst>
      <p:ext uri="{BB962C8B-B14F-4D97-AF65-F5344CB8AC3E}">
        <p14:creationId xmlns:p14="http://schemas.microsoft.com/office/powerpoint/2010/main" val="2462306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87313" y="744538"/>
            <a:ext cx="6619875" cy="3724275"/>
          </a:xfrm>
          <a:ln/>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nl-NL">
              <a:latin typeface="Times" pitchFamily="18" charset="0"/>
            </a:endParaRPr>
          </a:p>
        </p:txBody>
      </p:sp>
    </p:spTree>
    <p:extLst>
      <p:ext uri="{BB962C8B-B14F-4D97-AF65-F5344CB8AC3E}">
        <p14:creationId xmlns:p14="http://schemas.microsoft.com/office/powerpoint/2010/main" val="476601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7FEDFC1-E2BC-624F-A4EF-96A8F698CA85}" type="slidenum">
              <a:rPr lang="en-US" sz="1200"/>
              <a:pPr eaLnBrk="1" hangingPunct="1"/>
              <a:t>30</a:t>
            </a:fld>
            <a:endParaRPr lang="en-US" sz="120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dirty="0">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2217005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87313" y="744538"/>
            <a:ext cx="6619875" cy="3724275"/>
          </a:xfrm>
          <a:ln/>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nl-NL">
              <a:latin typeface="Times" pitchFamily="18" charset="0"/>
            </a:endParaRPr>
          </a:p>
        </p:txBody>
      </p:sp>
    </p:spTree>
    <p:extLst>
      <p:ext uri="{BB962C8B-B14F-4D97-AF65-F5344CB8AC3E}">
        <p14:creationId xmlns:p14="http://schemas.microsoft.com/office/powerpoint/2010/main" val="3014917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87313" y="744538"/>
            <a:ext cx="6619875" cy="3724275"/>
          </a:xfrm>
          <a:ln/>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h-TH" altLang="nl-NL">
              <a:latin typeface="Times" pitchFamily="18" charset="0"/>
            </a:endParaRPr>
          </a:p>
        </p:txBody>
      </p:sp>
    </p:spTree>
    <p:extLst>
      <p:ext uri="{BB962C8B-B14F-4D97-AF65-F5344CB8AC3E}">
        <p14:creationId xmlns:p14="http://schemas.microsoft.com/office/powerpoint/2010/main" val="1767515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7FEDFC1-E2BC-624F-A4EF-96A8F698CA85}" type="slidenum">
              <a:rPr lang="en-US" sz="1200"/>
              <a:pPr eaLnBrk="1" hangingPunct="1"/>
              <a:t>34</a:t>
            </a:fld>
            <a:endParaRPr lang="en-US" sz="120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3598793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7FEDFC1-E2BC-624F-A4EF-96A8F698CA85}" type="slidenum">
              <a:rPr lang="en-US" sz="1200"/>
              <a:pPr eaLnBrk="1" hangingPunct="1"/>
              <a:t>35</a:t>
            </a:fld>
            <a:endParaRPr lang="en-US" sz="120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189158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78DBD75F-1A5A-1645-838A-ED21FA8ED047}" type="slidenum">
              <a:rPr lang="en-US" sz="1200"/>
              <a:pPr eaLnBrk="1" hangingPunct="1"/>
              <a:t>38</a:t>
            </a:fld>
            <a:endParaRPr lang="en-US" sz="120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4030033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16063CA1-AE9D-A046-A197-85BE8B2F9B92}" type="slidenum">
              <a:rPr lang="en-GB" sz="1200"/>
              <a:pPr eaLnBrk="1" hangingPunct="1"/>
              <a:t>41</a:t>
            </a:fld>
            <a:endParaRPr lang="en-GB" sz="1200"/>
          </a:p>
        </p:txBody>
      </p:sp>
      <p:sp>
        <p:nvSpPr>
          <p:cNvPr id="89090" name="Rectangle 2"/>
          <p:cNvSpPr>
            <a:spLocks noGrp="1" noRot="1" noChangeAspect="1" noChangeArrowheads="1" noTextEdit="1"/>
          </p:cNvSpPr>
          <p:nvPr>
            <p:ph type="sldImg"/>
          </p:nvPr>
        </p:nvSpPr>
        <p:spPr>
          <a:xfrm>
            <a:off x="381000" y="685800"/>
            <a:ext cx="6096000" cy="3429000"/>
          </a:xfrm>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878013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850720-68F7-6A48-AAB3-FD2BAD14C20C}"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087F8B-A32C-7640-A69A-87C51297CE42}" type="slidenum">
              <a:rPr lang="en-US" smtClean="0"/>
              <a:pPr/>
              <a:t>‹#›</a:t>
            </a:fld>
            <a:endParaRPr lang="en-US"/>
          </a:p>
        </p:txBody>
      </p:sp>
    </p:spTree>
    <p:extLst>
      <p:ext uri="{BB962C8B-B14F-4D97-AF65-F5344CB8AC3E}">
        <p14:creationId xmlns:p14="http://schemas.microsoft.com/office/powerpoint/2010/main" val="238914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928B03-D769-074D-8351-97BC9193047F}"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8A0A4D8-03A1-FD4F-B100-B16A17671FD2}" type="slidenum">
              <a:rPr lang="en-US" smtClean="0"/>
              <a:pPr/>
              <a:t>‹#›</a:t>
            </a:fld>
            <a:endParaRPr lang="en-US"/>
          </a:p>
        </p:txBody>
      </p:sp>
    </p:spTree>
    <p:extLst>
      <p:ext uri="{BB962C8B-B14F-4D97-AF65-F5344CB8AC3E}">
        <p14:creationId xmlns:p14="http://schemas.microsoft.com/office/powerpoint/2010/main" val="154585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679594-3467-3A45-ADE6-F163B7DFAB8F}"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0EA41FA-2BE0-8D41-88D0-E62711C4EF88}" type="slidenum">
              <a:rPr lang="en-US" smtClean="0"/>
              <a:pPr/>
              <a:t>‹#›</a:t>
            </a:fld>
            <a:endParaRPr lang="en-US"/>
          </a:p>
        </p:txBody>
      </p:sp>
    </p:spTree>
    <p:extLst>
      <p:ext uri="{BB962C8B-B14F-4D97-AF65-F5344CB8AC3E}">
        <p14:creationId xmlns:p14="http://schemas.microsoft.com/office/powerpoint/2010/main" val="11214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357350-E757-DE4B-A81B-C18E8BA77A4F}" type="datetime4">
              <a:rPr lang="en-US" smtClean="0"/>
              <a:pPr/>
              <a:t>March 30,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E68759-7318-0347-B428-654E55ECFBDB}" type="slidenum">
              <a:rPr lang="en-US" smtClean="0"/>
              <a:pPr/>
              <a:t>‹#›</a:t>
            </a:fld>
            <a:endParaRPr lang="en-US"/>
          </a:p>
        </p:txBody>
      </p:sp>
    </p:spTree>
    <p:extLst>
      <p:ext uri="{BB962C8B-B14F-4D97-AF65-F5344CB8AC3E}">
        <p14:creationId xmlns:p14="http://schemas.microsoft.com/office/powerpoint/2010/main" val="132320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A52510-7927-CD4A-AF77-42C3F92F6084}" type="datetime4">
              <a:rPr lang="en-US" smtClean="0"/>
              <a:pPr/>
              <a:t>March 30, 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0AA0B58-E269-B847-A737-9D5C2F6B0835}" type="slidenum">
              <a:rPr lang="en-US" smtClean="0"/>
              <a:pPr/>
              <a:t>‹#›</a:t>
            </a:fld>
            <a:endParaRPr lang="en-US"/>
          </a:p>
        </p:txBody>
      </p:sp>
    </p:spTree>
    <p:extLst>
      <p:ext uri="{BB962C8B-B14F-4D97-AF65-F5344CB8AC3E}">
        <p14:creationId xmlns:p14="http://schemas.microsoft.com/office/powerpoint/2010/main" val="1728854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815666-93CE-7A4E-8BD8-CE4576DE9111}" type="datetime4">
              <a:rPr lang="en-US" smtClean="0"/>
              <a:pPr/>
              <a:t>March 30, 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FC2F1BD-E83B-D84D-B6F2-BF51A29CE67E}" type="slidenum">
              <a:rPr lang="en-US" smtClean="0"/>
              <a:pPr/>
              <a:t>‹#›</a:t>
            </a:fld>
            <a:endParaRPr lang="en-US"/>
          </a:p>
        </p:txBody>
      </p:sp>
    </p:spTree>
    <p:extLst>
      <p:ext uri="{BB962C8B-B14F-4D97-AF65-F5344CB8AC3E}">
        <p14:creationId xmlns:p14="http://schemas.microsoft.com/office/powerpoint/2010/main" val="435735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E7B200-3B52-0D4C-BAF9-CA81D9C5E5CE}" type="datetime4">
              <a:rPr lang="en-US" smtClean="0"/>
              <a:pPr/>
              <a:t>March 30, 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C769964-9ADF-DB4A-9C31-CDBC7693E075}" type="slidenum">
              <a:rPr lang="en-US" smtClean="0"/>
              <a:pPr/>
              <a:t>‹#›</a:t>
            </a:fld>
            <a:endParaRPr lang="en-US"/>
          </a:p>
        </p:txBody>
      </p:sp>
    </p:spTree>
    <p:extLst>
      <p:ext uri="{BB962C8B-B14F-4D97-AF65-F5344CB8AC3E}">
        <p14:creationId xmlns:p14="http://schemas.microsoft.com/office/powerpoint/2010/main" val="472757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B831A7-27C8-FF48-A00E-B930D8B63694}" type="datetime4">
              <a:rPr lang="en-US" smtClean="0"/>
              <a:pPr/>
              <a:t>March 30,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1DE03DB-82C7-5D48-BD73-DDA1B8A6DA59}" type="slidenum">
              <a:rPr lang="en-US" smtClean="0"/>
              <a:pPr/>
              <a:t>‹#›</a:t>
            </a:fld>
            <a:endParaRPr lang="en-US"/>
          </a:p>
        </p:txBody>
      </p:sp>
    </p:spTree>
    <p:extLst>
      <p:ext uri="{BB962C8B-B14F-4D97-AF65-F5344CB8AC3E}">
        <p14:creationId xmlns:p14="http://schemas.microsoft.com/office/powerpoint/2010/main" val="230865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F90A9E8-812B-574E-8E98-CCB7B4B2CB5F}" type="slidenum">
              <a:rPr lang="en-US" smtClean="0"/>
              <a:pPr/>
              <a:t>‹#›</a:t>
            </a:fld>
            <a:endParaRPr lang="en-US"/>
          </a:p>
        </p:txBody>
      </p:sp>
      <p:sp>
        <p:nvSpPr>
          <p:cNvPr id="5" name="Date Placeholder 4"/>
          <p:cNvSpPr>
            <a:spLocks noGrp="1"/>
          </p:cNvSpPr>
          <p:nvPr>
            <p:ph type="dt" sz="half" idx="10"/>
          </p:nvPr>
        </p:nvSpPr>
        <p:spPr/>
        <p:txBody>
          <a:bodyPr/>
          <a:lstStyle/>
          <a:p>
            <a:fld id="{C0CD12CA-9A9C-6947-9E4D-3C4A4916866C}" type="datetime4">
              <a:rPr lang="en-US" smtClean="0"/>
              <a:pPr/>
              <a:t>March 30, 2026</a:t>
            </a:fld>
            <a:endParaRPr lang="en-US"/>
          </a:p>
        </p:txBody>
      </p:sp>
    </p:spTree>
    <p:extLst>
      <p:ext uri="{BB962C8B-B14F-4D97-AF65-F5344CB8AC3E}">
        <p14:creationId xmlns:p14="http://schemas.microsoft.com/office/powerpoint/2010/main" val="566275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9D1EC-D813-1644-9691-7DA05B6B3D15}"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B35B0C-9142-DC41-A5A4-E897653BADBE}" type="slidenum">
              <a:rPr lang="en-US" smtClean="0"/>
              <a:pPr/>
              <a:t>‹#›</a:t>
            </a:fld>
            <a:endParaRPr lang="en-US"/>
          </a:p>
        </p:txBody>
      </p:sp>
    </p:spTree>
    <p:extLst>
      <p:ext uri="{BB962C8B-B14F-4D97-AF65-F5344CB8AC3E}">
        <p14:creationId xmlns:p14="http://schemas.microsoft.com/office/powerpoint/2010/main" val="172871020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9D1EC-D813-1644-9691-7DA05B6B3D15}"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B35B0C-9142-DC41-A5A4-E897653BADBE}"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7710575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9D1EC-D813-1644-9691-7DA05B6B3D15}"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B35B0C-9142-DC41-A5A4-E897653BADBE}" type="slidenum">
              <a:rPr lang="en-US" smtClean="0"/>
              <a:pPr/>
              <a:t>‹#›</a:t>
            </a:fld>
            <a:endParaRPr lang="en-US"/>
          </a:p>
        </p:txBody>
      </p:sp>
    </p:spTree>
    <p:extLst>
      <p:ext uri="{BB962C8B-B14F-4D97-AF65-F5344CB8AC3E}">
        <p14:creationId xmlns:p14="http://schemas.microsoft.com/office/powerpoint/2010/main" val="222737766"/>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9D1EC-D813-1644-9691-7DA05B6B3D15}"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B35B0C-9142-DC41-A5A4-E897653BADBE}"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86173972"/>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9D1EC-D813-1644-9691-7DA05B6B3D15}"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B35B0C-9142-DC41-A5A4-E897653BADBE}" type="slidenum">
              <a:rPr lang="en-US" smtClean="0"/>
              <a:pPr/>
              <a:t>‹#›</a:t>
            </a:fld>
            <a:endParaRPr lang="en-US"/>
          </a:p>
        </p:txBody>
      </p:sp>
    </p:spTree>
    <p:extLst>
      <p:ext uri="{BB962C8B-B14F-4D97-AF65-F5344CB8AC3E}">
        <p14:creationId xmlns:p14="http://schemas.microsoft.com/office/powerpoint/2010/main" val="30972674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E9269-038F-5540-8C66-CDD284A83AA4}"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D9E4C6-714C-4940-AF33-2FFC0FDB4D53}" type="slidenum">
              <a:rPr lang="en-US" smtClean="0"/>
              <a:pPr/>
              <a:t>‹#›</a:t>
            </a:fld>
            <a:endParaRPr lang="en-US"/>
          </a:p>
        </p:txBody>
      </p:sp>
    </p:spTree>
    <p:extLst>
      <p:ext uri="{BB962C8B-B14F-4D97-AF65-F5344CB8AC3E}">
        <p14:creationId xmlns:p14="http://schemas.microsoft.com/office/powerpoint/2010/main" val="3389387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4D26C2-F3B5-D642-B0E8-38DC96FC2652}" type="datetime4">
              <a:rPr lang="en-US" smtClean="0"/>
              <a:pPr/>
              <a:t>March 30, 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C930BF0-AB90-B640-B678-BC55013E33F2}" type="slidenum">
              <a:rPr lang="en-US" smtClean="0"/>
              <a:pPr/>
              <a:t>‹#›</a:t>
            </a:fld>
            <a:endParaRPr lang="en-US"/>
          </a:p>
        </p:txBody>
      </p:sp>
    </p:spTree>
    <p:extLst>
      <p:ext uri="{BB962C8B-B14F-4D97-AF65-F5344CB8AC3E}">
        <p14:creationId xmlns:p14="http://schemas.microsoft.com/office/powerpoint/2010/main" val="1404739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595201" y="101447"/>
            <a:ext cx="7001595"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510033" y="4333239"/>
            <a:ext cx="11171935" cy="387798"/>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A313F08-DB31-49DF-831F-795891D7D1E1}" type="datetime1">
              <a:rPr lang="en-US" smtClean="0"/>
              <a:t>3/30/2026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7130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L"/>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79D1EC-D813-1644-9691-7DA05B6B3D15}" type="datetime4">
              <a:rPr lang="en-US" smtClean="0"/>
              <a:pPr/>
              <a:t>March 30, 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EB35B0C-9142-DC41-A5A4-E897653BADBE}" type="slidenum">
              <a:rPr lang="en-US" smtClean="0"/>
              <a:pPr/>
              <a:t>‹#›</a:t>
            </a:fld>
            <a:endParaRPr lang="en-US"/>
          </a:p>
        </p:txBody>
      </p:sp>
    </p:spTree>
    <p:extLst>
      <p:ext uri="{BB962C8B-B14F-4D97-AF65-F5344CB8AC3E}">
        <p14:creationId xmlns:p14="http://schemas.microsoft.com/office/powerpoint/2010/main" val="85418194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diagramData" Target="../diagrams/data5.xml"/><Relationship Id="rId26" Type="http://schemas.openxmlformats.org/officeDocument/2006/relationships/diagramColors" Target="../diagrams/colors6.xml"/><Relationship Id="rId3" Type="http://schemas.openxmlformats.org/officeDocument/2006/relationships/diagramData" Target="../diagrams/data2.xml"/><Relationship Id="rId21" Type="http://schemas.openxmlformats.org/officeDocument/2006/relationships/diagramColors" Target="../diagrams/colors5.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5" Type="http://schemas.openxmlformats.org/officeDocument/2006/relationships/diagramQuickStyle" Target="../diagrams/quickStyle6.xml"/><Relationship Id="rId2" Type="http://schemas.openxmlformats.org/officeDocument/2006/relationships/image" Target="../media/image7.jpeg"/><Relationship Id="rId16" Type="http://schemas.openxmlformats.org/officeDocument/2006/relationships/diagramColors" Target="../diagrams/colors4.xml"/><Relationship Id="rId20" Type="http://schemas.openxmlformats.org/officeDocument/2006/relationships/diagramQuickStyle" Target="../diagrams/quickStyle5.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24" Type="http://schemas.openxmlformats.org/officeDocument/2006/relationships/diagramLayout" Target="../diagrams/layout6.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23" Type="http://schemas.openxmlformats.org/officeDocument/2006/relationships/diagramData" Target="../diagrams/data6.xml"/><Relationship Id="rId10" Type="http://schemas.openxmlformats.org/officeDocument/2006/relationships/diagramQuickStyle" Target="../diagrams/quickStyle3.xml"/><Relationship Id="rId19" Type="http://schemas.openxmlformats.org/officeDocument/2006/relationships/diagramLayout" Target="../diagrams/layout5.xml"/><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 Id="rId22" Type="http://schemas.microsoft.com/office/2007/relationships/diagramDrawing" Target="../diagrams/drawing5.xml"/><Relationship Id="rId27" Type="http://schemas.microsoft.com/office/2007/relationships/diagramDrawing" Target="../diagrams/drawing6.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diagramLayout" Target="../diagrams/layout9.xml"/><Relationship Id="rId18" Type="http://schemas.openxmlformats.org/officeDocument/2006/relationships/diagramLayout" Target="../diagrams/layout10.xml"/><Relationship Id="rId26" Type="http://schemas.microsoft.com/office/2007/relationships/diagramDrawing" Target="../diagrams/drawing11.xml"/><Relationship Id="rId3" Type="http://schemas.openxmlformats.org/officeDocument/2006/relationships/diagramLayout" Target="../diagrams/layout7.xml"/><Relationship Id="rId21" Type="http://schemas.microsoft.com/office/2007/relationships/diagramDrawing" Target="../diagrams/drawing10.xml"/><Relationship Id="rId7" Type="http://schemas.openxmlformats.org/officeDocument/2006/relationships/diagramData" Target="../diagrams/data8.xml"/><Relationship Id="rId12" Type="http://schemas.openxmlformats.org/officeDocument/2006/relationships/diagramData" Target="../diagrams/data9.xml"/><Relationship Id="rId17" Type="http://schemas.openxmlformats.org/officeDocument/2006/relationships/diagramData" Target="../diagrams/data10.xml"/><Relationship Id="rId25" Type="http://schemas.openxmlformats.org/officeDocument/2006/relationships/diagramColors" Target="../diagrams/colors11.xml"/><Relationship Id="rId2" Type="http://schemas.openxmlformats.org/officeDocument/2006/relationships/diagramData" Target="../diagrams/data7.xml"/><Relationship Id="rId16" Type="http://schemas.microsoft.com/office/2007/relationships/diagramDrawing" Target="../diagrams/drawing9.xml"/><Relationship Id="rId20" Type="http://schemas.openxmlformats.org/officeDocument/2006/relationships/diagramColors" Target="../diagrams/colors10.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24" Type="http://schemas.openxmlformats.org/officeDocument/2006/relationships/diagramQuickStyle" Target="../diagrams/quickStyle11.xml"/><Relationship Id="rId5" Type="http://schemas.openxmlformats.org/officeDocument/2006/relationships/diagramColors" Target="../diagrams/colors7.xml"/><Relationship Id="rId15" Type="http://schemas.openxmlformats.org/officeDocument/2006/relationships/diagramColors" Target="../diagrams/colors9.xml"/><Relationship Id="rId23" Type="http://schemas.openxmlformats.org/officeDocument/2006/relationships/diagramLayout" Target="../diagrams/layout11.xml"/><Relationship Id="rId10" Type="http://schemas.openxmlformats.org/officeDocument/2006/relationships/diagramColors" Target="../diagrams/colors8.xml"/><Relationship Id="rId19" Type="http://schemas.openxmlformats.org/officeDocument/2006/relationships/diagramQuickStyle" Target="../diagrams/quickStyle10.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 Id="rId22" Type="http://schemas.openxmlformats.org/officeDocument/2006/relationships/diagramData" Target="../diagrams/data1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designabetterbusiness.com/2017/10/12/how-to-really-understand-your-customer-with-the-value-proposition-canvas/"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strategyzer.com/canvas/value-proposition-canva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youtube.com/watch?v=jUsrkasOBVk&amp;feature=youtu.be"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41.jpg"/><Relationship Id="rId13" Type="http://schemas.openxmlformats.org/officeDocument/2006/relationships/image" Target="../media/image46.jpg"/><Relationship Id="rId3" Type="http://schemas.openxmlformats.org/officeDocument/2006/relationships/image" Target="../media/image36.jpg"/><Relationship Id="rId7" Type="http://schemas.openxmlformats.org/officeDocument/2006/relationships/image" Target="../media/image40.jpg"/><Relationship Id="rId12" Type="http://schemas.openxmlformats.org/officeDocument/2006/relationships/image" Target="../media/image45.jpg"/><Relationship Id="rId2" Type="http://schemas.openxmlformats.org/officeDocument/2006/relationships/image" Target="../media/image35.png"/><Relationship Id="rId1" Type="http://schemas.openxmlformats.org/officeDocument/2006/relationships/slideLayout" Target="../slideLayouts/slideLayout17.xml"/><Relationship Id="rId6" Type="http://schemas.openxmlformats.org/officeDocument/2006/relationships/image" Target="../media/image39.jpg"/><Relationship Id="rId11" Type="http://schemas.openxmlformats.org/officeDocument/2006/relationships/image" Target="../media/image44.jpg"/><Relationship Id="rId5" Type="http://schemas.openxmlformats.org/officeDocument/2006/relationships/image" Target="../media/image38.jpg"/><Relationship Id="rId10" Type="http://schemas.openxmlformats.org/officeDocument/2006/relationships/image" Target="../media/image43.jpg"/><Relationship Id="rId4" Type="http://schemas.openxmlformats.org/officeDocument/2006/relationships/image" Target="../media/image37.jpg"/><Relationship Id="rId9" Type="http://schemas.openxmlformats.org/officeDocument/2006/relationships/image" Target="../media/image42.jp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www.youtube.com/watch?v=sfGtw2C95Ms"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77334" y="609600"/>
            <a:ext cx="8596668" cy="1595264"/>
          </a:xfrm>
        </p:spPr>
        <p:txBody>
          <a:bodyPr>
            <a:normAutofit fontScale="90000"/>
          </a:bodyPr>
          <a:lstStyle/>
          <a:p>
            <a:r>
              <a:rPr lang="en-US" dirty="0">
                <a:solidFill>
                  <a:schemeClr val="accent2">
                    <a:lumMod val="50000"/>
                  </a:schemeClr>
                </a:solidFill>
                <a:latin typeface="Tahoma" charset="0"/>
                <a:ea typeface="ＭＳ Ｐゴシック" charset="0"/>
                <a:cs typeface="ＭＳ Ｐゴシック" charset="0"/>
              </a:rPr>
              <a:t>EE3L11 Bachelor Graduation project</a:t>
            </a:r>
            <a:br>
              <a:rPr lang="en-US" dirty="0">
                <a:solidFill>
                  <a:schemeClr val="accent2">
                    <a:lumMod val="50000"/>
                  </a:schemeClr>
                </a:solidFill>
                <a:latin typeface="Tahoma" charset="0"/>
                <a:ea typeface="ＭＳ Ｐゴシック" charset="0"/>
                <a:cs typeface="ＭＳ Ｐゴシック" charset="0"/>
              </a:rPr>
            </a:br>
            <a:br>
              <a:rPr lang="en-US" dirty="0">
                <a:solidFill>
                  <a:schemeClr val="accent2">
                    <a:lumMod val="50000"/>
                  </a:schemeClr>
                </a:solidFill>
                <a:latin typeface="Tahoma" charset="0"/>
                <a:ea typeface="ＭＳ Ｐゴシック" charset="0"/>
                <a:cs typeface="ＭＳ Ｐゴシック" charset="0"/>
              </a:rPr>
            </a:br>
            <a:endParaRPr lang="en-US" dirty="0">
              <a:solidFill>
                <a:schemeClr val="accent2">
                  <a:lumMod val="50000"/>
                </a:schemeClr>
              </a:solidFill>
              <a:latin typeface="Tahoma" charset="0"/>
              <a:ea typeface="ＭＳ Ｐゴシック" charset="0"/>
              <a:cs typeface="ＭＳ Ｐゴシック" charset="0"/>
            </a:endParaRPr>
          </a:p>
        </p:txBody>
      </p:sp>
      <p:sp>
        <p:nvSpPr>
          <p:cNvPr id="18435" name="Rectangle 3"/>
          <p:cNvSpPr>
            <a:spLocks noGrp="1" noChangeArrowheads="1"/>
          </p:cNvSpPr>
          <p:nvPr>
            <p:ph idx="1"/>
          </p:nvPr>
        </p:nvSpPr>
        <p:spPr>
          <a:xfrm>
            <a:off x="2286000" y="2564904"/>
            <a:ext cx="7772400" cy="3042146"/>
          </a:xfrm>
        </p:spPr>
        <p:txBody>
          <a:bodyPr/>
          <a:lstStyle/>
          <a:p>
            <a:pPr marL="0" indent="0">
              <a:buNone/>
            </a:pPr>
            <a:r>
              <a:rPr lang="en-US" dirty="0">
                <a:latin typeface="Tahoma" charset="0"/>
                <a:ea typeface="ＭＳ Ｐゴシック" charset="0"/>
                <a:cs typeface="ＭＳ Ｐゴシック" charset="0"/>
              </a:rPr>
              <a:t>Workshop 1</a:t>
            </a:r>
          </a:p>
          <a:p>
            <a:pPr marL="0" indent="0">
              <a:buNone/>
            </a:pPr>
            <a:endParaRPr lang="en-US" dirty="0">
              <a:latin typeface="Tahoma" charset="0"/>
              <a:ea typeface="ＭＳ Ｐゴシック" charset="0"/>
              <a:cs typeface="ＭＳ Ｐゴシック" charset="0"/>
            </a:endParaRPr>
          </a:p>
          <a:p>
            <a:pPr marL="0" indent="0">
              <a:buNone/>
            </a:pPr>
            <a:r>
              <a:rPr lang="en-US" sz="1200" dirty="0">
                <a:solidFill>
                  <a:srgbClr val="0070C0"/>
                </a:solidFill>
                <a:latin typeface="Tahoma" charset="0"/>
                <a:ea typeface="ＭＳ Ｐゴシック" charset="0"/>
                <a:cs typeface="ＭＳ Ｐゴシック" charset="0"/>
              </a:rPr>
              <a:t>Delft Centre for Entrepreneurship</a:t>
            </a:r>
          </a:p>
          <a:p>
            <a:pPr marL="0" indent="0">
              <a:buNone/>
            </a:pPr>
            <a:r>
              <a:rPr lang="en-US" sz="1200" dirty="0">
                <a:solidFill>
                  <a:srgbClr val="0070C0"/>
                </a:solidFill>
                <a:latin typeface="Tahoma" charset="0"/>
                <a:ea typeface="ＭＳ Ｐゴシック" charset="0"/>
                <a:cs typeface="ＭＳ Ｐゴシック" charset="0"/>
              </a:rPr>
              <a:t>www.tudelft.nl/dce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7720" y="5621114"/>
            <a:ext cx="3635896" cy="760741"/>
          </a:xfrm>
          <a:prstGeom prst="rect">
            <a:avLst/>
          </a:prstGeom>
        </p:spPr>
      </p:pic>
    </p:spTree>
    <p:extLst>
      <p:ext uri="{BB962C8B-B14F-4D97-AF65-F5344CB8AC3E}">
        <p14:creationId xmlns:p14="http://schemas.microsoft.com/office/powerpoint/2010/main" val="1802580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75DEB-9BB2-E24C-6732-0D0A55BF9009}"/>
              </a:ext>
            </a:extLst>
          </p:cNvPr>
          <p:cNvSpPr>
            <a:spLocks noGrp="1"/>
          </p:cNvSpPr>
          <p:nvPr>
            <p:ph type="title"/>
          </p:nvPr>
        </p:nvSpPr>
        <p:spPr/>
        <p:txBody>
          <a:bodyPr/>
          <a:lstStyle/>
          <a:p>
            <a:r>
              <a:rPr lang="en-US" dirty="0"/>
              <a:t>Workshop 1</a:t>
            </a:r>
            <a:endParaRPr lang="en-NL" dirty="0"/>
          </a:p>
        </p:txBody>
      </p:sp>
      <p:sp>
        <p:nvSpPr>
          <p:cNvPr id="3" name="Content Placeholder 2">
            <a:extLst>
              <a:ext uri="{FF2B5EF4-FFF2-40B4-BE49-F238E27FC236}">
                <a16:creationId xmlns:a16="http://schemas.microsoft.com/office/drawing/2014/main" id="{B1A6F6D1-556D-8F67-92CE-3DF7B643EBF2}"/>
              </a:ext>
            </a:extLst>
          </p:cNvPr>
          <p:cNvSpPr>
            <a:spLocks noGrp="1"/>
          </p:cNvSpPr>
          <p:nvPr>
            <p:ph idx="1"/>
          </p:nvPr>
        </p:nvSpPr>
        <p:spPr/>
        <p:txBody>
          <a:bodyPr/>
          <a:lstStyle/>
          <a:p>
            <a:pPr lvl="0"/>
            <a:r>
              <a:rPr lang="en-US" dirty="0"/>
              <a:t>What is the name of your product / idea </a:t>
            </a:r>
            <a:r>
              <a:rPr lang="en-US" baseline="30000" dirty="0"/>
              <a:t>(*)</a:t>
            </a:r>
            <a:endParaRPr lang="en-NL" dirty="0"/>
          </a:p>
          <a:p>
            <a:pPr lvl="0"/>
            <a:r>
              <a:rPr lang="en-US" dirty="0"/>
              <a:t>What problem do you address (size and urgency) and what is the solution?</a:t>
            </a:r>
            <a:endParaRPr lang="en-NL" dirty="0"/>
          </a:p>
          <a:p>
            <a:pPr lvl="0"/>
            <a:r>
              <a:rPr lang="en-US" dirty="0"/>
              <a:t>Who is your main users/ customer/ beneficiary? </a:t>
            </a:r>
            <a:endParaRPr lang="en-NL" dirty="0"/>
          </a:p>
          <a:p>
            <a:pPr lvl="1"/>
            <a:r>
              <a:rPr lang="en-US" dirty="0"/>
              <a:t>Provide insight into, empathy with the work they do and problems they have</a:t>
            </a:r>
            <a:endParaRPr lang="en-NL" dirty="0"/>
          </a:p>
          <a:p>
            <a:pPr lvl="0"/>
            <a:r>
              <a:rPr lang="en-US" dirty="0"/>
              <a:t>What is the use-case? </a:t>
            </a:r>
            <a:endParaRPr lang="en-NL" dirty="0"/>
          </a:p>
          <a:p>
            <a:pPr lvl="1"/>
            <a:r>
              <a:rPr lang="en-US" dirty="0"/>
              <a:t>What are existing solutions for the user</a:t>
            </a:r>
            <a:endParaRPr lang="en-NL" dirty="0"/>
          </a:p>
          <a:p>
            <a:pPr lvl="1"/>
            <a:r>
              <a:rPr lang="en-US" dirty="0"/>
              <a:t>What can the user do better now</a:t>
            </a:r>
            <a:endParaRPr lang="en-NL" dirty="0"/>
          </a:p>
          <a:p>
            <a:pPr lvl="1"/>
            <a:r>
              <a:rPr lang="en-US" dirty="0"/>
              <a:t>How valuable is that for the user</a:t>
            </a:r>
            <a:endParaRPr lang="en-NL" dirty="0"/>
          </a:p>
          <a:p>
            <a:pPr lvl="1"/>
            <a:r>
              <a:rPr lang="en-US" dirty="0"/>
              <a:t>How does the solution fit the work environment of the user, the job they do?</a:t>
            </a:r>
            <a:endParaRPr lang="en-NL" dirty="0"/>
          </a:p>
          <a:p>
            <a:endParaRPr lang="en-NL" dirty="0"/>
          </a:p>
        </p:txBody>
      </p:sp>
      <p:sp>
        <p:nvSpPr>
          <p:cNvPr id="4" name="Date Placeholder 3">
            <a:extLst>
              <a:ext uri="{FF2B5EF4-FFF2-40B4-BE49-F238E27FC236}">
                <a16:creationId xmlns:a16="http://schemas.microsoft.com/office/drawing/2014/main" id="{5455D708-4B79-E6FD-48FB-C1FDBE00B8A4}"/>
              </a:ext>
            </a:extLst>
          </p:cNvPr>
          <p:cNvSpPr>
            <a:spLocks noGrp="1"/>
          </p:cNvSpPr>
          <p:nvPr>
            <p:ph type="dt" sz="half" idx="10"/>
          </p:nvPr>
        </p:nvSpPr>
        <p:spPr/>
        <p:txBody>
          <a:bodyPr/>
          <a:lstStyle/>
          <a:p>
            <a:fld id="{DB928B03-D769-074D-8351-97BC9193047F}" type="datetime4">
              <a:rPr lang="en-US" smtClean="0"/>
              <a:pPr/>
              <a:t>March 30, 2026</a:t>
            </a:fld>
            <a:endParaRPr lang="en-US"/>
          </a:p>
        </p:txBody>
      </p:sp>
      <p:sp>
        <p:nvSpPr>
          <p:cNvPr id="5" name="Slide Number Placeholder 4">
            <a:extLst>
              <a:ext uri="{FF2B5EF4-FFF2-40B4-BE49-F238E27FC236}">
                <a16:creationId xmlns:a16="http://schemas.microsoft.com/office/drawing/2014/main" id="{3184A0B0-8D89-C824-0A8F-33442115641C}"/>
              </a:ext>
            </a:extLst>
          </p:cNvPr>
          <p:cNvSpPr>
            <a:spLocks noGrp="1"/>
          </p:cNvSpPr>
          <p:nvPr>
            <p:ph type="sldNum" sz="quarter" idx="12"/>
          </p:nvPr>
        </p:nvSpPr>
        <p:spPr/>
        <p:txBody>
          <a:bodyPr/>
          <a:lstStyle/>
          <a:p>
            <a:fld id="{E8A0A4D8-03A1-FD4F-B100-B16A17671FD2}" type="slidenum">
              <a:rPr lang="en-US" smtClean="0"/>
              <a:pPr/>
              <a:t>2</a:t>
            </a:fld>
            <a:endParaRPr lang="en-US"/>
          </a:p>
        </p:txBody>
      </p:sp>
    </p:spTree>
    <p:extLst>
      <p:ext uri="{BB962C8B-B14F-4D97-AF65-F5344CB8AC3E}">
        <p14:creationId xmlns:p14="http://schemas.microsoft.com/office/powerpoint/2010/main" val="3747933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35B1-11E4-21D4-58D9-150B80EBD928}"/>
              </a:ext>
            </a:extLst>
          </p:cNvPr>
          <p:cNvSpPr>
            <a:spLocks noGrp="1"/>
          </p:cNvSpPr>
          <p:nvPr>
            <p:ph type="title"/>
          </p:nvPr>
        </p:nvSpPr>
        <p:spPr/>
        <p:txBody>
          <a:bodyPr/>
          <a:lstStyle/>
          <a:p>
            <a:r>
              <a:rPr lang="en-US" dirty="0"/>
              <a:t>Workshop 2</a:t>
            </a:r>
            <a:endParaRPr lang="en-NL" dirty="0"/>
          </a:p>
        </p:txBody>
      </p:sp>
      <p:sp>
        <p:nvSpPr>
          <p:cNvPr id="3" name="Content Placeholder 2">
            <a:extLst>
              <a:ext uri="{FF2B5EF4-FFF2-40B4-BE49-F238E27FC236}">
                <a16:creationId xmlns:a16="http://schemas.microsoft.com/office/drawing/2014/main" id="{C95DA262-3D64-C9F0-BA5F-6B697FE8A3C7}"/>
              </a:ext>
            </a:extLst>
          </p:cNvPr>
          <p:cNvSpPr>
            <a:spLocks noGrp="1"/>
          </p:cNvSpPr>
          <p:nvPr>
            <p:ph idx="1"/>
          </p:nvPr>
        </p:nvSpPr>
        <p:spPr/>
        <p:txBody>
          <a:bodyPr/>
          <a:lstStyle/>
          <a:p>
            <a:pPr lvl="0"/>
            <a:r>
              <a:rPr lang="en-US" dirty="0"/>
              <a:t>How many users do possibly exist, how many user groups </a:t>
            </a:r>
            <a:endParaRPr lang="en-NL" dirty="0"/>
          </a:p>
          <a:p>
            <a:pPr lvl="0"/>
            <a:r>
              <a:rPr lang="en-US" dirty="0"/>
              <a:t>What will be your communication plan, </a:t>
            </a:r>
            <a:endParaRPr lang="en-NL" dirty="0"/>
          </a:p>
          <a:p>
            <a:pPr lvl="1"/>
            <a:r>
              <a:rPr lang="en-US" dirty="0"/>
              <a:t>What is your narrative, what channels will you use? </a:t>
            </a:r>
            <a:endParaRPr lang="en-NL" dirty="0"/>
          </a:p>
          <a:p>
            <a:pPr lvl="1"/>
            <a:r>
              <a:rPr lang="en-US" dirty="0"/>
              <a:t>How do they know about your solution?</a:t>
            </a:r>
            <a:endParaRPr lang="en-NL" dirty="0"/>
          </a:p>
          <a:p>
            <a:pPr lvl="0"/>
            <a:r>
              <a:rPr lang="en-US" dirty="0"/>
              <a:t>What is needed to bring the solution to a useable state for users?</a:t>
            </a:r>
            <a:endParaRPr lang="en-NL" dirty="0"/>
          </a:p>
          <a:p>
            <a:pPr lvl="1"/>
            <a:r>
              <a:rPr lang="en-US" dirty="0"/>
              <a:t>How long will it take</a:t>
            </a:r>
            <a:endParaRPr lang="en-NL" dirty="0"/>
          </a:p>
          <a:p>
            <a:pPr lvl="1"/>
            <a:r>
              <a:rPr lang="en-US" dirty="0"/>
              <a:t>What resources are needed</a:t>
            </a:r>
            <a:endParaRPr lang="en-NL" dirty="0"/>
          </a:p>
          <a:p>
            <a:pPr lvl="1"/>
            <a:r>
              <a:rPr lang="en-US" dirty="0"/>
              <a:t>With whom do you need to work?</a:t>
            </a:r>
            <a:endParaRPr lang="en-NL" dirty="0"/>
          </a:p>
          <a:p>
            <a:endParaRPr lang="en-US" dirty="0"/>
          </a:p>
          <a:p>
            <a:endParaRPr lang="en-NL" dirty="0"/>
          </a:p>
        </p:txBody>
      </p:sp>
      <p:sp>
        <p:nvSpPr>
          <p:cNvPr id="4" name="Date Placeholder 3">
            <a:extLst>
              <a:ext uri="{FF2B5EF4-FFF2-40B4-BE49-F238E27FC236}">
                <a16:creationId xmlns:a16="http://schemas.microsoft.com/office/drawing/2014/main" id="{FC2E0A65-6A53-89EF-37FC-924875F74AC7}"/>
              </a:ext>
            </a:extLst>
          </p:cNvPr>
          <p:cNvSpPr>
            <a:spLocks noGrp="1"/>
          </p:cNvSpPr>
          <p:nvPr>
            <p:ph type="dt" sz="half" idx="10"/>
          </p:nvPr>
        </p:nvSpPr>
        <p:spPr/>
        <p:txBody>
          <a:bodyPr/>
          <a:lstStyle/>
          <a:p>
            <a:fld id="{DB928B03-D769-074D-8351-97BC9193047F}" type="datetime4">
              <a:rPr lang="en-US" smtClean="0"/>
              <a:pPr/>
              <a:t>March 30, 2026</a:t>
            </a:fld>
            <a:endParaRPr lang="en-US"/>
          </a:p>
        </p:txBody>
      </p:sp>
      <p:sp>
        <p:nvSpPr>
          <p:cNvPr id="5" name="Slide Number Placeholder 4">
            <a:extLst>
              <a:ext uri="{FF2B5EF4-FFF2-40B4-BE49-F238E27FC236}">
                <a16:creationId xmlns:a16="http://schemas.microsoft.com/office/drawing/2014/main" id="{4767B11B-CF73-34E1-400D-3500A165BB05}"/>
              </a:ext>
            </a:extLst>
          </p:cNvPr>
          <p:cNvSpPr>
            <a:spLocks noGrp="1"/>
          </p:cNvSpPr>
          <p:nvPr>
            <p:ph type="sldNum" sz="quarter" idx="12"/>
          </p:nvPr>
        </p:nvSpPr>
        <p:spPr/>
        <p:txBody>
          <a:bodyPr/>
          <a:lstStyle/>
          <a:p>
            <a:fld id="{E8A0A4D8-03A1-FD4F-B100-B16A17671FD2}" type="slidenum">
              <a:rPr lang="en-US" smtClean="0"/>
              <a:pPr/>
              <a:t>3</a:t>
            </a:fld>
            <a:endParaRPr lang="en-US"/>
          </a:p>
        </p:txBody>
      </p:sp>
    </p:spTree>
    <p:extLst>
      <p:ext uri="{BB962C8B-B14F-4D97-AF65-F5344CB8AC3E}">
        <p14:creationId xmlns:p14="http://schemas.microsoft.com/office/powerpoint/2010/main" val="64575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dirty="0">
                <a:solidFill>
                  <a:schemeClr val="accent2">
                    <a:lumMod val="50000"/>
                  </a:schemeClr>
                </a:solidFill>
                <a:latin typeface="Tahoma" charset="0"/>
                <a:ea typeface="ＭＳ Ｐゴシック" charset="0"/>
                <a:cs typeface="ＭＳ Ｐゴシック" charset="0"/>
              </a:rPr>
              <a:t>Course Assessment</a:t>
            </a:r>
          </a:p>
        </p:txBody>
      </p:sp>
      <p:sp>
        <p:nvSpPr>
          <p:cNvPr id="22531" name="Rectangle 3"/>
          <p:cNvSpPr>
            <a:spLocks noGrp="1" noChangeArrowheads="1"/>
          </p:cNvSpPr>
          <p:nvPr>
            <p:ph idx="1"/>
          </p:nvPr>
        </p:nvSpPr>
        <p:spPr/>
        <p:txBody>
          <a:bodyPr/>
          <a:lstStyle/>
          <a:p>
            <a:pPr eaLnBrk="1" hangingPunct="1"/>
            <a:r>
              <a:rPr lang="en-US" dirty="0">
                <a:latin typeface="Tahoma" charset="0"/>
                <a:ea typeface="ＭＳ Ｐゴシック" charset="0"/>
                <a:cs typeface="ＭＳ Ｐゴシック" charset="0"/>
              </a:rPr>
              <a:t>Two meetings, two team assignments: </a:t>
            </a:r>
          </a:p>
          <a:p>
            <a:pPr lvl="1"/>
            <a:endParaRPr lang="en-US" dirty="0">
              <a:latin typeface="Tahoma" charset="0"/>
              <a:ea typeface="ＭＳ Ｐゴシック" charset="0"/>
              <a:cs typeface="ＭＳ Ｐゴシック" charset="0"/>
            </a:endParaRPr>
          </a:p>
          <a:p>
            <a:pPr lvl="1"/>
            <a:r>
              <a:rPr lang="en-US" dirty="0">
                <a:latin typeface="Tahoma" charset="0"/>
                <a:ea typeface="ＭＳ Ｐゴシック" charset="0"/>
                <a:cs typeface="ＭＳ Ｐゴシック" charset="0"/>
              </a:rPr>
              <a:t>Workshop assignment #1</a:t>
            </a:r>
          </a:p>
          <a:p>
            <a:pPr lvl="1"/>
            <a:r>
              <a:rPr lang="en-US" dirty="0">
                <a:latin typeface="Tahoma" charset="0"/>
                <a:ea typeface="ＭＳ Ｐゴシック" charset="0"/>
                <a:cs typeface="ＭＳ Ｐゴシック" charset="0"/>
              </a:rPr>
              <a:t>Workshop assignment #2 </a:t>
            </a:r>
          </a:p>
          <a:p>
            <a:pPr eaLnBrk="1" hangingPunct="1"/>
            <a:endParaRPr lang="en-US" dirty="0">
              <a:latin typeface="Tahoma" charset="0"/>
              <a:ea typeface="ＭＳ Ｐゴシック" charset="0"/>
              <a:cs typeface="ＭＳ Ｐゴシック" charset="0"/>
            </a:endParaRPr>
          </a:p>
          <a:p>
            <a:pPr eaLnBrk="1" hangingPunct="1"/>
            <a:r>
              <a:rPr lang="en-US" dirty="0">
                <a:latin typeface="Tahoma" charset="0"/>
                <a:ea typeface="ＭＳ Ｐゴシック" charset="0"/>
                <a:cs typeface="ＭＳ Ｐゴシック" charset="0"/>
              </a:rPr>
              <a:t>2 page synopsis: investment plan summary</a:t>
            </a:r>
          </a:p>
          <a:p>
            <a:pPr eaLnBrk="1" hangingPunct="1"/>
            <a:endParaRPr lang="en-US" dirty="0">
              <a:latin typeface="Tahoma" charset="0"/>
              <a:ea typeface="ＭＳ Ｐゴシック" charset="0"/>
              <a:cs typeface="ＭＳ Ｐゴシック" charset="0"/>
            </a:endParaRPr>
          </a:p>
          <a:p>
            <a:pPr eaLnBrk="1" hangingPunct="1"/>
            <a:r>
              <a:rPr lang="en-US" dirty="0">
                <a:latin typeface="Tahoma" charset="0"/>
                <a:ea typeface="ＭＳ Ｐゴシック" charset="0"/>
                <a:cs typeface="ＭＳ Ｐゴシック" charset="0"/>
              </a:rPr>
              <a:t>Fail or pass</a:t>
            </a:r>
          </a:p>
        </p:txBody>
      </p:sp>
      <p:sp>
        <p:nvSpPr>
          <p:cNvPr id="22529" name="Slide Number Placeholder 5"/>
          <p:cNvSpPr>
            <a:spLocks noGrp="1"/>
          </p:cNvSpPr>
          <p:nvPr>
            <p:ph type="sldNum" sz="quarter" idx="12"/>
          </p:nvPr>
        </p:nvSpPr>
        <p:spPr>
          <a:xfrm>
            <a:off x="83058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42747D00-3184-9A48-AA10-E5E58BD59929}" type="slidenum">
              <a:rPr lang="en-US" sz="1400"/>
              <a:pPr eaLnBrk="1" hangingPunct="1"/>
              <a:t>4</a:t>
            </a:fld>
            <a:endParaRPr lang="en-US" sz="1400"/>
          </a:p>
        </p:txBody>
      </p:sp>
    </p:spTree>
    <p:extLst>
      <p:ext uri="{BB962C8B-B14F-4D97-AF65-F5344CB8AC3E}">
        <p14:creationId xmlns:p14="http://schemas.microsoft.com/office/powerpoint/2010/main" val="356217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584" name="Group 24583">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585" name="Straight Connector 24584">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586" name="Straight Connector 24585">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587"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88"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89" name="Isosceles Triangle 24588">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90"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91"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92"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93" name="Isosceles Triangle 24592">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594" name="Isosceles Triangle 24593">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grpSp>
      <p:sp>
        <p:nvSpPr>
          <p:cNvPr id="24596" name="Rectangle 24595">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598" name="Group 24597">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4599" name="Straight Connector 24598">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600"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1"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2" name="Isosceles Triangle 24601">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3"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4"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5"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6" name="Isosceles Triangle 24605">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sp>
          <p:nvSpPr>
            <p:cNvPr id="24607" name="Isosceles Triangle 24606">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nl-NL"/>
            </a:p>
          </p:txBody>
        </p:sp>
      </p:grpSp>
      <p:sp>
        <p:nvSpPr>
          <p:cNvPr id="24609" name="Rectangle 24608">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microsof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009" y="1052736"/>
            <a:ext cx="6079981" cy="4590386"/>
          </a:xfrm>
          <a:prstGeom prst="rect">
            <a:avLst/>
          </a:prstGeom>
        </p:spPr>
      </p:pic>
      <p:sp>
        <p:nvSpPr>
          <p:cNvPr id="24579" name="Slide Number Placeholder 3"/>
          <p:cNvSpPr>
            <a:spLocks noGrp="1"/>
          </p:cNvSpPr>
          <p:nvPr>
            <p:ph type="sldNum" sz="quarter" idx="12"/>
          </p:nvPr>
        </p:nvSpPr>
        <p:spPr>
          <a:xfrm>
            <a:off x="10865194" y="6411619"/>
            <a:ext cx="683339"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spcAft>
                <a:spcPts val="600"/>
              </a:spcAft>
            </a:pPr>
            <a:fld id="{9D271722-831F-644D-9A08-FFED357FA89E}" type="slidenum">
              <a:rPr lang="en-US" sz="900">
                <a:solidFill>
                  <a:srgbClr val="FFFFFF"/>
                </a:solidFill>
                <a:latin typeface="+mn-lt"/>
                <a:ea typeface="+mn-ea"/>
                <a:cs typeface="+mn-cs"/>
              </a:rPr>
              <a:pPr eaLnBrk="1" hangingPunct="1">
                <a:spcAft>
                  <a:spcPts val="600"/>
                </a:spcAft>
              </a:pPr>
              <a:t>5</a:t>
            </a:fld>
            <a:endParaRPr lang="en-US" sz="900">
              <a:solidFill>
                <a:srgbClr val="FFFFFF"/>
              </a:solidFill>
              <a:latin typeface="+mn-lt"/>
              <a:ea typeface="+mn-ea"/>
              <a:cs typeface="+mn-cs"/>
            </a:endParaRPr>
          </a:p>
        </p:txBody>
      </p:sp>
      <p:sp>
        <p:nvSpPr>
          <p:cNvPr id="3" name="TextBox 2">
            <a:extLst>
              <a:ext uri="{FF2B5EF4-FFF2-40B4-BE49-F238E27FC236}">
                <a16:creationId xmlns:a16="http://schemas.microsoft.com/office/drawing/2014/main" id="{AD871641-8600-2F1A-2171-C15E1C6B3951}"/>
              </a:ext>
            </a:extLst>
          </p:cNvPr>
          <p:cNvSpPr txBox="1"/>
          <p:nvPr/>
        </p:nvSpPr>
        <p:spPr>
          <a:xfrm>
            <a:off x="7230746" y="476672"/>
            <a:ext cx="4333165" cy="5909310"/>
          </a:xfrm>
          <a:prstGeom prst="rect">
            <a:avLst/>
          </a:prstGeom>
          <a:noFill/>
        </p:spPr>
        <p:txBody>
          <a:bodyPr wrap="square">
            <a:spAutoFit/>
          </a:bodyPr>
          <a:lstStyle/>
          <a:p>
            <a:r>
              <a:rPr lang="en-US" dirty="0"/>
              <a:t>Gates read the January 1975 issue of Popular Electronics which demonstrated the Altair 8800, and contacted Micro Instrumentation and Telemetry Systems (MITS) to inform them that he and others were working on a BASIC interpreter for the platform.</a:t>
            </a:r>
          </a:p>
          <a:p>
            <a:endParaRPr lang="en-US" dirty="0"/>
          </a:p>
          <a:p>
            <a:r>
              <a:rPr lang="en-US" dirty="0"/>
              <a:t>In reality, Gates and Allen did not have an Altair and had not written code for it; they merely wanted to gauge MITS's interest. </a:t>
            </a:r>
          </a:p>
          <a:p>
            <a:endParaRPr lang="en-US" dirty="0"/>
          </a:p>
          <a:p>
            <a:r>
              <a:rPr lang="en-US" dirty="0"/>
              <a:t>MITS president Ed Roberts agreed to meet them for a demonstration, and over the course of a few weeks they developed an Altair emulator that ran on a minicomputer, and then the BASIC interpreter.</a:t>
            </a:r>
          </a:p>
          <a:p>
            <a:endParaRPr lang="en-US" dirty="0"/>
          </a:p>
          <a:p>
            <a:r>
              <a:rPr lang="en-US" dirty="0">
                <a:sym typeface="Wingdings" panose="05000000000000000000" pitchFamily="2" charset="2"/>
              </a:rPr>
              <a:t> What does this tell us?</a:t>
            </a:r>
            <a:endParaRPr lang="nl-NL" dirty="0"/>
          </a:p>
        </p:txBody>
      </p:sp>
    </p:spTree>
    <p:extLst>
      <p:ext uri="{BB962C8B-B14F-4D97-AF65-F5344CB8AC3E}">
        <p14:creationId xmlns:p14="http://schemas.microsoft.com/office/powerpoint/2010/main" val="186835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dirty="0">
                <a:solidFill>
                  <a:schemeClr val="accent2">
                    <a:lumMod val="50000"/>
                  </a:schemeClr>
                </a:solidFill>
                <a:latin typeface="Tahoma" charset="0"/>
                <a:ea typeface="ＭＳ Ｐゴシック" charset="0"/>
                <a:cs typeface="ＭＳ Ｐゴシック" charset="0"/>
              </a:rPr>
              <a:t>Why a business Plan</a:t>
            </a:r>
          </a:p>
        </p:txBody>
      </p:sp>
      <p:sp>
        <p:nvSpPr>
          <p:cNvPr id="32771" name="Rectangle 3"/>
          <p:cNvSpPr>
            <a:spLocks noGrp="1" noChangeArrowheads="1"/>
          </p:cNvSpPr>
          <p:nvPr>
            <p:ph idx="1"/>
          </p:nvPr>
        </p:nvSpPr>
        <p:spPr>
          <a:xfrm>
            <a:off x="942240" y="1556792"/>
            <a:ext cx="8066856" cy="5225008"/>
          </a:xfrm>
        </p:spPr>
        <p:txBody>
          <a:bodyPr>
            <a:normAutofit fontScale="92500" lnSpcReduction="10000"/>
          </a:bodyPr>
          <a:lstStyle/>
          <a:p>
            <a:pPr eaLnBrk="1" hangingPunct="1"/>
            <a:r>
              <a:rPr lang="en-US" dirty="0">
                <a:latin typeface="Arial" charset="0"/>
                <a:ea typeface="ＭＳ Ｐゴシック" charset="0"/>
                <a:cs typeface="Arial" charset="0"/>
              </a:rPr>
              <a:t>"</a:t>
            </a:r>
            <a:r>
              <a:rPr lang="en-US" dirty="0">
                <a:solidFill>
                  <a:schemeClr val="tx2"/>
                </a:solidFill>
                <a:latin typeface="Arial" charset="0"/>
                <a:ea typeface="ＭＳ Ｐゴシック" charset="0"/>
                <a:cs typeface="Arial" charset="0"/>
              </a:rPr>
              <a:t>The business plan is a necessity. If the person who wants to start a small business can't put a business plan together, he or she is in trouble</a:t>
            </a:r>
            <a:r>
              <a:rPr lang="en-US" dirty="0">
                <a:latin typeface="Arial" charset="0"/>
                <a:ea typeface="ＭＳ Ｐゴシック" charset="0"/>
                <a:cs typeface="Arial" charset="0"/>
              </a:rPr>
              <a:t>," says Robert </a:t>
            </a:r>
            <a:r>
              <a:rPr lang="en-US" dirty="0" err="1">
                <a:latin typeface="Arial" charset="0"/>
                <a:ea typeface="ＭＳ Ｐゴシック" charset="0"/>
                <a:cs typeface="Arial" charset="0"/>
              </a:rPr>
              <a:t>Krummer</a:t>
            </a:r>
            <a:r>
              <a:rPr lang="en-US" dirty="0">
                <a:latin typeface="Arial" charset="0"/>
                <a:ea typeface="ＭＳ Ｐゴシック" charset="0"/>
                <a:cs typeface="Arial" charset="0"/>
              </a:rPr>
              <a:t>, Jr., chairman of First Business Bank in Los Angeles. </a:t>
            </a:r>
          </a:p>
          <a:p>
            <a:pPr eaLnBrk="1" hangingPunct="1"/>
            <a:endParaRPr lang="en-US" dirty="0">
              <a:latin typeface="Arial" charset="0"/>
              <a:ea typeface="ＭＳ Ｐゴシック" charset="0"/>
              <a:cs typeface="Arial" charset="0"/>
            </a:endParaRPr>
          </a:p>
          <a:p>
            <a:pPr eaLnBrk="1" hangingPunct="1"/>
            <a:r>
              <a:rPr lang="en-US" dirty="0">
                <a:latin typeface="Arial" charset="0"/>
                <a:ea typeface="ＭＳ Ｐゴシック" charset="0"/>
                <a:cs typeface="Arial" charset="0"/>
              </a:rPr>
              <a:t>Do you construct a house without a blueprint ?</a:t>
            </a:r>
          </a:p>
          <a:p>
            <a:pPr eaLnBrk="1" hangingPunct="1"/>
            <a:endParaRPr lang="en-US" dirty="0">
              <a:latin typeface="Arial" charset="0"/>
              <a:ea typeface="ＭＳ Ｐゴシック" charset="0"/>
              <a:cs typeface="Arial" charset="0"/>
            </a:endParaRPr>
          </a:p>
          <a:p>
            <a:pPr eaLnBrk="1" hangingPunct="1"/>
            <a:r>
              <a:rPr lang="en-US" dirty="0">
                <a:latin typeface="Arial" charset="0"/>
                <a:ea typeface="ＭＳ Ｐゴシック" charset="0"/>
                <a:cs typeface="Arial" charset="0"/>
              </a:rPr>
              <a:t>Before you begin writing your business plan, consider four core questions: </a:t>
            </a:r>
          </a:p>
          <a:p>
            <a:pPr lvl="1" eaLnBrk="1" hangingPunct="1"/>
            <a:r>
              <a:rPr lang="en-US" dirty="0">
                <a:latin typeface="Arial" charset="0"/>
                <a:ea typeface="ＭＳ Ｐゴシック" charset="0"/>
                <a:cs typeface="Arial" charset="0"/>
              </a:rPr>
              <a:t>What problem can your technology solve</a:t>
            </a:r>
          </a:p>
          <a:p>
            <a:pPr lvl="1"/>
            <a:r>
              <a:rPr lang="en-US" dirty="0">
                <a:latin typeface="Arial" charset="0"/>
                <a:ea typeface="ＭＳ Ｐゴシック" charset="0"/>
                <a:cs typeface="Arial" charset="0"/>
              </a:rPr>
              <a:t>Who are the potential customers for your product or service and </a:t>
            </a:r>
            <a:br>
              <a:rPr lang="en-US" dirty="0">
                <a:latin typeface="Arial" charset="0"/>
                <a:ea typeface="ＭＳ Ｐゴシック" charset="0"/>
                <a:cs typeface="Arial" charset="0"/>
              </a:rPr>
            </a:br>
            <a:r>
              <a:rPr lang="en-US" dirty="0">
                <a:latin typeface="Arial" charset="0"/>
                <a:ea typeface="ＭＳ Ｐゴシック" charset="0"/>
                <a:cs typeface="Arial" charset="0"/>
              </a:rPr>
              <a:t>why will they purchase it from you? </a:t>
            </a:r>
          </a:p>
          <a:p>
            <a:pPr lvl="1" eaLnBrk="1" hangingPunct="1"/>
            <a:r>
              <a:rPr lang="en-US" dirty="0">
                <a:latin typeface="Arial" charset="0"/>
                <a:ea typeface="ＭＳ Ｐゴシック" charset="0"/>
                <a:cs typeface="Arial" charset="0"/>
              </a:rPr>
              <a:t>What service or product can be offered, what needs does it fill? </a:t>
            </a:r>
          </a:p>
          <a:p>
            <a:pPr lvl="1" eaLnBrk="1" hangingPunct="1"/>
            <a:r>
              <a:rPr lang="en-US" dirty="0">
                <a:latin typeface="Arial" charset="0"/>
                <a:ea typeface="ＭＳ Ｐゴシック" charset="0"/>
                <a:cs typeface="Arial" charset="0"/>
              </a:rPr>
              <a:t>How will you reach your potential customers? </a:t>
            </a:r>
          </a:p>
          <a:p>
            <a:pPr lvl="1" eaLnBrk="1" hangingPunct="1"/>
            <a:r>
              <a:rPr lang="en-US" dirty="0">
                <a:latin typeface="Arial" charset="0"/>
                <a:ea typeface="ＭＳ Ｐゴシック" charset="0"/>
                <a:cs typeface="Arial" charset="0"/>
              </a:rPr>
              <a:t>Where will you get the financial resources to start your business?</a:t>
            </a:r>
          </a:p>
          <a:p>
            <a:pPr lvl="1" eaLnBrk="1" hangingPunct="1"/>
            <a:endParaRPr lang="en-US" dirty="0">
              <a:latin typeface="Arial" charset="0"/>
              <a:ea typeface="ＭＳ Ｐゴシック" charset="0"/>
              <a:cs typeface="Arial" charset="0"/>
            </a:endParaRPr>
          </a:p>
          <a:p>
            <a:r>
              <a:rPr lang="en-US" dirty="0">
                <a:latin typeface="Arial" charset="0"/>
                <a:ea typeface="ＭＳ Ｐゴシック" charset="0"/>
                <a:cs typeface="Arial" charset="0"/>
              </a:rPr>
              <a:t>For BAP, it is an exercise to </a:t>
            </a:r>
            <a:r>
              <a:rPr lang="en-US" b="1" u="sng" dirty="0">
                <a:latin typeface="Arial" charset="0"/>
                <a:ea typeface="ＭＳ Ｐゴシック" charset="0"/>
                <a:cs typeface="Arial" charset="0"/>
              </a:rPr>
              <a:t>make impact with your technology</a:t>
            </a:r>
          </a:p>
          <a:p>
            <a:r>
              <a:rPr lang="en-US" dirty="0">
                <a:latin typeface="Arial" charset="0"/>
                <a:ea typeface="ＭＳ Ｐゴシック" charset="0"/>
                <a:cs typeface="Arial" charset="0"/>
              </a:rPr>
              <a:t>And it will be fun</a:t>
            </a:r>
          </a:p>
        </p:txBody>
      </p:sp>
      <p:sp>
        <p:nvSpPr>
          <p:cNvPr id="32769" name="Slide Number Placeholder 5"/>
          <p:cNvSpPr>
            <a:spLocks noGrp="1"/>
          </p:cNvSpPr>
          <p:nvPr>
            <p:ph type="sldNum" sz="quarter" idx="12"/>
          </p:nvPr>
        </p:nvSpPr>
        <p:spPr>
          <a:xfrm>
            <a:off x="83058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6B01D5B0-7955-A44F-928F-73698F923181}" type="slidenum">
              <a:rPr lang="en-US" sz="1400"/>
              <a:pPr eaLnBrk="1" hangingPunct="1"/>
              <a:t>6</a:t>
            </a:fld>
            <a:endParaRPr lang="en-US" sz="1400"/>
          </a:p>
        </p:txBody>
      </p:sp>
    </p:spTree>
    <p:extLst>
      <p:ext uri="{BB962C8B-B14F-4D97-AF65-F5344CB8AC3E}">
        <p14:creationId xmlns:p14="http://schemas.microsoft.com/office/powerpoint/2010/main" val="382176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7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50000"/>
                  </a:schemeClr>
                </a:solidFill>
              </a:rPr>
              <a:t>Starting point</a:t>
            </a:r>
          </a:p>
        </p:txBody>
      </p:sp>
      <p:sp>
        <p:nvSpPr>
          <p:cNvPr id="3" name="Content Placeholder 2"/>
          <p:cNvSpPr>
            <a:spLocks noGrp="1"/>
          </p:cNvSpPr>
          <p:nvPr>
            <p:ph idx="1"/>
          </p:nvPr>
        </p:nvSpPr>
        <p:spPr>
          <a:xfrm>
            <a:off x="911424" y="1930400"/>
            <a:ext cx="7772400" cy="2392288"/>
          </a:xfrm>
        </p:spPr>
        <p:txBody>
          <a:bodyPr>
            <a:noAutofit/>
          </a:bodyPr>
          <a:lstStyle/>
          <a:p>
            <a:r>
              <a:rPr lang="en-US" sz="2400" dirty="0"/>
              <a:t>Create Canvas</a:t>
            </a:r>
          </a:p>
          <a:p>
            <a:pPr lvl="1"/>
            <a:r>
              <a:rPr lang="en-US" sz="2400" dirty="0"/>
              <a:t>Using lean canvas</a:t>
            </a:r>
          </a:p>
          <a:p>
            <a:r>
              <a:rPr lang="en-US" sz="2400" dirty="0"/>
              <a:t>Goal is to think about the key questions of your business model</a:t>
            </a:r>
          </a:p>
          <a:p>
            <a:pPr lvl="1"/>
            <a:r>
              <a:rPr lang="en-US" sz="2400" dirty="0"/>
              <a:t>Not only your </a:t>
            </a:r>
            <a:br>
              <a:rPr lang="en-US" sz="2400" dirty="0"/>
            </a:br>
            <a:r>
              <a:rPr lang="en-US" sz="2400" dirty="0"/>
              <a:t>product</a:t>
            </a:r>
          </a:p>
          <a:p>
            <a:pPr lvl="1"/>
            <a:endParaRPr lang="en-US" sz="2400" dirty="0"/>
          </a:p>
          <a:p>
            <a:r>
              <a:rPr lang="en-US" sz="2400" dirty="0"/>
              <a:t>Use a template to </a:t>
            </a:r>
          </a:p>
          <a:p>
            <a:pPr marL="0" indent="0">
              <a:buNone/>
            </a:pPr>
            <a:r>
              <a:rPr lang="en-US" sz="2400" dirty="0"/>
              <a:t>	follow progress</a:t>
            </a:r>
          </a:p>
        </p:txBody>
      </p:sp>
      <p:sp>
        <p:nvSpPr>
          <p:cNvPr id="4" name="Date Placeholder 3"/>
          <p:cNvSpPr>
            <a:spLocks noGrp="1"/>
          </p:cNvSpPr>
          <p:nvPr>
            <p:ph type="dt" sz="half" idx="10"/>
          </p:nvPr>
        </p:nvSpPr>
        <p:spPr/>
        <p:txBody>
          <a:bodyPr/>
          <a:lstStyle/>
          <a:p>
            <a:fld id="{DB928B03-D769-074D-8351-97BC9193047F}" type="datetime4">
              <a:rPr lang="en-US" smtClean="0"/>
              <a:pPr/>
              <a:t>March 30, 2026</a:t>
            </a:fld>
            <a:endParaRPr lang="en-US"/>
          </a:p>
        </p:txBody>
      </p:sp>
      <p:sp>
        <p:nvSpPr>
          <p:cNvPr id="5" name="Slide Number Placeholder 4"/>
          <p:cNvSpPr>
            <a:spLocks noGrp="1"/>
          </p:cNvSpPr>
          <p:nvPr>
            <p:ph type="sldNum" sz="quarter" idx="12"/>
          </p:nvPr>
        </p:nvSpPr>
        <p:spPr/>
        <p:txBody>
          <a:bodyPr/>
          <a:lstStyle/>
          <a:p>
            <a:fld id="{E8A0A4D8-03A1-FD4F-B100-B16A17671FD2}" type="slidenum">
              <a:rPr lang="en-US" smtClean="0"/>
              <a:pPr/>
              <a:t>7</a:t>
            </a:fld>
            <a:endParaRPr lang="en-US"/>
          </a:p>
        </p:txBody>
      </p:sp>
      <p:pic>
        <p:nvPicPr>
          <p:cNvPr id="6" name="Picture 5" descr="Screen Shot 2015-11-01 at 11.38.3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3129" y="3944200"/>
            <a:ext cx="4644008" cy="2475650"/>
          </a:xfrm>
          <a:prstGeom prst="rect">
            <a:avLst/>
          </a:prstGeom>
        </p:spPr>
      </p:pic>
    </p:spTree>
    <p:extLst>
      <p:ext uri="{BB962C8B-B14F-4D97-AF65-F5344CB8AC3E}">
        <p14:creationId xmlns:p14="http://schemas.microsoft.com/office/powerpoint/2010/main" val="2889617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72732" y="228600"/>
            <a:ext cx="8596668" cy="1320800"/>
          </a:xfrm>
        </p:spPr>
        <p:txBody>
          <a:bodyPr/>
          <a:lstStyle/>
          <a:p>
            <a:r>
              <a:rPr lang="nl-NL" dirty="0" err="1">
                <a:solidFill>
                  <a:schemeClr val="accent2">
                    <a:lumMod val="50000"/>
                  </a:schemeClr>
                </a:solidFill>
              </a:rPr>
              <a:t>Assessing</a:t>
            </a:r>
            <a:r>
              <a:rPr lang="nl-NL" dirty="0">
                <a:solidFill>
                  <a:schemeClr val="accent2">
                    <a:lumMod val="50000"/>
                  </a:schemeClr>
                </a:solidFill>
              </a:rPr>
              <a:t> business </a:t>
            </a:r>
            <a:r>
              <a:rPr lang="nl-NL" dirty="0" err="1">
                <a:solidFill>
                  <a:schemeClr val="accent2">
                    <a:lumMod val="50000"/>
                  </a:schemeClr>
                </a:solidFill>
              </a:rPr>
              <a:t>ideas</a:t>
            </a:r>
            <a:endParaRPr lang="nl-NL" dirty="0">
              <a:solidFill>
                <a:schemeClr val="accent2">
                  <a:lumMod val="50000"/>
                </a:schemeClr>
              </a:solidFill>
            </a:endParaRPr>
          </a:p>
        </p:txBody>
      </p:sp>
      <p:graphicFrame>
        <p:nvGraphicFramePr>
          <p:cNvPr id="5" name="Diagram 4">
            <a:extLst>
              <a:ext uri="{FF2B5EF4-FFF2-40B4-BE49-F238E27FC236}">
                <a16:creationId xmlns:a16="http://schemas.microsoft.com/office/drawing/2014/main" id="{DE006874-46B3-28E7-DE07-8E2D9275A662}"/>
              </a:ext>
            </a:extLst>
          </p:cNvPr>
          <p:cNvGraphicFramePr/>
          <p:nvPr/>
        </p:nvGraphicFramePr>
        <p:xfrm>
          <a:off x="2362200" y="1143000"/>
          <a:ext cx="680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peech Bubble: Oval 5">
            <a:extLst>
              <a:ext uri="{FF2B5EF4-FFF2-40B4-BE49-F238E27FC236}">
                <a16:creationId xmlns:a16="http://schemas.microsoft.com/office/drawing/2014/main" id="{4A70ACC4-C725-09A9-C727-E996DB65D511}"/>
              </a:ext>
            </a:extLst>
          </p:cNvPr>
          <p:cNvSpPr/>
          <p:nvPr/>
        </p:nvSpPr>
        <p:spPr>
          <a:xfrm>
            <a:off x="8001000" y="152400"/>
            <a:ext cx="4038600" cy="2057400"/>
          </a:xfrm>
          <a:prstGeom prst="wedgeEllipseCallout">
            <a:avLst>
              <a:gd name="adj1" fmla="val -89662"/>
              <a:gd name="adj2" fmla="val 2757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Do users/</a:t>
            </a:r>
            <a:r>
              <a:rPr lang="nl-NL" dirty="0" err="1">
                <a:solidFill>
                  <a:schemeClr val="tx1"/>
                </a:solidFill>
              </a:rPr>
              <a:t>customers</a:t>
            </a:r>
            <a:r>
              <a:rPr lang="nl-NL" dirty="0">
                <a:solidFill>
                  <a:schemeClr val="tx1"/>
                </a:solidFill>
              </a:rPr>
              <a:t> want </a:t>
            </a:r>
            <a:r>
              <a:rPr lang="nl-NL" dirty="0" err="1">
                <a:solidFill>
                  <a:schemeClr val="tx1"/>
                </a:solidFill>
              </a:rPr>
              <a:t>this</a:t>
            </a:r>
            <a:r>
              <a:rPr lang="nl-NL" dirty="0">
                <a:solidFill>
                  <a:schemeClr val="tx1"/>
                </a:solidFill>
              </a:rPr>
              <a:t>? </a:t>
            </a:r>
            <a:r>
              <a:rPr lang="en-US" dirty="0">
                <a:solidFill>
                  <a:schemeClr val="tx1"/>
                </a:solidFill>
              </a:rPr>
              <a:t>Is the idea needed or wanted? Does it resolve problems? Does the intended audience see its value?</a:t>
            </a:r>
            <a:endParaRPr lang="nl-NL" dirty="0">
              <a:solidFill>
                <a:schemeClr val="tx1"/>
              </a:solidFill>
            </a:endParaRPr>
          </a:p>
        </p:txBody>
      </p:sp>
      <p:sp>
        <p:nvSpPr>
          <p:cNvPr id="7" name="Speech Bubble: Oval 6">
            <a:extLst>
              <a:ext uri="{FF2B5EF4-FFF2-40B4-BE49-F238E27FC236}">
                <a16:creationId xmlns:a16="http://schemas.microsoft.com/office/drawing/2014/main" id="{269A2E21-F51D-3866-2282-79D07AB04D2F}"/>
              </a:ext>
            </a:extLst>
          </p:cNvPr>
          <p:cNvSpPr/>
          <p:nvPr/>
        </p:nvSpPr>
        <p:spPr>
          <a:xfrm>
            <a:off x="152400" y="1828800"/>
            <a:ext cx="3606800" cy="2057400"/>
          </a:xfrm>
          <a:prstGeom prst="wedgeEllipseCallout">
            <a:avLst>
              <a:gd name="adj1" fmla="val 63564"/>
              <a:gd name="adj2" fmla="val 3454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solidFill>
                  <a:schemeClr val="tx1"/>
                </a:solidFill>
              </a:rPr>
              <a:t>Can</a:t>
            </a:r>
            <a:r>
              <a:rPr lang="nl-NL" dirty="0">
                <a:solidFill>
                  <a:schemeClr val="tx1"/>
                </a:solidFill>
              </a:rPr>
              <a:t> we do </a:t>
            </a:r>
            <a:r>
              <a:rPr lang="nl-NL" dirty="0" err="1">
                <a:solidFill>
                  <a:schemeClr val="tx1"/>
                </a:solidFill>
              </a:rPr>
              <a:t>this</a:t>
            </a:r>
            <a:r>
              <a:rPr lang="nl-NL" dirty="0">
                <a:solidFill>
                  <a:schemeClr val="tx1"/>
                </a:solidFill>
              </a:rPr>
              <a:t>? </a:t>
            </a:r>
            <a:r>
              <a:rPr lang="en-US" dirty="0">
                <a:solidFill>
                  <a:schemeClr val="tx1"/>
                </a:solidFill>
              </a:rPr>
              <a:t>Do we have the knowhow, skills, resources and technology to deliver? How realistically can we make it happen?</a:t>
            </a:r>
            <a:r>
              <a:rPr lang="nl-NL" dirty="0">
                <a:solidFill>
                  <a:schemeClr val="tx1"/>
                </a:solidFill>
              </a:rPr>
              <a:t> </a:t>
            </a:r>
          </a:p>
        </p:txBody>
      </p:sp>
      <p:sp>
        <p:nvSpPr>
          <p:cNvPr id="8" name="Speech Bubble: Oval 7">
            <a:extLst>
              <a:ext uri="{FF2B5EF4-FFF2-40B4-BE49-F238E27FC236}">
                <a16:creationId xmlns:a16="http://schemas.microsoft.com/office/drawing/2014/main" id="{22560B56-CF23-7249-7CC5-F4ECB5C59DF2}"/>
              </a:ext>
            </a:extLst>
          </p:cNvPr>
          <p:cNvSpPr/>
          <p:nvPr/>
        </p:nvSpPr>
        <p:spPr>
          <a:xfrm>
            <a:off x="8610600" y="2743200"/>
            <a:ext cx="3310466" cy="2590800"/>
          </a:xfrm>
          <a:prstGeom prst="wedgeEllipseCallout">
            <a:avLst>
              <a:gd name="adj1" fmla="val -85863"/>
              <a:gd name="adj2" fmla="val -2083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solidFill>
                  <a:schemeClr val="tx1"/>
                </a:solidFill>
              </a:rPr>
              <a:t>Should</a:t>
            </a:r>
            <a:r>
              <a:rPr lang="nl-NL" dirty="0">
                <a:solidFill>
                  <a:schemeClr val="tx1"/>
                </a:solidFill>
              </a:rPr>
              <a:t> we do </a:t>
            </a:r>
            <a:r>
              <a:rPr lang="nl-NL" dirty="0" err="1">
                <a:solidFill>
                  <a:schemeClr val="tx1"/>
                </a:solidFill>
              </a:rPr>
              <a:t>this</a:t>
            </a:r>
            <a:r>
              <a:rPr lang="nl-NL" dirty="0">
                <a:solidFill>
                  <a:schemeClr val="tx1"/>
                </a:solidFill>
              </a:rPr>
              <a:t>? </a:t>
            </a:r>
            <a:r>
              <a:rPr lang="en-US" dirty="0">
                <a:solidFill>
                  <a:schemeClr val="tx1"/>
                </a:solidFill>
              </a:rPr>
              <a:t>Is it economically or commercially beneficial? Is the business model (financially) sustainable?</a:t>
            </a:r>
            <a:endParaRPr lang="nl-NL" dirty="0">
              <a:solidFill>
                <a:schemeClr val="tx1"/>
              </a:solidFill>
            </a:endParaRPr>
          </a:p>
        </p:txBody>
      </p:sp>
    </p:spTree>
    <p:extLst>
      <p:ext uri="{BB962C8B-B14F-4D97-AF65-F5344CB8AC3E}">
        <p14:creationId xmlns:p14="http://schemas.microsoft.com/office/powerpoint/2010/main" val="3759087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39739-9F90-004D-8C23-CFE11C4D5632}"/>
              </a:ext>
            </a:extLst>
          </p:cNvPr>
          <p:cNvSpPr>
            <a:spLocks noGrp="1"/>
          </p:cNvSpPr>
          <p:nvPr>
            <p:ph type="title"/>
          </p:nvPr>
        </p:nvSpPr>
        <p:spPr>
          <a:xfrm>
            <a:off x="677334" y="1535429"/>
            <a:ext cx="8596668" cy="1320800"/>
          </a:xfrm>
        </p:spPr>
        <p:txBody>
          <a:bodyPr/>
          <a:lstStyle/>
          <a:p>
            <a:r>
              <a:rPr lang="nl-NL" dirty="0" err="1">
                <a:solidFill>
                  <a:schemeClr val="accent2">
                    <a:lumMod val="50000"/>
                  </a:schemeClr>
                </a:solidFill>
              </a:rPr>
              <a:t>Desirability</a:t>
            </a:r>
            <a:endParaRPr lang="nl-NL" dirty="0">
              <a:solidFill>
                <a:schemeClr val="accent2">
                  <a:lumMod val="50000"/>
                </a:schemeClr>
              </a:solidFill>
            </a:endParaRPr>
          </a:p>
        </p:txBody>
      </p:sp>
      <p:sp>
        <p:nvSpPr>
          <p:cNvPr id="4" name="Slide Number Placeholder 3">
            <a:extLst>
              <a:ext uri="{FF2B5EF4-FFF2-40B4-BE49-F238E27FC236}">
                <a16:creationId xmlns:a16="http://schemas.microsoft.com/office/drawing/2014/main" id="{A68E1AD7-110A-7F80-E57F-C748B848A46B}"/>
              </a:ext>
            </a:extLst>
          </p:cNvPr>
          <p:cNvSpPr>
            <a:spLocks noGrp="1"/>
          </p:cNvSpPr>
          <p:nvPr>
            <p:ph type="sldNum" sz="quarter" idx="7"/>
          </p:nvPr>
        </p:nvSpPr>
        <p:spPr>
          <a:xfrm>
            <a:off x="9144000" y="6477000"/>
            <a:ext cx="2804160" cy="276999"/>
          </a:xfrm>
          <a:prstGeom prst="rect">
            <a:avLst/>
          </a:prstGeom>
        </p:spPr>
        <p:txBody>
          <a:bodyPr wrap="square" lIns="0" tIns="0" rIns="0" bIns="0">
            <a:spAutoFit/>
          </a:bodyPr>
          <a:lstStyle>
            <a:defPPr>
              <a:defRPr lang="nl-NL"/>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nl-NL" smtClean="0"/>
              <a:pPr/>
              <a:t>9</a:t>
            </a:fld>
            <a:endParaRPr lang="nl-NL" dirty="0"/>
          </a:p>
        </p:txBody>
      </p:sp>
      <p:grpSp>
        <p:nvGrpSpPr>
          <p:cNvPr id="5" name="Group 4">
            <a:extLst>
              <a:ext uri="{FF2B5EF4-FFF2-40B4-BE49-F238E27FC236}">
                <a16:creationId xmlns:a16="http://schemas.microsoft.com/office/drawing/2014/main" id="{21457A9C-6C6F-278A-9ED1-9114961C3318}"/>
              </a:ext>
            </a:extLst>
          </p:cNvPr>
          <p:cNvGrpSpPr/>
          <p:nvPr/>
        </p:nvGrpSpPr>
        <p:grpSpPr>
          <a:xfrm>
            <a:off x="762000" y="2754629"/>
            <a:ext cx="2606040" cy="2606040"/>
            <a:chOff x="2100579" y="54292"/>
            <a:chExt cx="2606040" cy="2606040"/>
          </a:xfrm>
        </p:grpSpPr>
        <p:sp>
          <p:nvSpPr>
            <p:cNvPr id="6" name="Oval 5">
              <a:extLst>
                <a:ext uri="{FF2B5EF4-FFF2-40B4-BE49-F238E27FC236}">
                  <a16:creationId xmlns:a16="http://schemas.microsoft.com/office/drawing/2014/main" id="{42B47533-2179-33C3-98F5-CF5B08880C58}"/>
                </a:ext>
              </a:extLst>
            </p:cNvPr>
            <p:cNvSpPr/>
            <p:nvPr/>
          </p:nvSpPr>
          <p:spPr>
            <a:xfrm>
              <a:off x="2100579" y="54292"/>
              <a:ext cx="2606040" cy="2606040"/>
            </a:xfrm>
            <a:prstGeom prst="ellipse">
              <a:avLst/>
            </a:prstGeom>
          </p:spPr>
          <p:style>
            <a:lnRef idx="2">
              <a:schemeClr val="lt1">
                <a:hueOff val="0"/>
                <a:satOff val="0"/>
                <a:lumOff val="0"/>
                <a:alphaOff val="0"/>
              </a:schemeClr>
            </a:lnRef>
            <a:fillRef idx="1">
              <a:schemeClr val="accent5">
                <a:alpha val="50000"/>
                <a:hueOff val="0"/>
                <a:satOff val="0"/>
                <a:lumOff val="0"/>
                <a:alphaOff val="0"/>
              </a:schemeClr>
            </a:fillRef>
            <a:effectRef idx="0">
              <a:schemeClr val="accent5">
                <a:alpha val="50000"/>
                <a:hueOff val="0"/>
                <a:satOff val="0"/>
                <a:lumOff val="0"/>
                <a:alphaOff val="0"/>
              </a:schemeClr>
            </a:effectRef>
            <a:fontRef idx="minor">
              <a:schemeClr val="tx1"/>
            </a:fontRef>
          </p:style>
          <p:txBody>
            <a:bodyPr/>
            <a:lstStyle/>
            <a:p>
              <a:endParaRPr lang="nl-NL"/>
            </a:p>
          </p:txBody>
        </p:sp>
        <p:sp>
          <p:nvSpPr>
            <p:cNvPr id="7" name="Oval 4">
              <a:extLst>
                <a:ext uri="{FF2B5EF4-FFF2-40B4-BE49-F238E27FC236}">
                  <a16:creationId xmlns:a16="http://schemas.microsoft.com/office/drawing/2014/main" id="{46924C67-9FB6-BD08-C107-74EF7B5DA73F}"/>
                </a:ext>
              </a:extLst>
            </p:cNvPr>
            <p:cNvSpPr txBox="1"/>
            <p:nvPr/>
          </p:nvSpPr>
          <p:spPr>
            <a:xfrm>
              <a:off x="2353766" y="770953"/>
              <a:ext cx="2118638" cy="1172718"/>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nl-NL" sz="3000" kern="1200" dirty="0" err="1"/>
                <a:t>Desirability</a:t>
              </a:r>
              <a:endParaRPr lang="nl-NL" sz="3000" kern="1200" dirty="0"/>
            </a:p>
          </p:txBody>
        </p:sp>
      </p:grpSp>
      <p:sp>
        <p:nvSpPr>
          <p:cNvPr id="8" name="Arrow: Right 7">
            <a:extLst>
              <a:ext uri="{FF2B5EF4-FFF2-40B4-BE49-F238E27FC236}">
                <a16:creationId xmlns:a16="http://schemas.microsoft.com/office/drawing/2014/main" id="{4D6FEC58-A4FA-574E-7D5C-CB44BB7B75CA}"/>
              </a:ext>
            </a:extLst>
          </p:cNvPr>
          <p:cNvSpPr/>
          <p:nvPr/>
        </p:nvSpPr>
        <p:spPr>
          <a:xfrm rot="20384798">
            <a:off x="3385360" y="2840167"/>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Arrow: Right 8">
            <a:extLst>
              <a:ext uri="{FF2B5EF4-FFF2-40B4-BE49-F238E27FC236}">
                <a16:creationId xmlns:a16="http://schemas.microsoft.com/office/drawing/2014/main" id="{45BBB094-084F-E04C-EC73-6FB18C387A7D}"/>
              </a:ext>
            </a:extLst>
          </p:cNvPr>
          <p:cNvSpPr/>
          <p:nvPr/>
        </p:nvSpPr>
        <p:spPr>
          <a:xfrm rot="1024126">
            <a:off x="3381387" y="4803062"/>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Picture 9">
            <a:extLst>
              <a:ext uri="{FF2B5EF4-FFF2-40B4-BE49-F238E27FC236}">
                <a16:creationId xmlns:a16="http://schemas.microsoft.com/office/drawing/2014/main" id="{1DD44800-104F-EDFC-3AF5-5988F40CA12A}"/>
              </a:ext>
            </a:extLst>
          </p:cNvPr>
          <p:cNvPicPr>
            <a:picLocks noChangeAspect="1"/>
          </p:cNvPicPr>
          <p:nvPr/>
        </p:nvPicPr>
        <p:blipFill>
          <a:blip r:embed="rId2"/>
          <a:stretch>
            <a:fillRect/>
          </a:stretch>
        </p:blipFill>
        <p:spPr>
          <a:xfrm>
            <a:off x="5912224" y="1391578"/>
            <a:ext cx="3206376" cy="2255538"/>
          </a:xfrm>
          <a:prstGeom prst="rect">
            <a:avLst/>
          </a:prstGeom>
        </p:spPr>
      </p:pic>
      <p:pic>
        <p:nvPicPr>
          <p:cNvPr id="11" name="Picture 10">
            <a:extLst>
              <a:ext uri="{FF2B5EF4-FFF2-40B4-BE49-F238E27FC236}">
                <a16:creationId xmlns:a16="http://schemas.microsoft.com/office/drawing/2014/main" id="{730E78AF-923D-69CF-9F1A-E49382C7DDFB}"/>
              </a:ext>
            </a:extLst>
          </p:cNvPr>
          <p:cNvPicPr>
            <a:picLocks noChangeAspect="1"/>
          </p:cNvPicPr>
          <p:nvPr/>
        </p:nvPicPr>
        <p:blipFill>
          <a:blip r:embed="rId3"/>
          <a:stretch>
            <a:fillRect/>
          </a:stretch>
        </p:blipFill>
        <p:spPr>
          <a:xfrm>
            <a:off x="5825126" y="4354829"/>
            <a:ext cx="3380571" cy="1882483"/>
          </a:xfrm>
          <a:prstGeom prst="rect">
            <a:avLst/>
          </a:prstGeom>
        </p:spPr>
      </p:pic>
      <p:sp>
        <p:nvSpPr>
          <p:cNvPr id="12" name="TextBox 11">
            <a:extLst>
              <a:ext uri="{FF2B5EF4-FFF2-40B4-BE49-F238E27FC236}">
                <a16:creationId xmlns:a16="http://schemas.microsoft.com/office/drawing/2014/main" id="{FF5C0988-2B77-F7D4-B626-A51146BF2C6E}"/>
              </a:ext>
            </a:extLst>
          </p:cNvPr>
          <p:cNvSpPr txBox="1"/>
          <p:nvPr/>
        </p:nvSpPr>
        <p:spPr>
          <a:xfrm>
            <a:off x="9714121" y="2199295"/>
            <a:ext cx="1336391" cy="369332"/>
          </a:xfrm>
          <a:prstGeom prst="rect">
            <a:avLst/>
          </a:prstGeom>
          <a:noFill/>
        </p:spPr>
        <p:txBody>
          <a:bodyPr wrap="none" rtlCol="0">
            <a:spAutoFit/>
          </a:bodyPr>
          <a:lstStyle/>
          <a:p>
            <a:r>
              <a:rPr lang="nl-NL" dirty="0" err="1"/>
              <a:t>Lean</a:t>
            </a:r>
            <a:r>
              <a:rPr lang="nl-NL" dirty="0"/>
              <a:t> Canvas</a:t>
            </a:r>
          </a:p>
        </p:txBody>
      </p:sp>
      <p:sp>
        <p:nvSpPr>
          <p:cNvPr id="13" name="TextBox 12">
            <a:extLst>
              <a:ext uri="{FF2B5EF4-FFF2-40B4-BE49-F238E27FC236}">
                <a16:creationId xmlns:a16="http://schemas.microsoft.com/office/drawing/2014/main" id="{510938F5-8D98-A49D-8FE8-7C3CB23A87D9}"/>
              </a:ext>
            </a:extLst>
          </p:cNvPr>
          <p:cNvSpPr txBox="1"/>
          <p:nvPr/>
        </p:nvSpPr>
        <p:spPr>
          <a:xfrm>
            <a:off x="9408426" y="5176003"/>
            <a:ext cx="2539734" cy="369332"/>
          </a:xfrm>
          <a:prstGeom prst="rect">
            <a:avLst/>
          </a:prstGeom>
          <a:noFill/>
        </p:spPr>
        <p:txBody>
          <a:bodyPr wrap="none" rtlCol="0">
            <a:spAutoFit/>
          </a:bodyPr>
          <a:lstStyle/>
          <a:p>
            <a:r>
              <a:rPr lang="nl-NL" dirty="0"/>
              <a:t>Value </a:t>
            </a:r>
            <a:r>
              <a:rPr lang="nl-NL" dirty="0" err="1"/>
              <a:t>Proposition</a:t>
            </a:r>
            <a:r>
              <a:rPr lang="nl-NL" dirty="0"/>
              <a:t> Canvas</a:t>
            </a:r>
          </a:p>
        </p:txBody>
      </p:sp>
      <p:sp>
        <p:nvSpPr>
          <p:cNvPr id="14" name="TextBox 13">
            <a:extLst>
              <a:ext uri="{FF2B5EF4-FFF2-40B4-BE49-F238E27FC236}">
                <a16:creationId xmlns:a16="http://schemas.microsoft.com/office/drawing/2014/main" id="{F0608BB4-DBEE-09E1-D786-76AEF9BC8049}"/>
              </a:ext>
            </a:extLst>
          </p:cNvPr>
          <p:cNvSpPr txBox="1"/>
          <p:nvPr/>
        </p:nvSpPr>
        <p:spPr>
          <a:xfrm>
            <a:off x="911424" y="546163"/>
            <a:ext cx="6104238" cy="369332"/>
          </a:xfrm>
          <a:prstGeom prst="rect">
            <a:avLst/>
          </a:prstGeom>
          <a:noFill/>
        </p:spPr>
        <p:txBody>
          <a:bodyPr wrap="square">
            <a:spAutoFit/>
          </a:bodyPr>
          <a:lstStyle/>
          <a:p>
            <a:r>
              <a:rPr lang="nl-NL" dirty="0" err="1"/>
              <a:t>Assignment</a:t>
            </a:r>
            <a:r>
              <a:rPr lang="nl-NL" dirty="0"/>
              <a:t> 1 – Value </a:t>
            </a:r>
            <a:r>
              <a:rPr lang="nl-NL" dirty="0" err="1"/>
              <a:t>Proposition</a:t>
            </a:r>
            <a:endParaRPr lang="nl-NL" dirty="0"/>
          </a:p>
        </p:txBody>
      </p:sp>
    </p:spTree>
    <p:extLst>
      <p:ext uri="{BB962C8B-B14F-4D97-AF65-F5344CB8AC3E}">
        <p14:creationId xmlns:p14="http://schemas.microsoft.com/office/powerpoint/2010/main" val="150715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E850F-74C6-9C67-3FE2-1A01464FBB80}"/>
              </a:ext>
            </a:extLst>
          </p:cNvPr>
          <p:cNvSpPr>
            <a:spLocks noGrp="1"/>
          </p:cNvSpPr>
          <p:nvPr>
            <p:ph type="title"/>
          </p:nvPr>
        </p:nvSpPr>
        <p:spPr>
          <a:xfrm>
            <a:off x="675690" y="956072"/>
            <a:ext cx="8596668" cy="1320800"/>
          </a:xfrm>
        </p:spPr>
        <p:txBody>
          <a:bodyPr/>
          <a:lstStyle/>
          <a:p>
            <a:r>
              <a:rPr lang="nl-NL" dirty="0">
                <a:solidFill>
                  <a:schemeClr val="accent2">
                    <a:lumMod val="50000"/>
                  </a:schemeClr>
                </a:solidFill>
              </a:rPr>
              <a:t>Value </a:t>
            </a:r>
            <a:r>
              <a:rPr lang="nl-NL" dirty="0" err="1">
                <a:solidFill>
                  <a:schemeClr val="accent2">
                    <a:lumMod val="50000"/>
                  </a:schemeClr>
                </a:solidFill>
              </a:rPr>
              <a:t>Proposition</a:t>
            </a:r>
            <a:r>
              <a:rPr lang="nl-NL" dirty="0">
                <a:solidFill>
                  <a:schemeClr val="accent2">
                    <a:lumMod val="50000"/>
                  </a:schemeClr>
                </a:solidFill>
              </a:rPr>
              <a:t> Canvas</a:t>
            </a:r>
          </a:p>
        </p:txBody>
      </p:sp>
      <p:sp>
        <p:nvSpPr>
          <p:cNvPr id="4" name="Slide Number Placeholder 3">
            <a:extLst>
              <a:ext uri="{FF2B5EF4-FFF2-40B4-BE49-F238E27FC236}">
                <a16:creationId xmlns:a16="http://schemas.microsoft.com/office/drawing/2014/main" id="{3FD85A64-10E5-702B-11A6-9BD9138934CA}"/>
              </a:ext>
            </a:extLst>
          </p:cNvPr>
          <p:cNvSpPr>
            <a:spLocks noGrp="1"/>
          </p:cNvSpPr>
          <p:nvPr>
            <p:ph type="sldNum" sz="quarter" idx="7"/>
          </p:nvPr>
        </p:nvSpPr>
        <p:spPr>
          <a:xfrm>
            <a:off x="9144000" y="6477000"/>
            <a:ext cx="2804160" cy="276999"/>
          </a:xfrm>
          <a:prstGeom prst="rect">
            <a:avLst/>
          </a:prstGeom>
        </p:spPr>
        <p:txBody>
          <a:bodyPr wrap="square" lIns="0" tIns="0" rIns="0" bIns="0">
            <a:spAutoFit/>
          </a:bodyPr>
          <a:lstStyle>
            <a:defPPr>
              <a:defRPr lang="nl-NL"/>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nl-NL" smtClean="0"/>
              <a:pPr/>
              <a:t>10</a:t>
            </a:fld>
            <a:endParaRPr lang="nl-NL" dirty="0"/>
          </a:p>
        </p:txBody>
      </p:sp>
      <p:sp>
        <p:nvSpPr>
          <p:cNvPr id="5" name="Content Placeholder 2">
            <a:extLst>
              <a:ext uri="{FF2B5EF4-FFF2-40B4-BE49-F238E27FC236}">
                <a16:creationId xmlns:a16="http://schemas.microsoft.com/office/drawing/2014/main" id="{51A0D8F9-4F32-0DD8-5937-066D19060BD9}"/>
              </a:ext>
            </a:extLst>
          </p:cNvPr>
          <p:cNvSpPr txBox="1">
            <a:spLocks/>
          </p:cNvSpPr>
          <p:nvPr/>
        </p:nvSpPr>
        <p:spPr bwMode="auto">
          <a:xfrm>
            <a:off x="2152996" y="1783757"/>
            <a:ext cx="3662720" cy="4326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r>
              <a:rPr lang="en-US" kern="0" dirty="0">
                <a:solidFill>
                  <a:srgbClr val="357723"/>
                </a:solidFill>
              </a:rPr>
              <a:t>Technology / solution </a:t>
            </a:r>
            <a:endParaRPr lang="nl-NL" kern="0" dirty="0">
              <a:solidFill>
                <a:srgbClr val="357723"/>
              </a:solidFill>
            </a:endParaRPr>
          </a:p>
        </p:txBody>
      </p:sp>
      <p:sp>
        <p:nvSpPr>
          <p:cNvPr id="6" name="Content Placeholder 2">
            <a:extLst>
              <a:ext uri="{FF2B5EF4-FFF2-40B4-BE49-F238E27FC236}">
                <a16:creationId xmlns:a16="http://schemas.microsoft.com/office/drawing/2014/main" id="{6E33CA1E-E5F0-0734-E986-449C46AF6D2F}"/>
              </a:ext>
            </a:extLst>
          </p:cNvPr>
          <p:cNvSpPr txBox="1">
            <a:spLocks/>
          </p:cNvSpPr>
          <p:nvPr/>
        </p:nvSpPr>
        <p:spPr bwMode="auto">
          <a:xfrm>
            <a:off x="6816080" y="1783757"/>
            <a:ext cx="2753740" cy="4326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r>
              <a:rPr lang="en-US" kern="0" dirty="0">
                <a:solidFill>
                  <a:srgbClr val="FF9999"/>
                </a:solidFill>
              </a:rPr>
              <a:t>Users / customers</a:t>
            </a:r>
            <a:endParaRPr lang="nl-NL" kern="0" dirty="0">
              <a:solidFill>
                <a:srgbClr val="FF9999"/>
              </a:solidFill>
            </a:endParaRPr>
          </a:p>
        </p:txBody>
      </p:sp>
      <p:pic>
        <p:nvPicPr>
          <p:cNvPr id="7" name="Picture 2">
            <a:extLst>
              <a:ext uri="{FF2B5EF4-FFF2-40B4-BE49-F238E27FC236}">
                <a16:creationId xmlns:a16="http://schemas.microsoft.com/office/drawing/2014/main" id="{CF253DDA-D143-0198-92FB-8259880699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851"/>
          <a:stretch/>
        </p:blipFill>
        <p:spPr bwMode="auto">
          <a:xfrm>
            <a:off x="5683037" y="2276872"/>
            <a:ext cx="4009839"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B6616E88-618D-20FF-D0A2-20B89FAF77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0000"/>
          <a:stretch/>
        </p:blipFill>
        <p:spPr bwMode="auto">
          <a:xfrm>
            <a:off x="1866612" y="2276872"/>
            <a:ext cx="3919790"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5B755581-7FAB-F253-7707-5D7EB1FAA153}"/>
              </a:ext>
            </a:extLst>
          </p:cNvPr>
          <p:cNvSpPr txBox="1"/>
          <p:nvPr/>
        </p:nvSpPr>
        <p:spPr>
          <a:xfrm>
            <a:off x="711842" y="275044"/>
            <a:ext cx="6104238" cy="523220"/>
          </a:xfrm>
          <a:prstGeom prst="rect">
            <a:avLst/>
          </a:prstGeom>
          <a:noFill/>
        </p:spPr>
        <p:txBody>
          <a:bodyPr wrap="square">
            <a:spAutoFit/>
          </a:bodyPr>
          <a:lstStyle/>
          <a:p>
            <a:r>
              <a:rPr lang="nl-NL" sz="2800" u="sng" dirty="0" err="1"/>
              <a:t>Assignment</a:t>
            </a:r>
            <a:r>
              <a:rPr lang="nl-NL" sz="2800" u="sng" dirty="0"/>
              <a:t> 1 – Value </a:t>
            </a:r>
            <a:r>
              <a:rPr lang="nl-NL" sz="2800" u="sng" dirty="0" err="1"/>
              <a:t>Proposition</a:t>
            </a:r>
            <a:endParaRPr lang="nl-NL" sz="2800" u="sng" dirty="0"/>
          </a:p>
        </p:txBody>
      </p:sp>
    </p:spTree>
    <p:extLst>
      <p:ext uri="{BB962C8B-B14F-4D97-AF65-F5344CB8AC3E}">
        <p14:creationId xmlns:p14="http://schemas.microsoft.com/office/powerpoint/2010/main" val="2035681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3826-A7C4-A4A0-5CF3-93E1FF69C626}"/>
              </a:ext>
            </a:extLst>
          </p:cNvPr>
          <p:cNvSpPr>
            <a:spLocks noGrp="1"/>
          </p:cNvSpPr>
          <p:nvPr>
            <p:ph type="title"/>
          </p:nvPr>
        </p:nvSpPr>
        <p:spPr>
          <a:xfrm>
            <a:off x="589702" y="1060035"/>
            <a:ext cx="8596668" cy="1320800"/>
          </a:xfrm>
        </p:spPr>
        <p:txBody>
          <a:bodyPr/>
          <a:lstStyle/>
          <a:p>
            <a:r>
              <a:rPr lang="nl-NL" dirty="0" err="1">
                <a:solidFill>
                  <a:schemeClr val="accent2">
                    <a:lumMod val="50000"/>
                  </a:schemeClr>
                </a:solidFill>
              </a:rPr>
              <a:t>Feasibility</a:t>
            </a:r>
            <a:endParaRPr lang="nl-NL" dirty="0">
              <a:solidFill>
                <a:schemeClr val="accent2">
                  <a:lumMod val="50000"/>
                </a:schemeClr>
              </a:solidFill>
            </a:endParaRPr>
          </a:p>
        </p:txBody>
      </p:sp>
      <p:sp>
        <p:nvSpPr>
          <p:cNvPr id="4" name="Slide Number Placeholder 3">
            <a:extLst>
              <a:ext uri="{FF2B5EF4-FFF2-40B4-BE49-F238E27FC236}">
                <a16:creationId xmlns:a16="http://schemas.microsoft.com/office/drawing/2014/main" id="{58CB865D-88AB-5D77-563A-D9CAF89BBE5F}"/>
              </a:ext>
            </a:extLst>
          </p:cNvPr>
          <p:cNvSpPr>
            <a:spLocks noGrp="1"/>
          </p:cNvSpPr>
          <p:nvPr>
            <p:ph type="sldNum" sz="quarter" idx="7"/>
          </p:nvPr>
        </p:nvSpPr>
        <p:spPr>
          <a:xfrm>
            <a:off x="9144000" y="6477000"/>
            <a:ext cx="2804160" cy="276999"/>
          </a:xfrm>
          <a:prstGeom prst="rect">
            <a:avLst/>
          </a:prstGeom>
        </p:spPr>
        <p:txBody>
          <a:bodyPr wrap="square" lIns="0" tIns="0" rIns="0" bIns="0">
            <a:spAutoFit/>
          </a:bodyPr>
          <a:lstStyle>
            <a:defPPr>
              <a:defRPr lang="nl-NL"/>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nl-NL" smtClean="0"/>
              <a:pPr/>
              <a:t>11</a:t>
            </a:fld>
            <a:endParaRPr lang="nl-NL" dirty="0"/>
          </a:p>
        </p:txBody>
      </p:sp>
      <p:grpSp>
        <p:nvGrpSpPr>
          <p:cNvPr id="5" name="Group 4">
            <a:extLst>
              <a:ext uri="{FF2B5EF4-FFF2-40B4-BE49-F238E27FC236}">
                <a16:creationId xmlns:a16="http://schemas.microsoft.com/office/drawing/2014/main" id="{485F12A1-96E4-4961-C8E4-93F6DA23B9F3}"/>
              </a:ext>
            </a:extLst>
          </p:cNvPr>
          <p:cNvGrpSpPr/>
          <p:nvPr/>
        </p:nvGrpSpPr>
        <p:grpSpPr>
          <a:xfrm>
            <a:off x="745030" y="1770055"/>
            <a:ext cx="2606040" cy="2606040"/>
            <a:chOff x="1160233" y="1683067"/>
            <a:chExt cx="2606040" cy="2606040"/>
          </a:xfrm>
        </p:grpSpPr>
        <p:sp>
          <p:nvSpPr>
            <p:cNvPr id="6" name="Oval 5">
              <a:extLst>
                <a:ext uri="{FF2B5EF4-FFF2-40B4-BE49-F238E27FC236}">
                  <a16:creationId xmlns:a16="http://schemas.microsoft.com/office/drawing/2014/main" id="{178C9367-05A8-8B19-C89D-7E217185D53F}"/>
                </a:ext>
              </a:extLst>
            </p:cNvPr>
            <p:cNvSpPr/>
            <p:nvPr/>
          </p:nvSpPr>
          <p:spPr>
            <a:xfrm>
              <a:off x="1160233" y="1683067"/>
              <a:ext cx="2606040" cy="2606040"/>
            </a:xfrm>
            <a:prstGeom prst="ellipse">
              <a:avLst/>
            </a:prstGeom>
          </p:spPr>
          <p:style>
            <a:lnRef idx="2">
              <a:schemeClr val="lt1">
                <a:hueOff val="0"/>
                <a:satOff val="0"/>
                <a:lumOff val="0"/>
                <a:alphaOff val="0"/>
              </a:schemeClr>
            </a:lnRef>
            <a:fillRef idx="1">
              <a:schemeClr val="accent5">
                <a:alpha val="50000"/>
                <a:hueOff val="-9933876"/>
                <a:satOff val="39811"/>
                <a:lumOff val="8628"/>
                <a:alphaOff val="0"/>
              </a:schemeClr>
            </a:fillRef>
            <a:effectRef idx="0">
              <a:schemeClr val="accent5">
                <a:alpha val="50000"/>
                <a:hueOff val="-9933876"/>
                <a:satOff val="39811"/>
                <a:lumOff val="8628"/>
                <a:alphaOff val="0"/>
              </a:schemeClr>
            </a:effectRef>
            <a:fontRef idx="minor">
              <a:schemeClr val="tx1"/>
            </a:fontRef>
          </p:style>
          <p:txBody>
            <a:bodyPr/>
            <a:lstStyle/>
            <a:p>
              <a:endParaRPr lang="nl-NL"/>
            </a:p>
          </p:txBody>
        </p:sp>
        <p:sp>
          <p:nvSpPr>
            <p:cNvPr id="7" name="Oval 4">
              <a:extLst>
                <a:ext uri="{FF2B5EF4-FFF2-40B4-BE49-F238E27FC236}">
                  <a16:creationId xmlns:a16="http://schemas.microsoft.com/office/drawing/2014/main" id="{755D4F58-1661-D8C4-931B-50832DA655C3}"/>
                </a:ext>
              </a:extLst>
            </p:cNvPr>
            <p:cNvSpPr txBox="1"/>
            <p:nvPr/>
          </p:nvSpPr>
          <p:spPr>
            <a:xfrm>
              <a:off x="1405635" y="2356294"/>
              <a:ext cx="1965633" cy="1433322"/>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nl-NL" sz="3000" kern="1200" dirty="0" err="1"/>
                <a:t>Feasibility</a:t>
              </a:r>
              <a:endParaRPr lang="nl-NL" sz="3000" kern="1200" dirty="0"/>
            </a:p>
          </p:txBody>
        </p:sp>
      </p:grpSp>
      <p:sp>
        <p:nvSpPr>
          <p:cNvPr id="8" name="Arrow: Right 7">
            <a:extLst>
              <a:ext uri="{FF2B5EF4-FFF2-40B4-BE49-F238E27FC236}">
                <a16:creationId xmlns:a16="http://schemas.microsoft.com/office/drawing/2014/main" id="{6DED4F16-F67F-067E-53BC-7E256AD7329D}"/>
              </a:ext>
            </a:extLst>
          </p:cNvPr>
          <p:cNvSpPr/>
          <p:nvPr/>
        </p:nvSpPr>
        <p:spPr>
          <a:xfrm rot="20384798">
            <a:off x="3385360" y="1914338"/>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Arrow: Right 8">
            <a:extLst>
              <a:ext uri="{FF2B5EF4-FFF2-40B4-BE49-F238E27FC236}">
                <a16:creationId xmlns:a16="http://schemas.microsoft.com/office/drawing/2014/main" id="{96A936BF-81B9-EF0D-3497-03D0CAAF123D}"/>
              </a:ext>
            </a:extLst>
          </p:cNvPr>
          <p:cNvSpPr/>
          <p:nvPr/>
        </p:nvSpPr>
        <p:spPr>
          <a:xfrm rot="1024126">
            <a:off x="3381387" y="3877233"/>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TextBox 2">
            <a:extLst>
              <a:ext uri="{FF2B5EF4-FFF2-40B4-BE49-F238E27FC236}">
                <a16:creationId xmlns:a16="http://schemas.microsoft.com/office/drawing/2014/main" id="{2B6E6E80-15D7-4B4D-E7B2-875C43095650}"/>
              </a:ext>
            </a:extLst>
          </p:cNvPr>
          <p:cNvSpPr txBox="1"/>
          <p:nvPr/>
        </p:nvSpPr>
        <p:spPr>
          <a:xfrm>
            <a:off x="5767261" y="1384388"/>
            <a:ext cx="2971800" cy="707886"/>
          </a:xfrm>
          <a:prstGeom prst="rect">
            <a:avLst/>
          </a:prstGeom>
          <a:noFill/>
        </p:spPr>
        <p:txBody>
          <a:bodyPr wrap="square" rtlCol="0">
            <a:spAutoFit/>
          </a:bodyPr>
          <a:lstStyle/>
          <a:p>
            <a:r>
              <a:rPr lang="nl-NL" sz="2000" dirty="0"/>
              <a:t>Product </a:t>
            </a:r>
            <a:r>
              <a:rPr lang="nl-NL" sz="2000" dirty="0" err="1"/>
              <a:t>and</a:t>
            </a:r>
            <a:r>
              <a:rPr lang="nl-NL" sz="2000" dirty="0"/>
              <a:t> poster </a:t>
            </a:r>
            <a:r>
              <a:rPr lang="nl-NL" sz="2000" dirty="0" err="1"/>
              <a:t>for</a:t>
            </a:r>
            <a:r>
              <a:rPr lang="nl-NL" sz="2000" dirty="0"/>
              <a:t> Grand Finale</a:t>
            </a:r>
          </a:p>
        </p:txBody>
      </p:sp>
      <p:pic>
        <p:nvPicPr>
          <p:cNvPr id="10" name="Picture 9">
            <a:extLst>
              <a:ext uri="{FF2B5EF4-FFF2-40B4-BE49-F238E27FC236}">
                <a16:creationId xmlns:a16="http://schemas.microsoft.com/office/drawing/2014/main" id="{C6501AA5-67B6-1426-E11B-0F8716EBDC35}"/>
              </a:ext>
            </a:extLst>
          </p:cNvPr>
          <p:cNvPicPr>
            <a:picLocks noChangeAspect="1"/>
          </p:cNvPicPr>
          <p:nvPr/>
        </p:nvPicPr>
        <p:blipFill rotWithShape="1">
          <a:blip r:embed="rId2"/>
          <a:srcRect t="9570" r="-3" b="-3"/>
          <a:stretch/>
        </p:blipFill>
        <p:spPr>
          <a:xfrm>
            <a:off x="9218794" y="1033599"/>
            <a:ext cx="2171698" cy="1472912"/>
          </a:xfrm>
          <a:custGeom>
            <a:avLst/>
            <a:gdLst/>
            <a:ahLst/>
            <a:cxnLst/>
            <a:rect l="l" t="t" r="r" b="b"/>
            <a:pathLst>
              <a:path w="6009490" h="4186171">
                <a:moveTo>
                  <a:pt x="9049" y="0"/>
                </a:moveTo>
                <a:lnTo>
                  <a:pt x="6009490" y="0"/>
                </a:lnTo>
                <a:lnTo>
                  <a:pt x="6009490" y="4168273"/>
                </a:lnTo>
                <a:lnTo>
                  <a:pt x="5803951" y="4172925"/>
                </a:lnTo>
                <a:cubicBezTo>
                  <a:pt x="5729787" y="4171950"/>
                  <a:pt x="5655658" y="4168322"/>
                  <a:pt x="5581704" y="4162045"/>
                </a:cubicBezTo>
                <a:cubicBezTo>
                  <a:pt x="5474340" y="4154041"/>
                  <a:pt x="5366086" y="4142987"/>
                  <a:pt x="5259485" y="4163316"/>
                </a:cubicBezTo>
                <a:cubicBezTo>
                  <a:pt x="5142465" y="4185805"/>
                  <a:pt x="5025571" y="4185932"/>
                  <a:pt x="4907534" y="4180215"/>
                </a:cubicBezTo>
                <a:cubicBezTo>
                  <a:pt x="4806650" y="4175387"/>
                  <a:pt x="4706147" y="4149975"/>
                  <a:pt x="4604501" y="4176784"/>
                </a:cubicBezTo>
                <a:cubicBezTo>
                  <a:pt x="4594387" y="4178258"/>
                  <a:pt x="4584082" y="4177826"/>
                  <a:pt x="4574133" y="4175514"/>
                </a:cubicBezTo>
                <a:cubicBezTo>
                  <a:pt x="4462958" y="4160140"/>
                  <a:pt x="4351020" y="4172718"/>
                  <a:pt x="4239463" y="4168398"/>
                </a:cubicBezTo>
                <a:cubicBezTo>
                  <a:pt x="4188005" y="4166365"/>
                  <a:pt x="4135530" y="4167509"/>
                  <a:pt x="4084706" y="4162045"/>
                </a:cubicBezTo>
                <a:cubicBezTo>
                  <a:pt x="3968067" y="4149594"/>
                  <a:pt x="3851682" y="4142987"/>
                  <a:pt x="3736314" y="4172337"/>
                </a:cubicBezTo>
                <a:cubicBezTo>
                  <a:pt x="3702643" y="4180253"/>
                  <a:pt x="3668235" y="4184509"/>
                  <a:pt x="3633650" y="4185043"/>
                </a:cubicBezTo>
                <a:cubicBezTo>
                  <a:pt x="3520696" y="4189109"/>
                  <a:pt x="3408122" y="4181358"/>
                  <a:pt x="3295549" y="4175005"/>
                </a:cubicBezTo>
                <a:cubicBezTo>
                  <a:pt x="3217408" y="4170558"/>
                  <a:pt x="3139394" y="4160902"/>
                  <a:pt x="3061127" y="4169034"/>
                </a:cubicBezTo>
                <a:cubicBezTo>
                  <a:pt x="3015640" y="4173735"/>
                  <a:pt x="2969772" y="4173735"/>
                  <a:pt x="2924285" y="4169034"/>
                </a:cubicBezTo>
                <a:cubicBezTo>
                  <a:pt x="2840452" y="4159212"/>
                  <a:pt x="2755870" y="4157382"/>
                  <a:pt x="2671694" y="4163570"/>
                </a:cubicBezTo>
                <a:cubicBezTo>
                  <a:pt x="2546033" y="4174370"/>
                  <a:pt x="2420500" y="4183391"/>
                  <a:pt x="2294459" y="4166238"/>
                </a:cubicBezTo>
                <a:cubicBezTo>
                  <a:pt x="2222976" y="4155006"/>
                  <a:pt x="2150298" y="4153685"/>
                  <a:pt x="2078460" y="4162300"/>
                </a:cubicBezTo>
                <a:cubicBezTo>
                  <a:pt x="1907313" y="4186314"/>
                  <a:pt x="1735785" y="4178563"/>
                  <a:pt x="1564257" y="4168653"/>
                </a:cubicBezTo>
                <a:cubicBezTo>
                  <a:pt x="1449650" y="4161918"/>
                  <a:pt x="1334536" y="4149594"/>
                  <a:pt x="1220183" y="4165857"/>
                </a:cubicBezTo>
                <a:cubicBezTo>
                  <a:pt x="1074321" y="4186186"/>
                  <a:pt x="928331" y="4179452"/>
                  <a:pt x="782087" y="4173481"/>
                </a:cubicBezTo>
                <a:cubicBezTo>
                  <a:pt x="674723" y="4169034"/>
                  <a:pt x="567232" y="4155565"/>
                  <a:pt x="459614" y="4172210"/>
                </a:cubicBezTo>
                <a:cubicBezTo>
                  <a:pt x="448535" y="4173722"/>
                  <a:pt x="437265" y="4172591"/>
                  <a:pt x="426706" y="4168907"/>
                </a:cubicBezTo>
                <a:cubicBezTo>
                  <a:pt x="385869" y="4155464"/>
                  <a:pt x="342085" y="4153660"/>
                  <a:pt x="300283" y="4163697"/>
                </a:cubicBezTo>
                <a:cubicBezTo>
                  <a:pt x="223159" y="4180596"/>
                  <a:pt x="146162" y="4187965"/>
                  <a:pt x="67640" y="4172591"/>
                </a:cubicBezTo>
                <a:lnTo>
                  <a:pt x="14015" y="4169393"/>
                </a:lnTo>
                <a:lnTo>
                  <a:pt x="28554" y="3856095"/>
                </a:lnTo>
                <a:cubicBezTo>
                  <a:pt x="30458" y="3735660"/>
                  <a:pt x="27412" y="3615306"/>
                  <a:pt x="15626" y="3495237"/>
                </a:cubicBezTo>
                <a:cubicBezTo>
                  <a:pt x="-847" y="3348740"/>
                  <a:pt x="-4304" y="3201174"/>
                  <a:pt x="5296" y="3054118"/>
                </a:cubicBezTo>
                <a:cubicBezTo>
                  <a:pt x="11786" y="2969961"/>
                  <a:pt x="18539" y="2885804"/>
                  <a:pt x="22776" y="2801522"/>
                </a:cubicBezTo>
                <a:cubicBezTo>
                  <a:pt x="28180" y="2681630"/>
                  <a:pt x="25173" y="2561524"/>
                  <a:pt x="13771" y="2442014"/>
                </a:cubicBezTo>
                <a:cubicBezTo>
                  <a:pt x="4237" y="2350879"/>
                  <a:pt x="3177" y="2259120"/>
                  <a:pt x="10593" y="2167807"/>
                </a:cubicBezTo>
                <a:cubicBezTo>
                  <a:pt x="25690" y="2012336"/>
                  <a:pt x="9931" y="1856863"/>
                  <a:pt x="5032" y="1701516"/>
                </a:cubicBezTo>
                <a:cubicBezTo>
                  <a:pt x="-3577" y="1415742"/>
                  <a:pt x="20393" y="1130095"/>
                  <a:pt x="9666" y="844320"/>
                </a:cubicBezTo>
                <a:cubicBezTo>
                  <a:pt x="3841" y="702958"/>
                  <a:pt x="16420" y="561723"/>
                  <a:pt x="9666" y="420361"/>
                </a:cubicBezTo>
                <a:cubicBezTo>
                  <a:pt x="4105" y="319805"/>
                  <a:pt x="397" y="219250"/>
                  <a:pt x="4105" y="118568"/>
                </a:cubicBezTo>
                <a:cubicBezTo>
                  <a:pt x="5164" y="91109"/>
                  <a:pt x="5826" y="63523"/>
                  <a:pt x="9534" y="36446"/>
                </a:cubicBezTo>
                <a:close/>
              </a:path>
            </a:pathLst>
          </a:custGeom>
        </p:spPr>
      </p:pic>
      <p:sp>
        <p:nvSpPr>
          <p:cNvPr id="11" name="TextBox 10">
            <a:extLst>
              <a:ext uri="{FF2B5EF4-FFF2-40B4-BE49-F238E27FC236}">
                <a16:creationId xmlns:a16="http://schemas.microsoft.com/office/drawing/2014/main" id="{EF5867CB-6A82-EA31-D02F-5485CF2651D5}"/>
              </a:ext>
            </a:extLst>
          </p:cNvPr>
          <p:cNvSpPr txBox="1"/>
          <p:nvPr/>
        </p:nvSpPr>
        <p:spPr>
          <a:xfrm>
            <a:off x="5767261" y="3776008"/>
            <a:ext cx="2971800" cy="1938992"/>
          </a:xfrm>
          <a:prstGeom prst="rect">
            <a:avLst/>
          </a:prstGeom>
          <a:noFill/>
        </p:spPr>
        <p:txBody>
          <a:bodyPr wrap="square" rtlCol="0">
            <a:spAutoFit/>
          </a:bodyPr>
          <a:lstStyle/>
          <a:p>
            <a:r>
              <a:rPr lang="nl-NL" sz="2000" dirty="0"/>
              <a:t>Breakdown </a:t>
            </a:r>
            <a:r>
              <a:rPr lang="nl-NL" sz="2000" dirty="0" err="1"/>
              <a:t>and</a:t>
            </a:r>
            <a:r>
              <a:rPr lang="nl-NL" sz="2000" dirty="0"/>
              <a:t> assessment of </a:t>
            </a:r>
            <a:r>
              <a:rPr lang="nl-NL" sz="2000" dirty="0" err="1"/>
              <a:t>all</a:t>
            </a:r>
            <a:r>
              <a:rPr lang="nl-NL" sz="2000" dirty="0"/>
              <a:t> </a:t>
            </a:r>
            <a:r>
              <a:rPr lang="nl-NL" sz="2000" dirty="0" err="1"/>
              <a:t>processes</a:t>
            </a:r>
            <a:r>
              <a:rPr lang="nl-NL" sz="2000" dirty="0"/>
              <a:t> </a:t>
            </a:r>
            <a:r>
              <a:rPr lang="nl-NL" sz="2000" dirty="0" err="1"/>
              <a:t>and</a:t>
            </a:r>
            <a:r>
              <a:rPr lang="nl-NL" sz="2000" dirty="0"/>
              <a:t> resources </a:t>
            </a:r>
            <a:r>
              <a:rPr lang="nl-NL" sz="2000" dirty="0" err="1"/>
              <a:t>necessary</a:t>
            </a:r>
            <a:r>
              <a:rPr lang="nl-NL" sz="2000" dirty="0"/>
              <a:t> </a:t>
            </a:r>
            <a:r>
              <a:rPr lang="nl-NL" sz="2000" dirty="0" err="1"/>
              <a:t>to</a:t>
            </a:r>
            <a:r>
              <a:rPr lang="nl-NL" sz="2000" dirty="0"/>
              <a:t> </a:t>
            </a:r>
            <a:r>
              <a:rPr lang="nl-NL" sz="2000" dirty="0" err="1"/>
              <a:t>create</a:t>
            </a:r>
            <a:r>
              <a:rPr lang="nl-NL" sz="2000" dirty="0"/>
              <a:t>, market, </a:t>
            </a:r>
            <a:r>
              <a:rPr lang="nl-NL" sz="2000" dirty="0" err="1"/>
              <a:t>sell</a:t>
            </a:r>
            <a:r>
              <a:rPr lang="nl-NL" sz="2000" dirty="0"/>
              <a:t>, </a:t>
            </a:r>
            <a:r>
              <a:rPr lang="nl-NL" sz="2000" dirty="0" err="1"/>
              <a:t>deliver</a:t>
            </a:r>
            <a:r>
              <a:rPr lang="nl-NL" sz="2000" dirty="0"/>
              <a:t> </a:t>
            </a:r>
            <a:r>
              <a:rPr lang="nl-NL" sz="2000" dirty="0" err="1"/>
              <a:t>the</a:t>
            </a:r>
            <a:r>
              <a:rPr lang="nl-NL" sz="2000" dirty="0"/>
              <a:t> product</a:t>
            </a:r>
          </a:p>
        </p:txBody>
      </p:sp>
      <p:grpSp>
        <p:nvGrpSpPr>
          <p:cNvPr id="21" name="Group 20">
            <a:extLst>
              <a:ext uri="{FF2B5EF4-FFF2-40B4-BE49-F238E27FC236}">
                <a16:creationId xmlns:a16="http://schemas.microsoft.com/office/drawing/2014/main" id="{FFED3959-19C8-84C7-1075-A94069B611E5}"/>
              </a:ext>
            </a:extLst>
          </p:cNvPr>
          <p:cNvGrpSpPr/>
          <p:nvPr/>
        </p:nvGrpSpPr>
        <p:grpSpPr>
          <a:xfrm>
            <a:off x="9033970" y="4043734"/>
            <a:ext cx="2472230" cy="1671266"/>
            <a:chOff x="9033970" y="4043734"/>
            <a:chExt cx="2472230" cy="1671266"/>
          </a:xfrm>
        </p:grpSpPr>
        <p:graphicFrame>
          <p:nvGraphicFramePr>
            <p:cNvPr id="16" name="Diagram 15">
              <a:extLst>
                <a:ext uri="{FF2B5EF4-FFF2-40B4-BE49-F238E27FC236}">
                  <a16:creationId xmlns:a16="http://schemas.microsoft.com/office/drawing/2014/main" id="{2BA2E281-7FBC-71BD-AA84-9E57DDB9B1BC}"/>
                </a:ext>
              </a:extLst>
            </p:cNvPr>
            <p:cNvGraphicFramePr/>
            <p:nvPr/>
          </p:nvGraphicFramePr>
          <p:xfrm>
            <a:off x="9033970" y="4043734"/>
            <a:ext cx="1862630" cy="4924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7" name="Diagram 16">
              <a:extLst>
                <a:ext uri="{FF2B5EF4-FFF2-40B4-BE49-F238E27FC236}">
                  <a16:creationId xmlns:a16="http://schemas.microsoft.com/office/drawing/2014/main" id="{F7E06A1C-FD7D-8A22-64D6-FCB6B62F174D}"/>
                </a:ext>
              </a:extLst>
            </p:cNvPr>
            <p:cNvGraphicFramePr/>
            <p:nvPr/>
          </p:nvGraphicFramePr>
          <p:xfrm>
            <a:off x="9186370" y="4308157"/>
            <a:ext cx="1862630" cy="49244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8" name="Diagram 17">
              <a:extLst>
                <a:ext uri="{FF2B5EF4-FFF2-40B4-BE49-F238E27FC236}">
                  <a16:creationId xmlns:a16="http://schemas.microsoft.com/office/drawing/2014/main" id="{5A320004-9F55-ACE6-20C4-63E66E676915}"/>
                </a:ext>
              </a:extLst>
            </p:cNvPr>
            <p:cNvGraphicFramePr/>
            <p:nvPr/>
          </p:nvGraphicFramePr>
          <p:xfrm>
            <a:off x="9338770" y="4612957"/>
            <a:ext cx="1862630" cy="492443"/>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9" name="Diagram 18">
              <a:extLst>
                <a:ext uri="{FF2B5EF4-FFF2-40B4-BE49-F238E27FC236}">
                  <a16:creationId xmlns:a16="http://schemas.microsoft.com/office/drawing/2014/main" id="{C6F58D6C-126E-7B27-0ABA-6DDC99A0C651}"/>
                </a:ext>
              </a:extLst>
            </p:cNvPr>
            <p:cNvGraphicFramePr/>
            <p:nvPr/>
          </p:nvGraphicFramePr>
          <p:xfrm>
            <a:off x="9491170" y="4953000"/>
            <a:ext cx="1862630" cy="492443"/>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20" name="Diagram 19">
              <a:extLst>
                <a:ext uri="{FF2B5EF4-FFF2-40B4-BE49-F238E27FC236}">
                  <a16:creationId xmlns:a16="http://schemas.microsoft.com/office/drawing/2014/main" id="{73BD4152-E52A-E294-098A-412E20AAF69A}"/>
                </a:ext>
              </a:extLst>
            </p:cNvPr>
            <p:cNvGraphicFramePr/>
            <p:nvPr/>
          </p:nvGraphicFramePr>
          <p:xfrm>
            <a:off x="9643570" y="5222557"/>
            <a:ext cx="1862630" cy="492443"/>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grpSp>
      <p:sp>
        <p:nvSpPr>
          <p:cNvPr id="12" name="TextBox 11">
            <a:extLst>
              <a:ext uri="{FF2B5EF4-FFF2-40B4-BE49-F238E27FC236}">
                <a16:creationId xmlns:a16="http://schemas.microsoft.com/office/drawing/2014/main" id="{A71BA28D-0DAE-CBA0-A5EE-AAEB206FC6DB}"/>
              </a:ext>
            </a:extLst>
          </p:cNvPr>
          <p:cNvSpPr txBox="1"/>
          <p:nvPr/>
        </p:nvSpPr>
        <p:spPr>
          <a:xfrm>
            <a:off x="745029" y="370903"/>
            <a:ext cx="7994031" cy="523220"/>
          </a:xfrm>
          <a:prstGeom prst="rect">
            <a:avLst/>
          </a:prstGeom>
          <a:noFill/>
        </p:spPr>
        <p:txBody>
          <a:bodyPr wrap="square">
            <a:spAutoFit/>
          </a:bodyPr>
          <a:lstStyle/>
          <a:p>
            <a:r>
              <a:rPr lang="nl-NL" sz="2800" u="sng" dirty="0" err="1"/>
              <a:t>Assignment</a:t>
            </a:r>
            <a:r>
              <a:rPr lang="nl-NL" sz="2800" u="sng" dirty="0"/>
              <a:t> 2 – Design and market </a:t>
            </a:r>
            <a:r>
              <a:rPr lang="nl-NL" sz="2800" u="sng" dirty="0" err="1"/>
              <a:t>the</a:t>
            </a:r>
            <a:r>
              <a:rPr lang="nl-NL" sz="2800" u="sng" dirty="0"/>
              <a:t> solution</a:t>
            </a:r>
          </a:p>
        </p:txBody>
      </p:sp>
    </p:spTree>
    <p:extLst>
      <p:ext uri="{BB962C8B-B14F-4D97-AF65-F5344CB8AC3E}">
        <p14:creationId xmlns:p14="http://schemas.microsoft.com/office/powerpoint/2010/main" val="192882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3599E-0BD6-02AB-3015-48311B8913FA}"/>
              </a:ext>
            </a:extLst>
          </p:cNvPr>
          <p:cNvSpPr>
            <a:spLocks noGrp="1"/>
          </p:cNvSpPr>
          <p:nvPr>
            <p:ph type="title"/>
          </p:nvPr>
        </p:nvSpPr>
        <p:spPr>
          <a:xfrm>
            <a:off x="638565" y="252086"/>
            <a:ext cx="8596668" cy="1320800"/>
          </a:xfrm>
        </p:spPr>
        <p:txBody>
          <a:bodyPr/>
          <a:lstStyle/>
          <a:p>
            <a:r>
              <a:rPr lang="nl-NL" dirty="0">
                <a:solidFill>
                  <a:schemeClr val="accent2">
                    <a:lumMod val="50000"/>
                  </a:schemeClr>
                </a:solidFill>
              </a:rPr>
              <a:t>Breakdown </a:t>
            </a:r>
            <a:r>
              <a:rPr lang="nl-NL" dirty="0" err="1">
                <a:solidFill>
                  <a:schemeClr val="accent2">
                    <a:lumMod val="50000"/>
                  </a:schemeClr>
                </a:solidFill>
              </a:rPr>
              <a:t>and</a:t>
            </a:r>
            <a:r>
              <a:rPr lang="nl-NL" dirty="0">
                <a:solidFill>
                  <a:schemeClr val="accent2">
                    <a:lumMod val="50000"/>
                  </a:schemeClr>
                </a:solidFill>
              </a:rPr>
              <a:t> assessment</a:t>
            </a:r>
          </a:p>
        </p:txBody>
      </p:sp>
      <p:sp>
        <p:nvSpPr>
          <p:cNvPr id="4" name="Slide Number Placeholder 3">
            <a:extLst>
              <a:ext uri="{FF2B5EF4-FFF2-40B4-BE49-F238E27FC236}">
                <a16:creationId xmlns:a16="http://schemas.microsoft.com/office/drawing/2014/main" id="{F37DED3B-F4CA-A025-5848-C95A5B3245DB}"/>
              </a:ext>
            </a:extLst>
          </p:cNvPr>
          <p:cNvSpPr>
            <a:spLocks noGrp="1"/>
          </p:cNvSpPr>
          <p:nvPr>
            <p:ph type="sldNum" sz="quarter" idx="7"/>
          </p:nvPr>
        </p:nvSpPr>
        <p:spPr>
          <a:xfrm>
            <a:off x="9144000" y="6477000"/>
            <a:ext cx="2804160" cy="276999"/>
          </a:xfrm>
          <a:prstGeom prst="rect">
            <a:avLst/>
          </a:prstGeom>
        </p:spPr>
        <p:txBody>
          <a:bodyPr wrap="square" lIns="0" tIns="0" rIns="0" bIns="0">
            <a:spAutoFit/>
          </a:bodyPr>
          <a:lstStyle>
            <a:defPPr>
              <a:defRPr lang="nl-NL"/>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nl-NL" smtClean="0"/>
              <a:pPr/>
              <a:t>12</a:t>
            </a:fld>
            <a:endParaRPr lang="nl-NL" dirty="0"/>
          </a:p>
        </p:txBody>
      </p:sp>
      <p:grpSp>
        <p:nvGrpSpPr>
          <p:cNvPr id="5" name="Group 4">
            <a:extLst>
              <a:ext uri="{FF2B5EF4-FFF2-40B4-BE49-F238E27FC236}">
                <a16:creationId xmlns:a16="http://schemas.microsoft.com/office/drawing/2014/main" id="{7613459A-D416-F10D-7A54-3AAD705E59B6}"/>
              </a:ext>
            </a:extLst>
          </p:cNvPr>
          <p:cNvGrpSpPr/>
          <p:nvPr/>
        </p:nvGrpSpPr>
        <p:grpSpPr>
          <a:xfrm>
            <a:off x="486165" y="2209800"/>
            <a:ext cx="2472230" cy="1671266"/>
            <a:chOff x="9033970" y="4043734"/>
            <a:chExt cx="2472230" cy="1671266"/>
          </a:xfrm>
        </p:grpSpPr>
        <p:graphicFrame>
          <p:nvGraphicFramePr>
            <p:cNvPr id="6" name="Diagram 5">
              <a:extLst>
                <a:ext uri="{FF2B5EF4-FFF2-40B4-BE49-F238E27FC236}">
                  <a16:creationId xmlns:a16="http://schemas.microsoft.com/office/drawing/2014/main" id="{3B70B490-4756-C69A-DBAA-8B9A204654AC}"/>
                </a:ext>
              </a:extLst>
            </p:cNvPr>
            <p:cNvGraphicFramePr/>
            <p:nvPr/>
          </p:nvGraphicFramePr>
          <p:xfrm>
            <a:off x="9033970" y="4043734"/>
            <a:ext cx="1862630" cy="492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3EC71FFD-3488-B7AC-5840-76E5F3EB7C5F}"/>
                </a:ext>
              </a:extLst>
            </p:cNvPr>
            <p:cNvGraphicFramePr/>
            <p:nvPr/>
          </p:nvGraphicFramePr>
          <p:xfrm>
            <a:off x="9186370" y="4308157"/>
            <a:ext cx="1862630" cy="49244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a:extLst>
                <a:ext uri="{FF2B5EF4-FFF2-40B4-BE49-F238E27FC236}">
                  <a16:creationId xmlns:a16="http://schemas.microsoft.com/office/drawing/2014/main" id="{9E8AD739-C83D-E0B5-A6F1-58B186CF7C1C}"/>
                </a:ext>
              </a:extLst>
            </p:cNvPr>
            <p:cNvGraphicFramePr/>
            <p:nvPr/>
          </p:nvGraphicFramePr>
          <p:xfrm>
            <a:off x="9338770" y="4612957"/>
            <a:ext cx="1862630" cy="49244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9" name="Diagram 8">
              <a:extLst>
                <a:ext uri="{FF2B5EF4-FFF2-40B4-BE49-F238E27FC236}">
                  <a16:creationId xmlns:a16="http://schemas.microsoft.com/office/drawing/2014/main" id="{70856A47-E913-DD1C-2225-8E17CDC65723}"/>
                </a:ext>
              </a:extLst>
            </p:cNvPr>
            <p:cNvGraphicFramePr/>
            <p:nvPr/>
          </p:nvGraphicFramePr>
          <p:xfrm>
            <a:off x="9491170" y="4953000"/>
            <a:ext cx="1862630" cy="49244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0" name="Diagram 9">
              <a:extLst>
                <a:ext uri="{FF2B5EF4-FFF2-40B4-BE49-F238E27FC236}">
                  <a16:creationId xmlns:a16="http://schemas.microsoft.com/office/drawing/2014/main" id="{64332B05-C317-93F3-916B-D1A1A63A5F58}"/>
                </a:ext>
              </a:extLst>
            </p:cNvPr>
            <p:cNvGraphicFramePr/>
            <p:nvPr/>
          </p:nvGraphicFramePr>
          <p:xfrm>
            <a:off x="9643570" y="5222557"/>
            <a:ext cx="1862630" cy="49244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pSp>
      <p:sp>
        <p:nvSpPr>
          <p:cNvPr id="11" name="TextBox 10">
            <a:extLst>
              <a:ext uri="{FF2B5EF4-FFF2-40B4-BE49-F238E27FC236}">
                <a16:creationId xmlns:a16="http://schemas.microsoft.com/office/drawing/2014/main" id="{27D73182-A2D6-5328-B9EA-8132F36A82A9}"/>
              </a:ext>
            </a:extLst>
          </p:cNvPr>
          <p:cNvSpPr txBox="1"/>
          <p:nvPr/>
        </p:nvSpPr>
        <p:spPr>
          <a:xfrm>
            <a:off x="3148895" y="1072352"/>
            <a:ext cx="5139356" cy="5078313"/>
          </a:xfrm>
          <a:prstGeom prst="rect">
            <a:avLst/>
          </a:prstGeom>
          <a:noFill/>
        </p:spPr>
        <p:txBody>
          <a:bodyPr wrap="none" rtlCol="0">
            <a:spAutoFit/>
          </a:bodyPr>
          <a:lstStyle/>
          <a:p>
            <a:pPr marL="285750" indent="-285750">
              <a:buFont typeface="Arial" panose="020B0604020202020204" pitchFamily="34" charset="0"/>
              <a:buChar char="•"/>
            </a:pPr>
            <a:r>
              <a:rPr lang="nl-NL" dirty="0"/>
              <a:t>Development </a:t>
            </a:r>
            <a:r>
              <a:rPr lang="nl-NL" dirty="0" err="1"/>
              <a:t>process</a:t>
            </a:r>
            <a:endParaRPr lang="nl-NL" dirty="0"/>
          </a:p>
          <a:p>
            <a:pPr marL="285750" indent="-285750">
              <a:buFont typeface="Arial" panose="020B0604020202020204" pitchFamily="34" charset="0"/>
              <a:buChar char="•"/>
            </a:pPr>
            <a:r>
              <a:rPr lang="nl-NL" dirty="0" err="1"/>
              <a:t>Production</a:t>
            </a:r>
            <a:r>
              <a:rPr lang="nl-NL" dirty="0"/>
              <a:t> </a:t>
            </a:r>
            <a:r>
              <a:rPr lang="nl-NL" dirty="0" err="1"/>
              <a:t>process</a:t>
            </a:r>
            <a:endParaRPr lang="nl-NL" dirty="0"/>
          </a:p>
          <a:p>
            <a:pPr marL="285750" indent="-285750">
              <a:buFont typeface="Arial" panose="020B0604020202020204" pitchFamily="34" charset="0"/>
              <a:buChar char="•"/>
            </a:pPr>
            <a:r>
              <a:rPr lang="nl-NL" dirty="0"/>
              <a:t>Service </a:t>
            </a:r>
            <a:r>
              <a:rPr lang="nl-NL" dirty="0" err="1"/>
              <a:t>process</a:t>
            </a:r>
            <a:endParaRPr lang="nl-NL" dirty="0"/>
          </a:p>
          <a:p>
            <a:pPr marL="285750" indent="-285750">
              <a:buFont typeface="Arial" panose="020B0604020202020204" pitchFamily="34" charset="0"/>
              <a:buChar char="•"/>
            </a:pPr>
            <a:r>
              <a:rPr lang="nl-NL" dirty="0"/>
              <a:t>Customer </a:t>
            </a:r>
            <a:r>
              <a:rPr lang="nl-NL" dirty="0" err="1"/>
              <a:t>acquisition</a:t>
            </a:r>
            <a:r>
              <a:rPr lang="nl-NL" dirty="0"/>
              <a:t> </a:t>
            </a:r>
            <a:r>
              <a:rPr lang="nl-NL" dirty="0" err="1"/>
              <a:t>processes</a:t>
            </a:r>
            <a:r>
              <a:rPr lang="nl-NL" dirty="0"/>
              <a:t> (marketing, sales)</a:t>
            </a:r>
          </a:p>
          <a:p>
            <a:pPr marL="285750" indent="-285750">
              <a:buFont typeface="Arial" panose="020B0604020202020204" pitchFamily="34" charset="0"/>
              <a:buChar char="•"/>
            </a:pPr>
            <a:r>
              <a:rPr lang="nl-NL" dirty="0"/>
              <a:t>Legal</a:t>
            </a:r>
          </a:p>
          <a:p>
            <a:pPr marL="285750" indent="-285750">
              <a:buFont typeface="Arial" panose="020B0604020202020204" pitchFamily="34" charset="0"/>
              <a:buChar char="•"/>
            </a:pPr>
            <a:r>
              <a:rPr lang="nl-NL" dirty="0"/>
              <a:t>Financial</a:t>
            </a:r>
          </a:p>
          <a:p>
            <a:pPr marL="285750" indent="-285750">
              <a:buFont typeface="Arial" panose="020B0604020202020204" pitchFamily="34" charset="0"/>
              <a:buChar char="•"/>
            </a:pPr>
            <a:r>
              <a:rPr lang="nl-NL" dirty="0"/>
              <a:t>Human Resources</a:t>
            </a:r>
          </a:p>
          <a:p>
            <a:pPr marL="285750" indent="-285750">
              <a:buFont typeface="Arial" panose="020B0604020202020204" pitchFamily="34" charset="0"/>
              <a:buChar char="•"/>
            </a:pPr>
            <a:r>
              <a:rPr lang="nl-NL" dirty="0"/>
              <a:t>………….</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r>
              <a:rPr lang="nl-NL" dirty="0"/>
              <a:t>Office </a:t>
            </a:r>
            <a:r>
              <a:rPr lang="nl-NL" dirty="0" err="1"/>
              <a:t>space</a:t>
            </a:r>
            <a:endParaRPr lang="nl-NL" dirty="0"/>
          </a:p>
          <a:p>
            <a:pPr marL="285750" indent="-285750">
              <a:buFont typeface="Arial" panose="020B0604020202020204" pitchFamily="34" charset="0"/>
              <a:buChar char="•"/>
            </a:pPr>
            <a:r>
              <a:rPr lang="nl-NL" dirty="0"/>
              <a:t>Manufacturing </a:t>
            </a:r>
            <a:r>
              <a:rPr lang="nl-NL" dirty="0" err="1"/>
              <a:t>space</a:t>
            </a:r>
            <a:endParaRPr lang="nl-NL" dirty="0"/>
          </a:p>
          <a:p>
            <a:pPr marL="285750" indent="-285750">
              <a:buFont typeface="Arial" panose="020B0604020202020204" pitchFamily="34" charset="0"/>
              <a:buChar char="•"/>
            </a:pPr>
            <a:r>
              <a:rPr lang="nl-NL" dirty="0"/>
              <a:t>Utilities</a:t>
            </a:r>
          </a:p>
          <a:p>
            <a:pPr marL="285750" indent="-285750">
              <a:buFont typeface="Arial" panose="020B0604020202020204" pitchFamily="34" charset="0"/>
              <a:buChar char="•"/>
            </a:pPr>
            <a:r>
              <a:rPr lang="nl-NL" dirty="0"/>
              <a:t>Insurance</a:t>
            </a:r>
          </a:p>
          <a:p>
            <a:pPr marL="285750" indent="-285750">
              <a:buFont typeface="Arial" panose="020B0604020202020204" pitchFamily="34" charset="0"/>
              <a:buChar char="•"/>
            </a:pPr>
            <a:r>
              <a:rPr lang="nl-NL" dirty="0"/>
              <a:t>Storage </a:t>
            </a:r>
            <a:r>
              <a:rPr lang="nl-NL" dirty="0" err="1"/>
              <a:t>facilities</a:t>
            </a:r>
            <a:endParaRPr lang="nl-NL" dirty="0"/>
          </a:p>
          <a:p>
            <a:pPr marL="285750" indent="-285750">
              <a:buFont typeface="Arial" panose="020B0604020202020204" pitchFamily="34" charset="0"/>
              <a:buChar char="•"/>
            </a:pPr>
            <a:r>
              <a:rPr lang="nl-NL" dirty="0"/>
              <a:t>Transport </a:t>
            </a:r>
            <a:r>
              <a:rPr lang="nl-NL" dirty="0" err="1"/>
              <a:t>facilities</a:t>
            </a:r>
            <a:endParaRPr lang="nl-NL" dirty="0"/>
          </a:p>
          <a:p>
            <a:pPr marL="285750" indent="-285750">
              <a:buFont typeface="Arial" panose="020B0604020202020204" pitchFamily="34" charset="0"/>
              <a:buChar char="•"/>
            </a:pPr>
            <a:r>
              <a:rPr lang="nl-NL" dirty="0"/>
              <a:t>Partners/</a:t>
            </a:r>
            <a:r>
              <a:rPr lang="nl-NL" dirty="0" err="1"/>
              <a:t>suppliers</a:t>
            </a:r>
            <a:endParaRPr lang="nl-NL" dirty="0"/>
          </a:p>
          <a:p>
            <a:pPr marL="285750" indent="-285750">
              <a:buFont typeface="Arial" panose="020B0604020202020204" pitchFamily="34" charset="0"/>
              <a:buChar char="•"/>
            </a:pPr>
            <a:r>
              <a:rPr lang="nl-NL" dirty="0"/>
              <a:t>………….</a:t>
            </a:r>
          </a:p>
          <a:p>
            <a:pPr marL="285750" indent="-285750">
              <a:buFont typeface="Arial" panose="020B0604020202020204" pitchFamily="34" charset="0"/>
              <a:buChar char="•"/>
            </a:pPr>
            <a:endParaRPr lang="nl-NL" dirty="0"/>
          </a:p>
        </p:txBody>
      </p:sp>
      <p:sp>
        <p:nvSpPr>
          <p:cNvPr id="12" name="TextBox 11">
            <a:extLst>
              <a:ext uri="{FF2B5EF4-FFF2-40B4-BE49-F238E27FC236}">
                <a16:creationId xmlns:a16="http://schemas.microsoft.com/office/drawing/2014/main" id="{BF1D0BA8-E7D2-6AB4-6E88-E8037DD90A5D}"/>
              </a:ext>
            </a:extLst>
          </p:cNvPr>
          <p:cNvSpPr txBox="1"/>
          <p:nvPr/>
        </p:nvSpPr>
        <p:spPr>
          <a:xfrm>
            <a:off x="6860613" y="2702243"/>
            <a:ext cx="3783970" cy="1938992"/>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nl-NL" sz="2400" dirty="0" err="1">
                <a:solidFill>
                  <a:schemeClr val="tx1"/>
                </a:solidFill>
              </a:rPr>
              <a:t>What</a:t>
            </a:r>
            <a:r>
              <a:rPr lang="nl-NL" sz="2400" dirty="0">
                <a:solidFill>
                  <a:schemeClr val="tx1"/>
                </a:solidFill>
              </a:rPr>
              <a:t> do we </a:t>
            </a:r>
            <a:r>
              <a:rPr lang="nl-NL" sz="2400" dirty="0" err="1">
                <a:solidFill>
                  <a:schemeClr val="tx1"/>
                </a:solidFill>
              </a:rPr>
              <a:t>need</a:t>
            </a:r>
            <a:r>
              <a:rPr lang="nl-NL" sz="2400" dirty="0">
                <a:solidFill>
                  <a:schemeClr val="tx1"/>
                </a:solidFill>
              </a:rPr>
              <a:t> </a:t>
            </a:r>
            <a:r>
              <a:rPr lang="nl-NL" sz="2400" dirty="0" err="1">
                <a:solidFill>
                  <a:schemeClr val="tx1"/>
                </a:solidFill>
              </a:rPr>
              <a:t>to</a:t>
            </a:r>
            <a:r>
              <a:rPr lang="nl-NL" sz="2400" dirty="0">
                <a:solidFill>
                  <a:schemeClr val="tx1"/>
                </a:solidFill>
              </a:rPr>
              <a:t> make </a:t>
            </a:r>
            <a:r>
              <a:rPr lang="nl-NL" sz="2400" dirty="0" err="1">
                <a:solidFill>
                  <a:schemeClr val="tx1"/>
                </a:solidFill>
              </a:rPr>
              <a:t>it</a:t>
            </a:r>
            <a:r>
              <a:rPr lang="nl-NL" sz="2400" dirty="0">
                <a:solidFill>
                  <a:schemeClr val="tx1"/>
                </a:solidFill>
              </a:rPr>
              <a:t> happen?</a:t>
            </a:r>
          </a:p>
          <a:p>
            <a:endParaRPr lang="nl-NL" sz="2400" dirty="0">
              <a:solidFill>
                <a:schemeClr val="tx1"/>
              </a:solidFill>
            </a:endParaRPr>
          </a:p>
          <a:p>
            <a:r>
              <a:rPr lang="nl-NL" sz="2400" dirty="0" err="1">
                <a:solidFill>
                  <a:schemeClr val="tx1"/>
                </a:solidFill>
              </a:rPr>
              <a:t>Can</a:t>
            </a:r>
            <a:r>
              <a:rPr lang="nl-NL" sz="2400" dirty="0">
                <a:solidFill>
                  <a:schemeClr val="tx1"/>
                </a:solidFill>
              </a:rPr>
              <a:t> we make </a:t>
            </a:r>
            <a:r>
              <a:rPr lang="nl-NL" sz="2400" dirty="0" err="1">
                <a:solidFill>
                  <a:schemeClr val="tx1"/>
                </a:solidFill>
              </a:rPr>
              <a:t>it</a:t>
            </a:r>
            <a:r>
              <a:rPr lang="nl-NL" sz="2400" dirty="0">
                <a:solidFill>
                  <a:schemeClr val="tx1"/>
                </a:solidFill>
              </a:rPr>
              <a:t> happen, is </a:t>
            </a:r>
            <a:r>
              <a:rPr lang="nl-NL" sz="2400" dirty="0" err="1">
                <a:solidFill>
                  <a:schemeClr val="tx1"/>
                </a:solidFill>
              </a:rPr>
              <a:t>it</a:t>
            </a:r>
            <a:r>
              <a:rPr lang="nl-NL" sz="2400" dirty="0">
                <a:solidFill>
                  <a:schemeClr val="tx1"/>
                </a:solidFill>
              </a:rPr>
              <a:t> </a:t>
            </a:r>
            <a:r>
              <a:rPr lang="nl-NL" sz="2400" dirty="0" err="1">
                <a:solidFill>
                  <a:schemeClr val="tx1"/>
                </a:solidFill>
              </a:rPr>
              <a:t>feasible</a:t>
            </a:r>
            <a:r>
              <a:rPr lang="nl-NL" sz="2400" dirty="0">
                <a:solidFill>
                  <a:schemeClr val="tx1"/>
                </a:solidFill>
              </a:rPr>
              <a:t>?</a:t>
            </a:r>
          </a:p>
        </p:txBody>
      </p:sp>
    </p:spTree>
    <p:extLst>
      <p:ext uri="{BB962C8B-B14F-4D97-AF65-F5344CB8AC3E}">
        <p14:creationId xmlns:p14="http://schemas.microsoft.com/office/powerpoint/2010/main" val="2971535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5E99B-D01C-F5CF-7D2C-0E1C0BBE9414}"/>
              </a:ext>
            </a:extLst>
          </p:cNvPr>
          <p:cNvSpPr>
            <a:spLocks noGrp="1"/>
          </p:cNvSpPr>
          <p:nvPr>
            <p:ph type="title"/>
          </p:nvPr>
        </p:nvSpPr>
        <p:spPr>
          <a:xfrm>
            <a:off x="677334" y="1733076"/>
            <a:ext cx="8596668" cy="1320800"/>
          </a:xfrm>
        </p:spPr>
        <p:txBody>
          <a:bodyPr/>
          <a:lstStyle/>
          <a:p>
            <a:r>
              <a:rPr lang="nl-NL" dirty="0" err="1">
                <a:solidFill>
                  <a:schemeClr val="accent2">
                    <a:lumMod val="50000"/>
                  </a:schemeClr>
                </a:solidFill>
              </a:rPr>
              <a:t>Viability</a:t>
            </a:r>
            <a:endParaRPr lang="nl-NL" dirty="0">
              <a:solidFill>
                <a:schemeClr val="accent2">
                  <a:lumMod val="50000"/>
                </a:schemeClr>
              </a:solidFill>
            </a:endParaRPr>
          </a:p>
        </p:txBody>
      </p:sp>
      <p:sp>
        <p:nvSpPr>
          <p:cNvPr id="4" name="Slide Number Placeholder 3">
            <a:extLst>
              <a:ext uri="{FF2B5EF4-FFF2-40B4-BE49-F238E27FC236}">
                <a16:creationId xmlns:a16="http://schemas.microsoft.com/office/drawing/2014/main" id="{F54CA336-9EAA-7469-CF1D-D4387F17EDCF}"/>
              </a:ext>
            </a:extLst>
          </p:cNvPr>
          <p:cNvSpPr>
            <a:spLocks noGrp="1"/>
          </p:cNvSpPr>
          <p:nvPr>
            <p:ph type="sldNum" sz="quarter" idx="7"/>
          </p:nvPr>
        </p:nvSpPr>
        <p:spPr>
          <a:xfrm>
            <a:off x="9144000" y="6477000"/>
            <a:ext cx="2804160" cy="276999"/>
          </a:xfrm>
          <a:prstGeom prst="rect">
            <a:avLst/>
          </a:prstGeom>
        </p:spPr>
        <p:txBody>
          <a:bodyPr wrap="square" lIns="0" tIns="0" rIns="0" bIns="0">
            <a:spAutoFit/>
          </a:bodyPr>
          <a:lstStyle>
            <a:defPPr>
              <a:defRPr lang="nl-NL"/>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nl-NL" smtClean="0"/>
              <a:pPr/>
              <a:t>13</a:t>
            </a:fld>
            <a:endParaRPr lang="nl-NL" dirty="0"/>
          </a:p>
        </p:txBody>
      </p:sp>
      <p:grpSp>
        <p:nvGrpSpPr>
          <p:cNvPr id="5" name="Group 4">
            <a:extLst>
              <a:ext uri="{FF2B5EF4-FFF2-40B4-BE49-F238E27FC236}">
                <a16:creationId xmlns:a16="http://schemas.microsoft.com/office/drawing/2014/main" id="{884BBEED-CB9F-A8CF-D3E8-D4D961173BDE}"/>
              </a:ext>
            </a:extLst>
          </p:cNvPr>
          <p:cNvGrpSpPr/>
          <p:nvPr/>
        </p:nvGrpSpPr>
        <p:grpSpPr>
          <a:xfrm>
            <a:off x="778377" y="2924138"/>
            <a:ext cx="2606040" cy="2606040"/>
            <a:chOff x="3040926" y="1683067"/>
            <a:chExt cx="2606040" cy="2606040"/>
          </a:xfrm>
        </p:grpSpPr>
        <p:sp>
          <p:nvSpPr>
            <p:cNvPr id="6" name="Oval 5">
              <a:extLst>
                <a:ext uri="{FF2B5EF4-FFF2-40B4-BE49-F238E27FC236}">
                  <a16:creationId xmlns:a16="http://schemas.microsoft.com/office/drawing/2014/main" id="{5E080C28-4D25-FCB7-0EEE-2F00224B2D2E}"/>
                </a:ext>
              </a:extLst>
            </p:cNvPr>
            <p:cNvSpPr/>
            <p:nvPr/>
          </p:nvSpPr>
          <p:spPr>
            <a:xfrm>
              <a:off x="3040926" y="1683067"/>
              <a:ext cx="2606040" cy="2606040"/>
            </a:xfrm>
            <a:prstGeom prst="ellipse">
              <a:avLst/>
            </a:prstGeom>
          </p:spPr>
          <p:style>
            <a:lnRef idx="2">
              <a:schemeClr val="lt1">
                <a:hueOff val="0"/>
                <a:satOff val="0"/>
                <a:lumOff val="0"/>
                <a:alphaOff val="0"/>
              </a:schemeClr>
            </a:lnRef>
            <a:fillRef idx="1">
              <a:schemeClr val="accent5">
                <a:alpha val="50000"/>
                <a:hueOff val="-4966938"/>
                <a:satOff val="19906"/>
                <a:lumOff val="4314"/>
                <a:alphaOff val="0"/>
              </a:schemeClr>
            </a:fillRef>
            <a:effectRef idx="0">
              <a:schemeClr val="accent5">
                <a:alpha val="50000"/>
                <a:hueOff val="-4966938"/>
                <a:satOff val="19906"/>
                <a:lumOff val="4314"/>
                <a:alphaOff val="0"/>
              </a:schemeClr>
            </a:effectRef>
            <a:fontRef idx="minor">
              <a:schemeClr val="tx1"/>
            </a:fontRef>
          </p:style>
          <p:txBody>
            <a:bodyPr/>
            <a:lstStyle/>
            <a:p>
              <a:endParaRPr lang="nl-NL"/>
            </a:p>
          </p:txBody>
        </p:sp>
        <p:sp>
          <p:nvSpPr>
            <p:cNvPr id="7" name="Oval 4">
              <a:extLst>
                <a:ext uri="{FF2B5EF4-FFF2-40B4-BE49-F238E27FC236}">
                  <a16:creationId xmlns:a16="http://schemas.microsoft.com/office/drawing/2014/main" id="{A6CCC246-191A-9BB1-ECB4-27C6561420FA}"/>
                </a:ext>
              </a:extLst>
            </p:cNvPr>
            <p:cNvSpPr txBox="1"/>
            <p:nvPr/>
          </p:nvSpPr>
          <p:spPr>
            <a:xfrm>
              <a:off x="3562134" y="2117709"/>
              <a:ext cx="1563624" cy="1433322"/>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0" tIns="0" rIns="0" bIns="0" numCol="1" spcCol="1270" anchor="ctr" anchorCtr="0">
              <a:noAutofit/>
            </a:bodyPr>
            <a:lstStyle/>
            <a:p>
              <a:pPr marL="0" lvl="0" indent="0" algn="ctr" defTabSz="1333500">
                <a:lnSpc>
                  <a:spcPct val="90000"/>
                </a:lnSpc>
                <a:spcBef>
                  <a:spcPct val="0"/>
                </a:spcBef>
                <a:spcAft>
                  <a:spcPct val="35000"/>
                </a:spcAft>
                <a:buNone/>
              </a:pPr>
              <a:r>
                <a:rPr lang="nl-NL" sz="3000" kern="1200" dirty="0" err="1"/>
                <a:t>Viability</a:t>
              </a:r>
              <a:endParaRPr lang="nl-NL" sz="3000" kern="1200" dirty="0"/>
            </a:p>
          </p:txBody>
        </p:sp>
      </p:grpSp>
      <p:sp>
        <p:nvSpPr>
          <p:cNvPr id="8" name="Arrow: Right 7">
            <a:extLst>
              <a:ext uri="{FF2B5EF4-FFF2-40B4-BE49-F238E27FC236}">
                <a16:creationId xmlns:a16="http://schemas.microsoft.com/office/drawing/2014/main" id="{CE060276-4AB0-31DE-1377-0D4C8653B526}"/>
              </a:ext>
            </a:extLst>
          </p:cNvPr>
          <p:cNvSpPr/>
          <p:nvPr/>
        </p:nvSpPr>
        <p:spPr>
          <a:xfrm rot="20384798">
            <a:off x="3385360" y="3037814"/>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Arrow: Right 8">
            <a:extLst>
              <a:ext uri="{FF2B5EF4-FFF2-40B4-BE49-F238E27FC236}">
                <a16:creationId xmlns:a16="http://schemas.microsoft.com/office/drawing/2014/main" id="{9EB16DF8-6418-FAA4-3A61-2DEE88A8AF75}"/>
              </a:ext>
            </a:extLst>
          </p:cNvPr>
          <p:cNvSpPr/>
          <p:nvPr/>
        </p:nvSpPr>
        <p:spPr>
          <a:xfrm rot="1024126">
            <a:off x="3381387" y="5000709"/>
            <a:ext cx="1905000" cy="492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0" name="Picture 9">
            <a:extLst>
              <a:ext uri="{FF2B5EF4-FFF2-40B4-BE49-F238E27FC236}">
                <a16:creationId xmlns:a16="http://schemas.microsoft.com/office/drawing/2014/main" id="{6EC8F5D9-21C8-F374-E567-E2314F689570}"/>
              </a:ext>
            </a:extLst>
          </p:cNvPr>
          <p:cNvPicPr>
            <a:picLocks noChangeAspect="1"/>
          </p:cNvPicPr>
          <p:nvPr/>
        </p:nvPicPr>
        <p:blipFill>
          <a:blip r:embed="rId2"/>
          <a:stretch>
            <a:fillRect/>
          </a:stretch>
        </p:blipFill>
        <p:spPr>
          <a:xfrm>
            <a:off x="5925061" y="1638505"/>
            <a:ext cx="3206376" cy="2255538"/>
          </a:xfrm>
          <a:prstGeom prst="rect">
            <a:avLst/>
          </a:prstGeom>
        </p:spPr>
      </p:pic>
      <p:sp>
        <p:nvSpPr>
          <p:cNvPr id="11" name="TextBox 10">
            <a:extLst>
              <a:ext uri="{FF2B5EF4-FFF2-40B4-BE49-F238E27FC236}">
                <a16:creationId xmlns:a16="http://schemas.microsoft.com/office/drawing/2014/main" id="{A9338E73-7928-F7BC-195A-43F89F21AD6B}"/>
              </a:ext>
            </a:extLst>
          </p:cNvPr>
          <p:cNvSpPr txBox="1"/>
          <p:nvPr/>
        </p:nvSpPr>
        <p:spPr>
          <a:xfrm>
            <a:off x="9714121" y="2396942"/>
            <a:ext cx="1336391" cy="369332"/>
          </a:xfrm>
          <a:prstGeom prst="rect">
            <a:avLst/>
          </a:prstGeom>
          <a:noFill/>
        </p:spPr>
        <p:txBody>
          <a:bodyPr wrap="none" rtlCol="0">
            <a:spAutoFit/>
          </a:bodyPr>
          <a:lstStyle/>
          <a:p>
            <a:r>
              <a:rPr lang="nl-NL" dirty="0" err="1"/>
              <a:t>Lean</a:t>
            </a:r>
            <a:r>
              <a:rPr lang="nl-NL" dirty="0"/>
              <a:t> Canvas</a:t>
            </a:r>
          </a:p>
        </p:txBody>
      </p:sp>
      <p:sp>
        <p:nvSpPr>
          <p:cNvPr id="13" name="TextBox 12">
            <a:extLst>
              <a:ext uri="{FF2B5EF4-FFF2-40B4-BE49-F238E27FC236}">
                <a16:creationId xmlns:a16="http://schemas.microsoft.com/office/drawing/2014/main" id="{3D46B08F-3DBB-4958-8CB0-202B1D207657}"/>
              </a:ext>
            </a:extLst>
          </p:cNvPr>
          <p:cNvSpPr txBox="1"/>
          <p:nvPr/>
        </p:nvSpPr>
        <p:spPr>
          <a:xfrm>
            <a:off x="9714120" y="5345512"/>
            <a:ext cx="1876026" cy="369332"/>
          </a:xfrm>
          <a:prstGeom prst="rect">
            <a:avLst/>
          </a:prstGeom>
          <a:noFill/>
        </p:spPr>
        <p:txBody>
          <a:bodyPr wrap="none" rtlCol="0">
            <a:spAutoFit/>
          </a:bodyPr>
          <a:lstStyle/>
          <a:p>
            <a:r>
              <a:rPr lang="nl-NL" dirty="0"/>
              <a:t>Cash flow analysis</a:t>
            </a:r>
          </a:p>
        </p:txBody>
      </p:sp>
      <p:pic>
        <p:nvPicPr>
          <p:cNvPr id="14" name="Picture 13">
            <a:extLst>
              <a:ext uri="{FF2B5EF4-FFF2-40B4-BE49-F238E27FC236}">
                <a16:creationId xmlns:a16="http://schemas.microsoft.com/office/drawing/2014/main" id="{0791A7EE-C9A4-2B18-B15C-AD0D651D0242}"/>
              </a:ext>
            </a:extLst>
          </p:cNvPr>
          <p:cNvPicPr>
            <a:picLocks noChangeAspect="1"/>
          </p:cNvPicPr>
          <p:nvPr/>
        </p:nvPicPr>
        <p:blipFill>
          <a:blip r:embed="rId3"/>
          <a:stretch>
            <a:fillRect/>
          </a:stretch>
        </p:blipFill>
        <p:spPr>
          <a:xfrm>
            <a:off x="5661280" y="5030687"/>
            <a:ext cx="3890266" cy="1278633"/>
          </a:xfrm>
          <a:prstGeom prst="rect">
            <a:avLst/>
          </a:prstGeom>
        </p:spPr>
      </p:pic>
      <p:sp>
        <p:nvSpPr>
          <p:cNvPr id="3" name="TextBox 2">
            <a:extLst>
              <a:ext uri="{FF2B5EF4-FFF2-40B4-BE49-F238E27FC236}">
                <a16:creationId xmlns:a16="http://schemas.microsoft.com/office/drawing/2014/main" id="{1C1BF1BB-927B-231A-2CEA-81AA4533CD6B}"/>
              </a:ext>
            </a:extLst>
          </p:cNvPr>
          <p:cNvSpPr txBox="1"/>
          <p:nvPr/>
        </p:nvSpPr>
        <p:spPr>
          <a:xfrm>
            <a:off x="745029" y="370903"/>
            <a:ext cx="9887475" cy="523220"/>
          </a:xfrm>
          <a:prstGeom prst="rect">
            <a:avLst/>
          </a:prstGeom>
          <a:noFill/>
        </p:spPr>
        <p:txBody>
          <a:bodyPr wrap="square">
            <a:spAutoFit/>
          </a:bodyPr>
          <a:lstStyle/>
          <a:p>
            <a:r>
              <a:rPr lang="nl-NL" sz="2800" u="sng" dirty="0" err="1"/>
              <a:t>Assignment</a:t>
            </a:r>
            <a:r>
              <a:rPr lang="nl-NL" sz="2800" u="sng" dirty="0"/>
              <a:t> 3 – Business model, </a:t>
            </a:r>
            <a:r>
              <a:rPr lang="nl-NL" sz="2800" u="sng" dirty="0" err="1"/>
              <a:t>Revenue</a:t>
            </a:r>
            <a:r>
              <a:rPr lang="nl-NL" sz="2800" u="sng" dirty="0"/>
              <a:t> model &amp; Financials </a:t>
            </a:r>
          </a:p>
        </p:txBody>
      </p:sp>
    </p:spTree>
    <p:extLst>
      <p:ext uri="{BB962C8B-B14F-4D97-AF65-F5344CB8AC3E}">
        <p14:creationId xmlns:p14="http://schemas.microsoft.com/office/powerpoint/2010/main" val="258413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126" y="3933825"/>
            <a:ext cx="2181225" cy="2095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a:xfrm>
            <a:off x="631695" y="1488613"/>
            <a:ext cx="8596668" cy="3880773"/>
          </a:xfrm>
        </p:spPr>
        <p:txBody>
          <a:bodyPr>
            <a:normAutofit fontScale="92500" lnSpcReduction="20000"/>
          </a:bodyPr>
          <a:lstStyle/>
          <a:p>
            <a:pPr marL="0" indent="0">
              <a:buNone/>
              <a:defRPr/>
            </a:pPr>
            <a:r>
              <a:rPr lang="en-US" dirty="0">
                <a:solidFill>
                  <a:srgbClr val="002B60"/>
                </a:solidFill>
              </a:rPr>
              <a:t>1. </a:t>
            </a:r>
            <a:r>
              <a:rPr lang="en-US" b="1" dirty="0">
                <a:solidFill>
                  <a:srgbClr val="002B60"/>
                </a:solidFill>
              </a:rPr>
              <a:t>sensing</a:t>
            </a:r>
            <a:r>
              <a:rPr lang="en-US" dirty="0">
                <a:solidFill>
                  <a:srgbClr val="002B60"/>
                </a:solidFill>
              </a:rPr>
              <a:t> or perceiving market </a:t>
            </a:r>
            <a:r>
              <a:rPr lang="en-US" b="1" dirty="0">
                <a:solidFill>
                  <a:srgbClr val="002B60"/>
                </a:solidFill>
              </a:rPr>
              <a:t>needs</a:t>
            </a:r>
            <a:r>
              <a:rPr lang="en-US" dirty="0">
                <a:solidFill>
                  <a:srgbClr val="002B60"/>
                </a:solidFill>
              </a:rPr>
              <a:t> and/ or under employed </a:t>
            </a:r>
            <a:r>
              <a:rPr lang="en-US" b="1" dirty="0">
                <a:solidFill>
                  <a:srgbClr val="002B60"/>
                </a:solidFill>
              </a:rPr>
              <a:t>resources</a:t>
            </a:r>
          </a:p>
          <a:p>
            <a:pPr marL="0" indent="0">
              <a:buNone/>
              <a:defRPr/>
            </a:pPr>
            <a:r>
              <a:rPr lang="en-US" i="1" dirty="0">
                <a:solidFill>
                  <a:srgbClr val="002B60"/>
                </a:solidFill>
              </a:rPr>
              <a:t>identifying an information asymmetry</a:t>
            </a:r>
          </a:p>
          <a:p>
            <a:pPr>
              <a:defRPr/>
            </a:pPr>
            <a:endParaRPr lang="en-US" dirty="0">
              <a:solidFill>
                <a:srgbClr val="002B60"/>
              </a:solidFill>
            </a:endParaRPr>
          </a:p>
          <a:p>
            <a:pPr marL="0" indent="0">
              <a:buNone/>
              <a:defRPr/>
            </a:pPr>
            <a:r>
              <a:rPr lang="en-US" dirty="0">
                <a:solidFill>
                  <a:srgbClr val="002B60"/>
                </a:solidFill>
              </a:rPr>
              <a:t>2. recognizing a </a:t>
            </a:r>
            <a:r>
              <a:rPr lang="en-US" b="1" dirty="0">
                <a:solidFill>
                  <a:srgbClr val="002B60"/>
                </a:solidFill>
              </a:rPr>
              <a:t>fit between needs and resources </a:t>
            </a:r>
          </a:p>
          <a:p>
            <a:pPr marL="0" indent="0">
              <a:buNone/>
              <a:defRPr/>
            </a:pPr>
            <a:r>
              <a:rPr lang="en-US" i="1" dirty="0">
                <a:solidFill>
                  <a:srgbClr val="002B60"/>
                </a:solidFill>
              </a:rPr>
              <a:t>closing the information asymmetry</a:t>
            </a:r>
          </a:p>
          <a:p>
            <a:pPr>
              <a:defRPr/>
            </a:pPr>
            <a:endParaRPr lang="en-US" dirty="0">
              <a:solidFill>
                <a:srgbClr val="002B60"/>
              </a:solidFill>
            </a:endParaRPr>
          </a:p>
          <a:p>
            <a:pPr marL="0" indent="0">
              <a:buNone/>
              <a:defRPr/>
            </a:pPr>
            <a:r>
              <a:rPr lang="en-US" dirty="0">
                <a:solidFill>
                  <a:srgbClr val="002B60"/>
                </a:solidFill>
              </a:rPr>
              <a:t>3. creating a fit through a </a:t>
            </a:r>
            <a:r>
              <a:rPr lang="en-US" b="1" dirty="0">
                <a:solidFill>
                  <a:srgbClr val="002B60"/>
                </a:solidFill>
              </a:rPr>
              <a:t>business concept</a:t>
            </a:r>
          </a:p>
          <a:p>
            <a:pPr marL="0" indent="0">
              <a:buNone/>
              <a:defRPr/>
            </a:pPr>
            <a:r>
              <a:rPr lang="en-US" i="1" dirty="0">
                <a:solidFill>
                  <a:srgbClr val="002B60"/>
                </a:solidFill>
              </a:rPr>
              <a:t>exploiting the opportunity</a:t>
            </a:r>
          </a:p>
          <a:p>
            <a:pPr marL="0" indent="0">
              <a:buNone/>
              <a:defRPr/>
            </a:pPr>
            <a:endParaRPr lang="en-US" i="1" dirty="0">
              <a:solidFill>
                <a:srgbClr val="002B60"/>
              </a:solidFill>
            </a:endParaRPr>
          </a:p>
          <a:p>
            <a:pPr marL="0" indent="0">
              <a:buNone/>
              <a:defRPr/>
            </a:pPr>
            <a:endParaRPr lang="en-US" i="1" dirty="0">
              <a:solidFill>
                <a:srgbClr val="002B60"/>
              </a:solidFill>
            </a:endParaRPr>
          </a:p>
          <a:p>
            <a:pPr marL="0" indent="0">
              <a:buNone/>
              <a:defRPr/>
            </a:pPr>
            <a:r>
              <a:rPr lang="en-US" i="1" dirty="0">
                <a:solidFill>
                  <a:srgbClr val="002B60"/>
                </a:solidFill>
                <a:sym typeface="Wingdings" panose="05000000000000000000" pitchFamily="2" charset="2"/>
              </a:rPr>
              <a:t> Start describing your technology as ‘We know how to…’</a:t>
            </a:r>
            <a:endParaRPr lang="en-US" i="1" dirty="0">
              <a:solidFill>
                <a:srgbClr val="002B60"/>
              </a:solidFill>
            </a:endParaRPr>
          </a:p>
          <a:p>
            <a:pPr>
              <a:defRPr/>
            </a:pPr>
            <a:endParaRPr lang="nl-NL" dirty="0">
              <a:solidFill>
                <a:srgbClr val="002B60"/>
              </a:solidFill>
            </a:endParaRPr>
          </a:p>
        </p:txBody>
      </p:sp>
      <p:sp>
        <p:nvSpPr>
          <p:cNvPr id="6" name="Rectangle 2"/>
          <p:cNvSpPr>
            <a:spLocks noGrp="1" noChangeArrowheads="1"/>
          </p:cNvSpPr>
          <p:nvPr>
            <p:ph type="title"/>
          </p:nvPr>
        </p:nvSpPr>
        <p:spPr>
          <a:xfrm>
            <a:off x="767408" y="535211"/>
            <a:ext cx="7659688" cy="517525"/>
          </a:xfrm>
        </p:spPr>
        <p:txBody>
          <a:bodyPr>
            <a:normAutofit fontScale="90000"/>
          </a:bodyPr>
          <a:lstStyle/>
          <a:p>
            <a:r>
              <a:rPr lang="nl-NL" altLang="nl-NL" dirty="0" err="1">
                <a:solidFill>
                  <a:srgbClr val="002B60"/>
                </a:solidFill>
              </a:rPr>
              <a:t>Opportunities</a:t>
            </a:r>
            <a:r>
              <a:rPr lang="nl-NL" altLang="nl-NL" dirty="0">
                <a:solidFill>
                  <a:srgbClr val="002B60"/>
                </a:solidFill>
              </a:rPr>
              <a:t> for </a:t>
            </a:r>
            <a:r>
              <a:rPr lang="nl-NL" altLang="nl-NL" dirty="0" err="1">
                <a:solidFill>
                  <a:srgbClr val="002B60"/>
                </a:solidFill>
              </a:rPr>
              <a:t>your</a:t>
            </a:r>
            <a:r>
              <a:rPr lang="nl-NL" altLang="nl-NL" dirty="0">
                <a:solidFill>
                  <a:srgbClr val="002B60"/>
                </a:solidFill>
              </a:rPr>
              <a:t> </a:t>
            </a:r>
            <a:r>
              <a:rPr lang="nl-NL" altLang="nl-NL" dirty="0" err="1">
                <a:solidFill>
                  <a:srgbClr val="002B60"/>
                </a:solidFill>
              </a:rPr>
              <a:t>technology</a:t>
            </a:r>
            <a:endParaRPr lang="nl-NL" altLang="nl-NL" dirty="0">
              <a:solidFill>
                <a:srgbClr val="002B60"/>
              </a:solidFill>
            </a:endParaRPr>
          </a:p>
        </p:txBody>
      </p:sp>
    </p:spTree>
    <p:extLst>
      <p:ext uri="{BB962C8B-B14F-4D97-AF65-F5344CB8AC3E}">
        <p14:creationId xmlns:p14="http://schemas.microsoft.com/office/powerpoint/2010/main" val="904994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lumMod val="50000"/>
                  </a:schemeClr>
                </a:solidFill>
              </a:rPr>
              <a:t>Examples</a:t>
            </a:r>
          </a:p>
        </p:txBody>
      </p:sp>
      <p:sp>
        <p:nvSpPr>
          <p:cNvPr id="3" name="Content Placeholder 2"/>
          <p:cNvSpPr>
            <a:spLocks noGrp="1"/>
          </p:cNvSpPr>
          <p:nvPr>
            <p:ph idx="1"/>
          </p:nvPr>
        </p:nvSpPr>
        <p:spPr>
          <a:xfrm>
            <a:off x="983432" y="1772816"/>
            <a:ext cx="7772400" cy="3778250"/>
          </a:xfrm>
        </p:spPr>
        <p:txBody>
          <a:bodyPr/>
          <a:lstStyle/>
          <a:p>
            <a:pPr marL="0" indent="0">
              <a:buNone/>
            </a:pPr>
            <a:r>
              <a:rPr lang="en-GB" dirty="0"/>
              <a:t>We know how to</a:t>
            </a:r>
          </a:p>
          <a:p>
            <a:endParaRPr lang="en-GB" dirty="0"/>
          </a:p>
          <a:p>
            <a:r>
              <a:rPr lang="en-GB" dirty="0"/>
              <a:t>simulate motion</a:t>
            </a:r>
          </a:p>
          <a:p>
            <a:endParaRPr lang="en-GB" dirty="0"/>
          </a:p>
          <a:p>
            <a:endParaRPr lang="en-GB" dirty="0"/>
          </a:p>
          <a:p>
            <a:endParaRPr lang="en-GB" dirty="0"/>
          </a:p>
          <a:p>
            <a:r>
              <a:rPr lang="en-GB" dirty="0"/>
              <a:t>compensate unwanted motion</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B928B03-D769-074D-8351-97BC9193047F}" type="datetime4">
              <a:rPr kumimoji="0" lang="en-US"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March 30, 2026</a:t>
            </a:fld>
            <a:endParaRPr kumimoji="0" lang="en-US"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8A0A4D8-03A1-FD4F-B100-B16A17671FD2}" type="slidenum">
              <a:rPr kumimoji="0" lang="en-US" sz="900" b="0" i="0" u="none" strike="noStrike" kern="1200" cap="none" spc="0" normalizeH="0" baseline="0" noProof="0" smtClean="0">
                <a:ln>
                  <a:noFill/>
                </a:ln>
                <a:solidFill>
                  <a:srgbClr val="5FCBEF"/>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5FCBEF"/>
              </a:solidFill>
              <a:effectLst/>
              <a:uLnTx/>
              <a:uFillTx/>
              <a:latin typeface="Trebuchet MS" panose="020B0603020202020204"/>
              <a:ea typeface="+mn-ea"/>
              <a:cs typeface="+mn-cs"/>
            </a:endParaRPr>
          </a:p>
        </p:txBody>
      </p:sp>
      <p:pic>
        <p:nvPicPr>
          <p:cNvPr id="6" name="Picture 5"/>
          <p:cNvPicPr>
            <a:picLocks noChangeAspect="1"/>
          </p:cNvPicPr>
          <p:nvPr/>
        </p:nvPicPr>
        <p:blipFill>
          <a:blip r:embed="rId2"/>
          <a:stretch>
            <a:fillRect/>
          </a:stretch>
        </p:blipFill>
        <p:spPr>
          <a:xfrm>
            <a:off x="5859469" y="3026350"/>
            <a:ext cx="4805853" cy="3073397"/>
          </a:xfrm>
          <a:prstGeom prst="rect">
            <a:avLst/>
          </a:prstGeom>
        </p:spPr>
      </p:pic>
      <p:pic>
        <p:nvPicPr>
          <p:cNvPr id="7" name="Picture 6"/>
          <p:cNvPicPr>
            <a:picLocks noChangeAspect="1"/>
          </p:cNvPicPr>
          <p:nvPr/>
        </p:nvPicPr>
        <p:blipFill>
          <a:blip r:embed="rId3"/>
          <a:stretch>
            <a:fillRect/>
          </a:stretch>
        </p:blipFill>
        <p:spPr>
          <a:xfrm>
            <a:off x="6240017" y="235912"/>
            <a:ext cx="4176875" cy="2779824"/>
          </a:xfrm>
          <a:prstGeom prst="rect">
            <a:avLst/>
          </a:prstGeom>
        </p:spPr>
      </p:pic>
    </p:spTree>
    <p:extLst>
      <p:ext uri="{BB962C8B-B14F-4D97-AF65-F5344CB8AC3E}">
        <p14:creationId xmlns:p14="http://schemas.microsoft.com/office/powerpoint/2010/main" val="165810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lumMod val="50000"/>
                  </a:schemeClr>
                </a:solidFill>
              </a:rPr>
              <a:t>Examples</a:t>
            </a:r>
          </a:p>
        </p:txBody>
      </p:sp>
      <p:sp>
        <p:nvSpPr>
          <p:cNvPr id="3" name="Content Placeholder 2"/>
          <p:cNvSpPr>
            <a:spLocks noGrp="1"/>
          </p:cNvSpPr>
          <p:nvPr>
            <p:ph idx="1"/>
          </p:nvPr>
        </p:nvSpPr>
        <p:spPr>
          <a:xfrm>
            <a:off x="721537" y="1761418"/>
            <a:ext cx="7772400" cy="3778250"/>
          </a:xfrm>
        </p:spPr>
        <p:txBody>
          <a:bodyPr/>
          <a:lstStyle/>
          <a:p>
            <a:pPr marL="0" indent="0">
              <a:buNone/>
            </a:pPr>
            <a:r>
              <a:rPr lang="en-GB" dirty="0"/>
              <a:t>We know how to</a:t>
            </a:r>
          </a:p>
          <a:p>
            <a:pPr marL="0" indent="0">
              <a:buNone/>
            </a:pPr>
            <a:endParaRPr lang="en-GB" dirty="0"/>
          </a:p>
          <a:p>
            <a:r>
              <a:rPr lang="en-GB" dirty="0"/>
              <a:t>measure pressure/ (using pressure sensors)</a:t>
            </a:r>
          </a:p>
          <a:p>
            <a:pPr marL="457200" lvl="1" indent="0">
              <a:buNone/>
            </a:pPr>
            <a:r>
              <a:rPr lang="en-GB" dirty="0"/>
              <a:t>weight distribution</a:t>
            </a:r>
          </a:p>
          <a:p>
            <a:endParaRPr lang="en-GB" dirty="0"/>
          </a:p>
          <a:p>
            <a:endParaRPr lang="en-GB" dirty="0"/>
          </a:p>
          <a:p>
            <a:endParaRPr lang="en-GB" dirty="0"/>
          </a:p>
          <a:p>
            <a:r>
              <a:rPr lang="en-GB" dirty="0"/>
              <a:t>predict development of pressure wounds</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B928B03-D769-074D-8351-97BC9193047F}" type="datetime4">
              <a:rPr kumimoji="0" lang="en-US"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March 30, 2026</a:t>
            </a:fld>
            <a:endParaRPr kumimoji="0" lang="en-US"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8A0A4D8-03A1-FD4F-B100-B16A17671FD2}" type="slidenum">
              <a:rPr kumimoji="0" lang="en-US" sz="900" b="0" i="0" u="none" strike="noStrike" kern="1200" cap="none" spc="0" normalizeH="0" baseline="0" noProof="0" smtClean="0">
                <a:ln>
                  <a:noFill/>
                </a:ln>
                <a:solidFill>
                  <a:srgbClr val="5FCBEF"/>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5FCBEF"/>
              </a:solidFill>
              <a:effectLst/>
              <a:uLnTx/>
              <a:uFillTx/>
              <a:latin typeface="Trebuchet MS" panose="020B0603020202020204"/>
              <a:ea typeface="+mn-ea"/>
              <a:cs typeface="+mn-cs"/>
            </a:endParaRPr>
          </a:p>
        </p:txBody>
      </p:sp>
      <p:pic>
        <p:nvPicPr>
          <p:cNvPr id="7" name="Picture 6"/>
          <p:cNvPicPr>
            <a:picLocks noChangeAspect="1"/>
          </p:cNvPicPr>
          <p:nvPr/>
        </p:nvPicPr>
        <p:blipFill rotWithShape="1">
          <a:blip r:embed="rId2"/>
          <a:srcRect l="71131" b="52737"/>
          <a:stretch/>
        </p:blipFill>
        <p:spPr>
          <a:xfrm>
            <a:off x="8112225" y="4233121"/>
            <a:ext cx="2367183" cy="1521395"/>
          </a:xfrm>
          <a:prstGeom prst="rect">
            <a:avLst/>
          </a:prstGeom>
        </p:spPr>
      </p:pic>
      <p:sp>
        <p:nvSpPr>
          <p:cNvPr id="8" name="object 5"/>
          <p:cNvSpPr/>
          <p:nvPr/>
        </p:nvSpPr>
        <p:spPr>
          <a:xfrm>
            <a:off x="5591944" y="4078513"/>
            <a:ext cx="2800762" cy="1664965"/>
          </a:xfrm>
          <a:prstGeom prst="rect">
            <a:avLst/>
          </a:prstGeom>
          <a:blipFill>
            <a:blip r:embed="rId3" cstate="print"/>
            <a:srcRect/>
            <a:stretch>
              <a:fillRect t="-1" r="-192856" b="-93482"/>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sp>
        <p:nvSpPr>
          <p:cNvPr id="9" name="object 5"/>
          <p:cNvSpPr/>
          <p:nvPr/>
        </p:nvSpPr>
        <p:spPr>
          <a:xfrm>
            <a:off x="4512383" y="5356232"/>
            <a:ext cx="2159123" cy="1419212"/>
          </a:xfrm>
          <a:prstGeom prst="rect">
            <a:avLst/>
          </a:prstGeom>
          <a:blipFill>
            <a:blip r:embed="rId3" cstate="print"/>
            <a:srcRect/>
            <a:stretch>
              <a:fillRect t="-126986" r="-279885" b="-2"/>
            </a:stretch>
          </a:blipFill>
        </p:spPr>
        <p:txBody>
          <a:bodyPr wrap="square" lIns="0" tIns="0" rIns="0" bIns="0" rtlCol="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Trebuchet MS" panose="020B0603020202020204"/>
              <a:ea typeface="+mn-ea"/>
              <a:cs typeface="+mn-cs"/>
            </a:endParaRPr>
          </a:p>
        </p:txBody>
      </p:sp>
      <p:pic>
        <p:nvPicPr>
          <p:cNvPr id="10" name="Picture 9"/>
          <p:cNvPicPr>
            <a:picLocks noChangeAspect="1"/>
          </p:cNvPicPr>
          <p:nvPr/>
        </p:nvPicPr>
        <p:blipFill>
          <a:blip r:embed="rId4"/>
          <a:stretch>
            <a:fillRect/>
          </a:stretch>
        </p:blipFill>
        <p:spPr>
          <a:xfrm>
            <a:off x="7752184" y="1718098"/>
            <a:ext cx="2895654" cy="1926926"/>
          </a:xfrm>
          <a:prstGeom prst="rect">
            <a:avLst/>
          </a:prstGeom>
        </p:spPr>
      </p:pic>
      <p:pic>
        <p:nvPicPr>
          <p:cNvPr id="11" name="Picture 10"/>
          <p:cNvPicPr>
            <a:picLocks noChangeAspect="1"/>
          </p:cNvPicPr>
          <p:nvPr/>
        </p:nvPicPr>
        <p:blipFill rotWithShape="1">
          <a:blip r:embed="rId5"/>
          <a:srcRect l="16233" t="6832" r="2121" b="39209"/>
          <a:stretch/>
        </p:blipFill>
        <p:spPr>
          <a:xfrm flipH="1">
            <a:off x="5655886" y="358775"/>
            <a:ext cx="3315399" cy="1944216"/>
          </a:xfrm>
          <a:prstGeom prst="rect">
            <a:avLst/>
          </a:prstGeom>
        </p:spPr>
      </p:pic>
    </p:spTree>
    <p:extLst>
      <p:ext uri="{BB962C8B-B14F-4D97-AF65-F5344CB8AC3E}">
        <p14:creationId xmlns:p14="http://schemas.microsoft.com/office/powerpoint/2010/main" val="178292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accent2">
                    <a:lumMod val="50000"/>
                  </a:schemeClr>
                </a:solidFill>
              </a:rPr>
              <a:t>Examples</a:t>
            </a:r>
          </a:p>
        </p:txBody>
      </p:sp>
      <p:sp>
        <p:nvSpPr>
          <p:cNvPr id="3" name="Content Placeholder 2"/>
          <p:cNvSpPr>
            <a:spLocks noGrp="1"/>
          </p:cNvSpPr>
          <p:nvPr>
            <p:ph idx="1"/>
          </p:nvPr>
        </p:nvSpPr>
        <p:spPr>
          <a:xfrm>
            <a:off x="677334" y="1766774"/>
            <a:ext cx="7772400" cy="3778250"/>
          </a:xfrm>
        </p:spPr>
        <p:txBody>
          <a:bodyPr/>
          <a:lstStyle/>
          <a:p>
            <a:pPr marL="0" indent="0">
              <a:buNone/>
            </a:pPr>
            <a:r>
              <a:rPr lang="en-GB" dirty="0"/>
              <a:t>We know how to</a:t>
            </a:r>
          </a:p>
          <a:p>
            <a:r>
              <a:rPr lang="en-GB" dirty="0"/>
              <a:t>simulate the sun</a:t>
            </a:r>
          </a:p>
          <a:p>
            <a:endParaRPr lang="en-GB" dirty="0"/>
          </a:p>
          <a:p>
            <a:endParaRPr lang="en-GB" dirty="0"/>
          </a:p>
          <a:p>
            <a:endParaRPr lang="en-GB" dirty="0"/>
          </a:p>
          <a:p>
            <a:r>
              <a:rPr lang="en-GB" dirty="0"/>
              <a:t>Test the quality </a:t>
            </a:r>
            <a:r>
              <a:rPr lang="en-GB"/>
              <a:t>of solar panels</a:t>
            </a:r>
            <a:endParaRPr lang="en-GB" dirty="0"/>
          </a:p>
          <a:p>
            <a:pPr marL="0" indent="0">
              <a:buNone/>
            </a:pPr>
            <a:endParaRPr lang="en-GB" dirty="0"/>
          </a:p>
          <a:p>
            <a:pPr marL="0" indent="0">
              <a:buNone/>
            </a:pPr>
            <a:r>
              <a:rPr lang="en-GB" dirty="0"/>
              <a:t>But which market??? </a:t>
            </a:r>
          </a:p>
        </p:txBody>
      </p:sp>
      <p:sp>
        <p:nvSpPr>
          <p:cNvPr id="4" name="Date Placeholder 3"/>
          <p:cNvSpPr>
            <a:spLocks noGrp="1"/>
          </p:cNvSpPr>
          <p:nvPr>
            <p:ph type="dt" sz="half"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B928B03-D769-074D-8351-97BC9193047F}" type="datetime4">
              <a:rPr kumimoji="0" lang="en-US" sz="9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March 30, 2026</a:t>
            </a:fld>
            <a:endParaRPr kumimoji="0" lang="en-US" sz="9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8A0A4D8-03A1-FD4F-B100-B16A17671FD2}" type="slidenum">
              <a:rPr kumimoji="0" lang="en-US" sz="900" b="0" i="0" u="none" strike="noStrike" kern="1200" cap="none" spc="0" normalizeH="0" baseline="0" noProof="0" smtClean="0">
                <a:ln>
                  <a:noFill/>
                </a:ln>
                <a:solidFill>
                  <a:srgbClr val="5FCBEF"/>
                </a:solidFill>
                <a:effectLst/>
                <a:uLnTx/>
                <a:uFillTx/>
                <a:latin typeface="Trebuchet MS" panose="020B0603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5FCBEF"/>
              </a:solidFill>
              <a:effectLst/>
              <a:uLnTx/>
              <a:uFillTx/>
              <a:latin typeface="Trebuchet MS" panose="020B0603020202020204"/>
              <a:ea typeface="+mn-ea"/>
              <a:cs typeface="+mn-cs"/>
            </a:endParaRPr>
          </a:p>
        </p:txBody>
      </p:sp>
      <p:pic>
        <p:nvPicPr>
          <p:cNvPr id="8" name="Picture 7"/>
          <p:cNvPicPr>
            <a:picLocks noChangeAspect="1"/>
          </p:cNvPicPr>
          <p:nvPr/>
        </p:nvPicPr>
        <p:blipFill>
          <a:blip r:embed="rId2"/>
          <a:stretch>
            <a:fillRect/>
          </a:stretch>
        </p:blipFill>
        <p:spPr>
          <a:xfrm>
            <a:off x="5707883" y="908721"/>
            <a:ext cx="4934569" cy="2775695"/>
          </a:xfrm>
          <a:prstGeom prst="rect">
            <a:avLst/>
          </a:prstGeom>
        </p:spPr>
      </p:pic>
      <p:graphicFrame>
        <p:nvGraphicFramePr>
          <p:cNvPr id="9" name="Content Placeholder 5"/>
          <p:cNvGraphicFramePr>
            <a:graphicFrameLocks/>
          </p:cNvGraphicFramePr>
          <p:nvPr/>
        </p:nvGraphicFramePr>
        <p:xfrm>
          <a:off x="5733728" y="3865218"/>
          <a:ext cx="4852718" cy="1826878"/>
        </p:xfrm>
        <a:graphic>
          <a:graphicData uri="http://schemas.openxmlformats.org/drawingml/2006/table">
            <a:tbl>
              <a:tblPr firstRow="1" bandRow="1"/>
              <a:tblGrid>
                <a:gridCol w="3700486">
                  <a:extLst>
                    <a:ext uri="{9D8B030D-6E8A-4147-A177-3AD203B41FA5}">
                      <a16:colId xmlns:a16="http://schemas.microsoft.com/office/drawing/2014/main" val="20000"/>
                    </a:ext>
                  </a:extLst>
                </a:gridCol>
                <a:gridCol w="1152232">
                  <a:extLst>
                    <a:ext uri="{9D8B030D-6E8A-4147-A177-3AD203B41FA5}">
                      <a16:colId xmlns:a16="http://schemas.microsoft.com/office/drawing/2014/main" val="20001"/>
                    </a:ext>
                  </a:extLst>
                </a:gridCol>
              </a:tblGrid>
              <a:tr h="363838">
                <a:tc>
                  <a:txBody>
                    <a:bodyPr/>
                    <a:lstStyle>
                      <a:lvl1pPr marL="0" algn="l" defTabSz="457200" rtl="0" eaLnBrk="1" latinLnBrk="0" hangingPunct="1">
                        <a:defRPr sz="1800" b="1" kern="1200">
                          <a:solidFill>
                            <a:schemeClr val="lt1"/>
                          </a:solidFill>
                          <a:latin typeface="Tahoma"/>
                          <a:ea typeface="Osaka"/>
                        </a:defRPr>
                      </a:lvl1pPr>
                      <a:lvl2pPr marL="457200" algn="l" defTabSz="457200" rtl="0" eaLnBrk="1" latinLnBrk="0" hangingPunct="1">
                        <a:defRPr sz="1800" b="1" kern="1200">
                          <a:solidFill>
                            <a:schemeClr val="lt1"/>
                          </a:solidFill>
                          <a:latin typeface="Tahoma"/>
                          <a:ea typeface="Osaka"/>
                        </a:defRPr>
                      </a:lvl2pPr>
                      <a:lvl3pPr marL="914400" algn="l" defTabSz="457200" rtl="0" eaLnBrk="1" latinLnBrk="0" hangingPunct="1">
                        <a:defRPr sz="1800" b="1" kern="1200">
                          <a:solidFill>
                            <a:schemeClr val="lt1"/>
                          </a:solidFill>
                          <a:latin typeface="Tahoma"/>
                          <a:ea typeface="Osaka"/>
                        </a:defRPr>
                      </a:lvl3pPr>
                      <a:lvl4pPr marL="1371600" algn="l" defTabSz="457200" rtl="0" eaLnBrk="1" latinLnBrk="0" hangingPunct="1">
                        <a:defRPr sz="1800" b="1" kern="1200">
                          <a:solidFill>
                            <a:schemeClr val="lt1"/>
                          </a:solidFill>
                          <a:latin typeface="Tahoma"/>
                          <a:ea typeface="Osaka"/>
                        </a:defRPr>
                      </a:lvl4pPr>
                      <a:lvl5pPr marL="1828800" algn="l" defTabSz="457200" rtl="0" eaLnBrk="1" latinLnBrk="0" hangingPunct="1">
                        <a:defRPr sz="1800" b="1" kern="1200">
                          <a:solidFill>
                            <a:schemeClr val="lt1"/>
                          </a:solidFill>
                          <a:latin typeface="Tahoma"/>
                          <a:ea typeface="Osaka"/>
                        </a:defRPr>
                      </a:lvl5pPr>
                      <a:lvl6pPr marL="2286000" algn="l" defTabSz="457200" rtl="0" eaLnBrk="1" latinLnBrk="0" hangingPunct="1">
                        <a:defRPr sz="1800" b="1" kern="1200">
                          <a:solidFill>
                            <a:schemeClr val="lt1"/>
                          </a:solidFill>
                          <a:latin typeface="Tahoma"/>
                          <a:ea typeface="Osaka"/>
                        </a:defRPr>
                      </a:lvl6pPr>
                      <a:lvl7pPr marL="2743200" algn="l" defTabSz="457200" rtl="0" eaLnBrk="1" latinLnBrk="0" hangingPunct="1">
                        <a:defRPr sz="1800" b="1" kern="1200">
                          <a:solidFill>
                            <a:schemeClr val="lt1"/>
                          </a:solidFill>
                          <a:latin typeface="Tahoma"/>
                          <a:ea typeface="Osaka"/>
                        </a:defRPr>
                      </a:lvl7pPr>
                      <a:lvl8pPr marL="3200400" algn="l" defTabSz="457200" rtl="0" eaLnBrk="1" latinLnBrk="0" hangingPunct="1">
                        <a:defRPr sz="1800" b="1" kern="1200">
                          <a:solidFill>
                            <a:schemeClr val="lt1"/>
                          </a:solidFill>
                          <a:latin typeface="Tahoma"/>
                          <a:ea typeface="Osaka"/>
                        </a:defRPr>
                      </a:lvl8pPr>
                      <a:lvl9pPr marL="3657600" algn="l" defTabSz="457200" rtl="0" eaLnBrk="1" latinLnBrk="0" hangingPunct="1">
                        <a:defRPr sz="1800" b="1" kern="1200">
                          <a:solidFill>
                            <a:schemeClr val="lt1"/>
                          </a:solidFill>
                          <a:latin typeface="Tahoma"/>
                          <a:ea typeface="Osaka"/>
                        </a:defRPr>
                      </a:lvl9pPr>
                    </a:lstStyle>
                    <a:p>
                      <a:pPr marL="0" algn="l" defTabSz="914400" rtl="0" eaLnBrk="1" latinLnBrk="0" hangingPunct="1"/>
                      <a:endParaRPr lang="en-US" sz="1200" kern="1200" dirty="0">
                        <a:solidFill>
                          <a:schemeClr val="dk1"/>
                        </a:solidFill>
                        <a:latin typeface="+mn-lt"/>
                        <a:ea typeface="+mn-ea"/>
                        <a:cs typeface="+mn-cs"/>
                      </a:endParaRPr>
                    </a:p>
                  </a:txBody>
                  <a:tcPr marL="91442" marR="91442">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BE0E3"/>
                    </a:solidFill>
                  </a:tcPr>
                </a:tc>
                <a:tc>
                  <a:txBody>
                    <a:bodyPr/>
                    <a:lstStyle>
                      <a:lvl1pPr marL="0" algn="l" defTabSz="457200" rtl="0" eaLnBrk="1" latinLnBrk="0" hangingPunct="1">
                        <a:defRPr sz="1800" b="1" kern="1200">
                          <a:solidFill>
                            <a:schemeClr val="lt1"/>
                          </a:solidFill>
                          <a:latin typeface="Tahoma"/>
                          <a:ea typeface="Osaka"/>
                        </a:defRPr>
                      </a:lvl1pPr>
                      <a:lvl2pPr marL="457200" algn="l" defTabSz="457200" rtl="0" eaLnBrk="1" latinLnBrk="0" hangingPunct="1">
                        <a:defRPr sz="1800" b="1" kern="1200">
                          <a:solidFill>
                            <a:schemeClr val="lt1"/>
                          </a:solidFill>
                          <a:latin typeface="Tahoma"/>
                          <a:ea typeface="Osaka"/>
                        </a:defRPr>
                      </a:lvl2pPr>
                      <a:lvl3pPr marL="914400" algn="l" defTabSz="457200" rtl="0" eaLnBrk="1" latinLnBrk="0" hangingPunct="1">
                        <a:defRPr sz="1800" b="1" kern="1200">
                          <a:solidFill>
                            <a:schemeClr val="lt1"/>
                          </a:solidFill>
                          <a:latin typeface="Tahoma"/>
                          <a:ea typeface="Osaka"/>
                        </a:defRPr>
                      </a:lvl3pPr>
                      <a:lvl4pPr marL="1371600" algn="l" defTabSz="457200" rtl="0" eaLnBrk="1" latinLnBrk="0" hangingPunct="1">
                        <a:defRPr sz="1800" b="1" kern="1200">
                          <a:solidFill>
                            <a:schemeClr val="lt1"/>
                          </a:solidFill>
                          <a:latin typeface="Tahoma"/>
                          <a:ea typeface="Osaka"/>
                        </a:defRPr>
                      </a:lvl4pPr>
                      <a:lvl5pPr marL="1828800" algn="l" defTabSz="457200" rtl="0" eaLnBrk="1" latinLnBrk="0" hangingPunct="1">
                        <a:defRPr sz="1800" b="1" kern="1200">
                          <a:solidFill>
                            <a:schemeClr val="lt1"/>
                          </a:solidFill>
                          <a:latin typeface="Tahoma"/>
                          <a:ea typeface="Osaka"/>
                        </a:defRPr>
                      </a:lvl5pPr>
                      <a:lvl6pPr marL="2286000" algn="l" defTabSz="457200" rtl="0" eaLnBrk="1" latinLnBrk="0" hangingPunct="1">
                        <a:defRPr sz="1800" b="1" kern="1200">
                          <a:solidFill>
                            <a:schemeClr val="lt1"/>
                          </a:solidFill>
                          <a:latin typeface="Tahoma"/>
                          <a:ea typeface="Osaka"/>
                        </a:defRPr>
                      </a:lvl6pPr>
                      <a:lvl7pPr marL="2743200" algn="l" defTabSz="457200" rtl="0" eaLnBrk="1" latinLnBrk="0" hangingPunct="1">
                        <a:defRPr sz="1800" b="1" kern="1200">
                          <a:solidFill>
                            <a:schemeClr val="lt1"/>
                          </a:solidFill>
                          <a:latin typeface="Tahoma"/>
                          <a:ea typeface="Osaka"/>
                        </a:defRPr>
                      </a:lvl7pPr>
                      <a:lvl8pPr marL="3200400" algn="l" defTabSz="457200" rtl="0" eaLnBrk="1" latinLnBrk="0" hangingPunct="1">
                        <a:defRPr sz="1800" b="1" kern="1200">
                          <a:solidFill>
                            <a:schemeClr val="lt1"/>
                          </a:solidFill>
                          <a:latin typeface="Tahoma"/>
                          <a:ea typeface="Osaka"/>
                        </a:defRPr>
                      </a:lvl8pPr>
                      <a:lvl9pPr marL="3657600" algn="l" defTabSz="457200" rtl="0" eaLnBrk="1" latinLnBrk="0" hangingPunct="1">
                        <a:defRPr sz="1800" b="1" kern="1200">
                          <a:solidFill>
                            <a:schemeClr val="lt1"/>
                          </a:solidFill>
                          <a:latin typeface="Tahoma"/>
                          <a:ea typeface="Osaka"/>
                        </a:defRPr>
                      </a:lvl9pPr>
                    </a:lstStyle>
                    <a:p>
                      <a:r>
                        <a:rPr lang="en-US" sz="1600" b="1" dirty="0">
                          <a:solidFill>
                            <a:schemeClr val="tx1"/>
                          </a:solidFill>
                        </a:rPr>
                        <a:t>market</a:t>
                      </a:r>
                    </a:p>
                  </a:txBody>
                  <a:tcPr marL="91442" marR="91442">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BE0E3"/>
                    </a:solidFill>
                  </a:tcPr>
                </a:tc>
                <a:extLst>
                  <a:ext uri="{0D108BD9-81ED-4DB2-BD59-A6C34878D82A}">
                    <a16:rowId xmlns:a16="http://schemas.microsoft.com/office/drawing/2014/main" val="10000"/>
                  </a:ext>
                </a:extLst>
              </a:tr>
              <a:tr h="363838">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Panel producers</a:t>
                      </a:r>
                    </a:p>
                  </a:txBody>
                  <a:tcPr marL="91442" marR="91442">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dirty="0"/>
                        <a:t>1000</a:t>
                      </a:r>
                    </a:p>
                  </a:txBody>
                  <a:tcPr marL="91442" marR="91442">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extLst>
                  <a:ext uri="{0D108BD9-81ED-4DB2-BD59-A6C34878D82A}">
                    <a16:rowId xmlns:a16="http://schemas.microsoft.com/office/drawing/2014/main" val="10001"/>
                  </a:ext>
                </a:extLst>
              </a:tr>
              <a:tr h="363838">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sz="1800" dirty="0"/>
                        <a:t>Commercial test</a:t>
                      </a:r>
                      <a:r>
                        <a:rPr lang="en-US" sz="1800" baseline="0" dirty="0"/>
                        <a:t> providers</a:t>
                      </a:r>
                      <a:endParaRPr lang="en-US" sz="1800" dirty="0"/>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dirty="0"/>
                        <a:t>650</a:t>
                      </a:r>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extLst>
                  <a:ext uri="{0D108BD9-81ED-4DB2-BD59-A6C34878D82A}">
                    <a16:rowId xmlns:a16="http://schemas.microsoft.com/office/drawing/2014/main" val="10002"/>
                  </a:ext>
                </a:extLst>
              </a:tr>
              <a:tr h="363838">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sz="1800" dirty="0"/>
                        <a:t>Public R &amp; D test providers</a:t>
                      </a:r>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dirty="0"/>
                        <a:t>300</a:t>
                      </a:r>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40000"/>
                      </a:srgbClr>
                    </a:solidFill>
                  </a:tcPr>
                </a:tc>
                <a:extLst>
                  <a:ext uri="{0D108BD9-81ED-4DB2-BD59-A6C34878D82A}">
                    <a16:rowId xmlns:a16="http://schemas.microsoft.com/office/drawing/2014/main" val="10003"/>
                  </a:ext>
                </a:extLst>
              </a:tr>
              <a:tr h="363838">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sz="1800" dirty="0"/>
                        <a:t>University research equipment</a:t>
                      </a:r>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tc>
                  <a:txBody>
                    <a:bodyPr/>
                    <a:lstStyle>
                      <a:lvl1pPr marL="0" algn="l" defTabSz="457200" rtl="0" eaLnBrk="1" latinLnBrk="0" hangingPunct="1">
                        <a:defRPr sz="1800" kern="1200">
                          <a:solidFill>
                            <a:schemeClr val="dk1"/>
                          </a:solidFill>
                          <a:latin typeface="Tahoma"/>
                          <a:ea typeface="Osaka"/>
                        </a:defRPr>
                      </a:lvl1pPr>
                      <a:lvl2pPr marL="457200" algn="l" defTabSz="457200" rtl="0" eaLnBrk="1" latinLnBrk="0" hangingPunct="1">
                        <a:defRPr sz="1800" kern="1200">
                          <a:solidFill>
                            <a:schemeClr val="dk1"/>
                          </a:solidFill>
                          <a:latin typeface="Tahoma"/>
                          <a:ea typeface="Osaka"/>
                        </a:defRPr>
                      </a:lvl2pPr>
                      <a:lvl3pPr marL="914400" algn="l" defTabSz="457200" rtl="0" eaLnBrk="1" latinLnBrk="0" hangingPunct="1">
                        <a:defRPr sz="1800" kern="1200">
                          <a:solidFill>
                            <a:schemeClr val="dk1"/>
                          </a:solidFill>
                          <a:latin typeface="Tahoma"/>
                          <a:ea typeface="Osaka"/>
                        </a:defRPr>
                      </a:lvl3pPr>
                      <a:lvl4pPr marL="1371600" algn="l" defTabSz="457200" rtl="0" eaLnBrk="1" latinLnBrk="0" hangingPunct="1">
                        <a:defRPr sz="1800" kern="1200">
                          <a:solidFill>
                            <a:schemeClr val="dk1"/>
                          </a:solidFill>
                          <a:latin typeface="Tahoma"/>
                          <a:ea typeface="Osaka"/>
                        </a:defRPr>
                      </a:lvl4pPr>
                      <a:lvl5pPr marL="1828800" algn="l" defTabSz="457200" rtl="0" eaLnBrk="1" latinLnBrk="0" hangingPunct="1">
                        <a:defRPr sz="1800" kern="1200">
                          <a:solidFill>
                            <a:schemeClr val="dk1"/>
                          </a:solidFill>
                          <a:latin typeface="Tahoma"/>
                          <a:ea typeface="Osaka"/>
                        </a:defRPr>
                      </a:lvl5pPr>
                      <a:lvl6pPr marL="2286000" algn="l" defTabSz="457200" rtl="0" eaLnBrk="1" latinLnBrk="0" hangingPunct="1">
                        <a:defRPr sz="1800" kern="1200">
                          <a:solidFill>
                            <a:schemeClr val="dk1"/>
                          </a:solidFill>
                          <a:latin typeface="Tahoma"/>
                          <a:ea typeface="Osaka"/>
                        </a:defRPr>
                      </a:lvl6pPr>
                      <a:lvl7pPr marL="2743200" algn="l" defTabSz="457200" rtl="0" eaLnBrk="1" latinLnBrk="0" hangingPunct="1">
                        <a:defRPr sz="1800" kern="1200">
                          <a:solidFill>
                            <a:schemeClr val="dk1"/>
                          </a:solidFill>
                          <a:latin typeface="Tahoma"/>
                          <a:ea typeface="Osaka"/>
                        </a:defRPr>
                      </a:lvl7pPr>
                      <a:lvl8pPr marL="3200400" algn="l" defTabSz="457200" rtl="0" eaLnBrk="1" latinLnBrk="0" hangingPunct="1">
                        <a:defRPr sz="1800" kern="1200">
                          <a:solidFill>
                            <a:schemeClr val="dk1"/>
                          </a:solidFill>
                          <a:latin typeface="Tahoma"/>
                          <a:ea typeface="Osaka"/>
                        </a:defRPr>
                      </a:lvl8pPr>
                      <a:lvl9pPr marL="3657600" algn="l" defTabSz="457200" rtl="0" eaLnBrk="1" latinLnBrk="0" hangingPunct="1">
                        <a:defRPr sz="1800" kern="1200">
                          <a:solidFill>
                            <a:schemeClr val="dk1"/>
                          </a:solidFill>
                          <a:latin typeface="Tahoma"/>
                          <a:ea typeface="Osaka"/>
                        </a:defRPr>
                      </a:lvl9pPr>
                    </a:lstStyle>
                    <a:p>
                      <a:r>
                        <a:rPr lang="en-US" dirty="0"/>
                        <a:t>50</a:t>
                      </a:r>
                    </a:p>
                  </a:txBody>
                  <a:tcPr marL="91442" marR="91442">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BE0E3">
                        <a:tint val="2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1836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46820" y="114686"/>
            <a:ext cx="1959191" cy="461665"/>
          </a:xfrm>
          <a:prstGeom prst="rect">
            <a:avLst/>
          </a:prstGeom>
          <a:noFill/>
        </p:spPr>
        <p:txBody>
          <a:bodyPr wrap="none" rtlCol="0">
            <a:spAutoFit/>
          </a:bodyPr>
          <a:lstStyle/>
          <a:p>
            <a:r>
              <a:rPr lang="en-US" sz="2400" b="1" dirty="0">
                <a:solidFill>
                  <a:schemeClr val="tx1">
                    <a:lumMod val="65000"/>
                    <a:lumOff val="35000"/>
                  </a:schemeClr>
                </a:solidFill>
              </a:rPr>
              <a:t>Lean Canvas</a:t>
            </a:r>
          </a:p>
        </p:txBody>
      </p:sp>
      <p:sp>
        <p:nvSpPr>
          <p:cNvPr id="7" name="TextBox 6"/>
          <p:cNvSpPr txBox="1"/>
          <p:nvPr/>
        </p:nvSpPr>
        <p:spPr>
          <a:xfrm>
            <a:off x="5334000" y="114684"/>
            <a:ext cx="3276600" cy="461666"/>
          </a:xfrm>
          <a:prstGeom prst="rect">
            <a:avLst/>
          </a:prstGeom>
          <a:solidFill>
            <a:schemeClr val="bg1">
              <a:lumMod val="95000"/>
            </a:schemeClr>
          </a:solidFill>
        </p:spPr>
        <p:txBody>
          <a:bodyPr wrap="square" rtlCol="0" anchor="ctr">
            <a:noAutofit/>
          </a:bodyPr>
          <a:lstStyle/>
          <a:p>
            <a:pPr algn="ctr"/>
            <a:r>
              <a:rPr lang="en-US" dirty="0">
                <a:solidFill>
                  <a:schemeClr val="tx1">
                    <a:lumMod val="75000"/>
                    <a:lumOff val="25000"/>
                  </a:schemeClr>
                </a:solidFill>
              </a:rPr>
              <a:t>Project Name</a:t>
            </a:r>
          </a:p>
        </p:txBody>
      </p:sp>
      <p:sp>
        <p:nvSpPr>
          <p:cNvPr id="18" name="Rounded Rectangle 17"/>
          <p:cNvSpPr/>
          <p:nvPr/>
        </p:nvSpPr>
        <p:spPr>
          <a:xfrm>
            <a:off x="1676401" y="4639985"/>
            <a:ext cx="4398041" cy="1338408"/>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Cost Structure</a:t>
            </a:r>
          </a:p>
          <a:p>
            <a:endParaRPr lang="en-US" sz="1200" dirty="0">
              <a:solidFill>
                <a:schemeClr val="tx1"/>
              </a:solidFill>
              <a:latin typeface="Arial" pitchFamily="34" charset="0"/>
              <a:cs typeface="Arial" pitchFamily="34" charset="0"/>
            </a:endParaRPr>
          </a:p>
          <a:p>
            <a:r>
              <a:rPr lang="en-US" sz="1200" dirty="0">
                <a:solidFill>
                  <a:schemeClr val="tx1"/>
                </a:solidFill>
                <a:latin typeface="Arial" pitchFamily="34" charset="0"/>
                <a:cs typeface="Arial" pitchFamily="34" charset="0"/>
              </a:rPr>
              <a:t>Customer Acquisition costs</a:t>
            </a:r>
          </a:p>
          <a:p>
            <a:r>
              <a:rPr lang="en-US" sz="1200" dirty="0">
                <a:solidFill>
                  <a:schemeClr val="tx1"/>
                </a:solidFill>
                <a:latin typeface="Arial" pitchFamily="34" charset="0"/>
                <a:cs typeface="Arial" pitchFamily="34" charset="0"/>
              </a:rPr>
              <a:t>Distribution costs</a:t>
            </a:r>
          </a:p>
          <a:p>
            <a:r>
              <a:rPr lang="en-US" sz="1200" dirty="0">
                <a:solidFill>
                  <a:schemeClr val="tx1"/>
                </a:solidFill>
                <a:latin typeface="Arial" pitchFamily="34" charset="0"/>
                <a:cs typeface="Arial" pitchFamily="34" charset="0"/>
              </a:rPr>
              <a:t>Hosting</a:t>
            </a:r>
          </a:p>
          <a:p>
            <a:r>
              <a:rPr lang="en-US" sz="1200" dirty="0">
                <a:solidFill>
                  <a:schemeClr val="tx1"/>
                </a:solidFill>
                <a:latin typeface="Arial" pitchFamily="34" charset="0"/>
                <a:cs typeface="Arial" pitchFamily="34" charset="0"/>
              </a:rPr>
              <a:t>People, etc.</a:t>
            </a:r>
          </a:p>
        </p:txBody>
      </p:sp>
      <p:sp>
        <p:nvSpPr>
          <p:cNvPr id="19" name="Rounded Rectangle 18"/>
          <p:cNvSpPr/>
          <p:nvPr/>
        </p:nvSpPr>
        <p:spPr>
          <a:xfrm>
            <a:off x="6074442" y="4639985"/>
            <a:ext cx="4398041" cy="1338408"/>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Revenue Streams</a:t>
            </a:r>
          </a:p>
          <a:p>
            <a:endParaRPr lang="en-US" sz="1200" dirty="0">
              <a:solidFill>
                <a:schemeClr val="tx1"/>
              </a:solidFill>
              <a:latin typeface="Arial" pitchFamily="34" charset="0"/>
              <a:cs typeface="Arial" pitchFamily="34" charset="0"/>
            </a:endParaRPr>
          </a:p>
          <a:p>
            <a:r>
              <a:rPr lang="en-US" sz="1200" dirty="0">
                <a:solidFill>
                  <a:schemeClr val="tx1"/>
                </a:solidFill>
                <a:latin typeface="Arial" pitchFamily="34" charset="0"/>
                <a:cs typeface="Arial" pitchFamily="34" charset="0"/>
              </a:rPr>
              <a:t>Revenue Model</a:t>
            </a:r>
          </a:p>
          <a:p>
            <a:r>
              <a:rPr lang="en-US" sz="1200" dirty="0">
                <a:solidFill>
                  <a:schemeClr val="tx1"/>
                </a:solidFill>
                <a:latin typeface="Arial" pitchFamily="34" charset="0"/>
                <a:cs typeface="Arial" pitchFamily="34" charset="0"/>
              </a:rPr>
              <a:t>Life Time Value</a:t>
            </a:r>
          </a:p>
          <a:p>
            <a:r>
              <a:rPr lang="en-US" sz="1200" dirty="0">
                <a:solidFill>
                  <a:schemeClr val="tx1"/>
                </a:solidFill>
                <a:latin typeface="Arial" pitchFamily="34" charset="0"/>
                <a:cs typeface="Arial" pitchFamily="34" charset="0"/>
              </a:rPr>
              <a:t>Revenue</a:t>
            </a:r>
          </a:p>
          <a:p>
            <a:r>
              <a:rPr lang="en-US" sz="1200" dirty="0">
                <a:solidFill>
                  <a:schemeClr val="tx1"/>
                </a:solidFill>
                <a:latin typeface="Arial" pitchFamily="34" charset="0"/>
                <a:cs typeface="Arial" pitchFamily="34" charset="0"/>
              </a:rPr>
              <a:t>Gross Margin</a:t>
            </a:r>
          </a:p>
        </p:txBody>
      </p:sp>
      <p:sp>
        <p:nvSpPr>
          <p:cNvPr id="4" name="Rounded Rectangle 3"/>
          <p:cNvSpPr/>
          <p:nvPr/>
        </p:nvSpPr>
        <p:spPr>
          <a:xfrm>
            <a:off x="1676400" y="664126"/>
            <a:ext cx="1764792" cy="397585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Problem</a:t>
            </a:r>
          </a:p>
          <a:p>
            <a:endParaRPr lang="en-US" sz="1200" dirty="0">
              <a:solidFill>
                <a:schemeClr val="tx1"/>
              </a:solidFill>
              <a:latin typeface="Arial" pitchFamily="34" charset="0"/>
              <a:cs typeface="Arial" pitchFamily="34" charset="0"/>
            </a:endParaRPr>
          </a:p>
          <a:p>
            <a:r>
              <a:rPr lang="en-US" sz="1200" dirty="0">
                <a:solidFill>
                  <a:schemeClr val="tx1"/>
                </a:solidFill>
                <a:latin typeface="Arial" pitchFamily="34" charset="0"/>
                <a:cs typeface="Arial" pitchFamily="34" charset="0"/>
              </a:rPr>
              <a:t>Top 3 problems</a:t>
            </a:r>
          </a:p>
        </p:txBody>
      </p:sp>
      <p:sp>
        <p:nvSpPr>
          <p:cNvPr id="12" name="Rounded Rectangle 11"/>
          <p:cNvSpPr/>
          <p:nvPr/>
        </p:nvSpPr>
        <p:spPr>
          <a:xfrm>
            <a:off x="3441192" y="664126"/>
            <a:ext cx="1764792" cy="198792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Solution</a:t>
            </a:r>
          </a:p>
          <a:p>
            <a:endParaRPr lang="en-US" sz="1200" dirty="0">
              <a:solidFill>
                <a:schemeClr val="tx1"/>
              </a:solidFill>
              <a:latin typeface="Arial" pitchFamily="34" charset="0"/>
              <a:cs typeface="Arial" pitchFamily="34" charset="0"/>
            </a:endParaRPr>
          </a:p>
          <a:p>
            <a:r>
              <a:rPr lang="en-US" sz="1200" dirty="0">
                <a:solidFill>
                  <a:schemeClr val="tx1"/>
                </a:solidFill>
                <a:latin typeface="Arial" pitchFamily="34" charset="0"/>
                <a:cs typeface="Arial" pitchFamily="34" charset="0"/>
              </a:rPr>
              <a:t>Top 3 features</a:t>
            </a:r>
          </a:p>
        </p:txBody>
      </p:sp>
      <p:sp>
        <p:nvSpPr>
          <p:cNvPr id="13" name="Rounded Rectangle 12"/>
          <p:cNvSpPr/>
          <p:nvPr/>
        </p:nvSpPr>
        <p:spPr>
          <a:xfrm>
            <a:off x="3441192" y="2652055"/>
            <a:ext cx="1764792" cy="198792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Key Metrics</a:t>
            </a:r>
          </a:p>
          <a:p>
            <a:r>
              <a:rPr lang="en-US" sz="1200" dirty="0">
                <a:solidFill>
                  <a:schemeClr val="tx1"/>
                </a:solidFill>
                <a:latin typeface="Arial" pitchFamily="34" charset="0"/>
                <a:cs typeface="Arial" pitchFamily="34" charset="0"/>
              </a:rPr>
              <a:t>Key activities you measure</a:t>
            </a:r>
          </a:p>
        </p:txBody>
      </p:sp>
      <p:sp>
        <p:nvSpPr>
          <p:cNvPr id="14" name="Rounded Rectangle 13"/>
          <p:cNvSpPr/>
          <p:nvPr/>
        </p:nvSpPr>
        <p:spPr>
          <a:xfrm>
            <a:off x="5178106" y="664126"/>
            <a:ext cx="1764792" cy="397585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Unique Value Proposition</a:t>
            </a:r>
          </a:p>
          <a:p>
            <a:r>
              <a:rPr lang="en-US" sz="1200" dirty="0">
                <a:solidFill>
                  <a:schemeClr val="tx1"/>
                </a:solidFill>
                <a:latin typeface="Arial" pitchFamily="34" charset="0"/>
                <a:cs typeface="Arial" pitchFamily="34" charset="0"/>
              </a:rPr>
              <a:t>Single, clear, compelling message that states why you are different and worth paying attention</a:t>
            </a:r>
          </a:p>
        </p:txBody>
      </p:sp>
      <p:sp>
        <p:nvSpPr>
          <p:cNvPr id="15" name="Rounded Rectangle 14"/>
          <p:cNvSpPr/>
          <p:nvPr/>
        </p:nvSpPr>
        <p:spPr>
          <a:xfrm>
            <a:off x="6942898" y="664126"/>
            <a:ext cx="1764792" cy="198792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Unfair Advantage</a:t>
            </a:r>
          </a:p>
          <a:p>
            <a:r>
              <a:rPr lang="en-US" sz="1200" dirty="0">
                <a:solidFill>
                  <a:schemeClr val="tx1"/>
                </a:solidFill>
                <a:latin typeface="Arial" pitchFamily="34" charset="0"/>
                <a:cs typeface="Arial" pitchFamily="34" charset="0"/>
              </a:rPr>
              <a:t>Can’t be easily copied or bought</a:t>
            </a:r>
          </a:p>
        </p:txBody>
      </p:sp>
      <p:sp>
        <p:nvSpPr>
          <p:cNvPr id="16" name="Rounded Rectangle 15"/>
          <p:cNvSpPr/>
          <p:nvPr/>
        </p:nvSpPr>
        <p:spPr>
          <a:xfrm>
            <a:off x="6942898" y="2652055"/>
            <a:ext cx="1764792" cy="198792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Channels</a:t>
            </a:r>
          </a:p>
          <a:p>
            <a:r>
              <a:rPr lang="en-US" sz="1200" dirty="0">
                <a:solidFill>
                  <a:schemeClr val="tx1"/>
                </a:solidFill>
                <a:latin typeface="Arial" pitchFamily="34" charset="0"/>
                <a:cs typeface="Arial" pitchFamily="34" charset="0"/>
              </a:rPr>
              <a:t>Path to customers</a:t>
            </a:r>
          </a:p>
        </p:txBody>
      </p:sp>
      <p:sp>
        <p:nvSpPr>
          <p:cNvPr id="17" name="Rounded Rectangle 16"/>
          <p:cNvSpPr/>
          <p:nvPr/>
        </p:nvSpPr>
        <p:spPr>
          <a:xfrm>
            <a:off x="8707690" y="664126"/>
            <a:ext cx="1764792" cy="3975859"/>
          </a:xfrm>
          <a:prstGeom prst="roundRect">
            <a:avLst>
              <a:gd name="adj" fmla="val 0"/>
            </a:avLst>
          </a:prstGeom>
          <a:gradFill>
            <a:gsLst>
              <a:gs pos="0">
                <a:schemeClr val="bg1">
                  <a:lumMod val="95000"/>
                </a:schemeClr>
              </a:gs>
              <a:gs pos="100000">
                <a:schemeClr val="bg1"/>
              </a:gs>
            </a:gsLst>
          </a:gradFill>
          <a:ln w="1905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dirty="0">
                <a:solidFill>
                  <a:schemeClr val="tx1"/>
                </a:solidFill>
                <a:latin typeface="Arial" pitchFamily="34" charset="0"/>
                <a:cs typeface="Arial" pitchFamily="34" charset="0"/>
              </a:rPr>
              <a:t>Customer Segments</a:t>
            </a:r>
          </a:p>
          <a:p>
            <a:r>
              <a:rPr lang="en-US" sz="1200" dirty="0">
                <a:solidFill>
                  <a:schemeClr val="tx1"/>
                </a:solidFill>
                <a:latin typeface="Arial" pitchFamily="34" charset="0"/>
                <a:cs typeface="Arial" pitchFamily="34" charset="0"/>
              </a:rPr>
              <a:t>Target customers</a:t>
            </a:r>
          </a:p>
        </p:txBody>
      </p:sp>
      <p:sp>
        <p:nvSpPr>
          <p:cNvPr id="5" name="Rounded Rectangle 4"/>
          <p:cNvSpPr/>
          <p:nvPr/>
        </p:nvSpPr>
        <p:spPr>
          <a:xfrm>
            <a:off x="1676400" y="664126"/>
            <a:ext cx="8796082" cy="5314267"/>
          </a:xfrm>
          <a:prstGeom prst="roundRect">
            <a:avLst>
              <a:gd name="adj" fmla="val 0"/>
            </a:avLst>
          </a:prstGeom>
          <a:noFill/>
          <a:ln w="38100">
            <a:solidFill>
              <a:schemeClr val="bg1">
                <a:lumMod val="50000"/>
              </a:schemeClr>
            </a:solidFill>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112713">
              <a:buFont typeface="Arial" pitchFamily="34" charset="0"/>
              <a:buChar char="•"/>
            </a:pPr>
            <a:endParaRPr lang="en-US" sz="2000" dirty="0">
              <a:solidFill>
                <a:schemeClr val="tx1"/>
              </a:solidFill>
            </a:endParaRPr>
          </a:p>
        </p:txBody>
      </p:sp>
      <p:sp>
        <p:nvSpPr>
          <p:cNvPr id="37" name="Rectangle 36"/>
          <p:cNvSpPr/>
          <p:nvPr/>
        </p:nvSpPr>
        <p:spPr>
          <a:xfrm>
            <a:off x="3277342" y="6028996"/>
            <a:ext cx="1196161" cy="338554"/>
          </a:xfrm>
          <a:prstGeom prst="rect">
            <a:avLst/>
          </a:prstGeom>
        </p:spPr>
        <p:txBody>
          <a:bodyPr wrap="none">
            <a:spAutoFit/>
          </a:bodyPr>
          <a:lstStyle/>
          <a:p>
            <a:pPr algn="ctr"/>
            <a:r>
              <a:rPr lang="en-US" sz="1600" dirty="0">
                <a:solidFill>
                  <a:srgbClr val="007DDA"/>
                </a:solidFill>
                <a:latin typeface="Arial" pitchFamily="34" charset="0"/>
                <a:cs typeface="Arial" pitchFamily="34" charset="0"/>
              </a:rPr>
              <a:t>PRODUCT</a:t>
            </a:r>
            <a:endParaRPr lang="en-US" sz="2000" dirty="0">
              <a:solidFill>
                <a:srgbClr val="007DDA"/>
              </a:solidFill>
            </a:endParaRPr>
          </a:p>
        </p:txBody>
      </p:sp>
      <p:sp>
        <p:nvSpPr>
          <p:cNvPr id="39" name="Rectangle 38"/>
          <p:cNvSpPr/>
          <p:nvPr/>
        </p:nvSpPr>
        <p:spPr>
          <a:xfrm>
            <a:off x="7754731" y="6028996"/>
            <a:ext cx="1037463" cy="338554"/>
          </a:xfrm>
          <a:prstGeom prst="rect">
            <a:avLst/>
          </a:prstGeom>
        </p:spPr>
        <p:txBody>
          <a:bodyPr wrap="none">
            <a:spAutoFit/>
          </a:bodyPr>
          <a:lstStyle/>
          <a:p>
            <a:pPr algn="ctr"/>
            <a:r>
              <a:rPr lang="en-US" sz="1600" dirty="0">
                <a:solidFill>
                  <a:srgbClr val="007DDA"/>
                </a:solidFill>
                <a:latin typeface="Arial" pitchFamily="34" charset="0"/>
                <a:cs typeface="Arial" pitchFamily="34" charset="0"/>
              </a:rPr>
              <a:t>MARKET</a:t>
            </a:r>
            <a:endParaRPr lang="en-US" sz="2000" dirty="0">
              <a:solidFill>
                <a:srgbClr val="007DDA"/>
              </a:solidFill>
            </a:endParaRPr>
          </a:p>
        </p:txBody>
      </p:sp>
      <p:cxnSp>
        <p:nvCxnSpPr>
          <p:cNvPr id="10" name="Straight Connector 9"/>
          <p:cNvCxnSpPr/>
          <p:nvPr/>
        </p:nvCxnSpPr>
        <p:spPr>
          <a:xfrm flipV="1">
            <a:off x="6074442" y="664126"/>
            <a:ext cx="0" cy="5731399"/>
          </a:xfrm>
          <a:prstGeom prst="line">
            <a:avLst/>
          </a:prstGeom>
          <a:ln w="19050" cap="rnd">
            <a:solidFill>
              <a:srgbClr val="007DDA">
                <a:alpha val="50000"/>
              </a:srgb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698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9" name="Picture 5"/>
          <p:cNvPicPr>
            <a:picLocks noChangeAspect="1" noChangeArrowheads="1"/>
          </p:cNvPicPr>
          <p:nvPr/>
        </p:nvPicPr>
        <p:blipFill>
          <a:blip r:embed="rId2" cstate="screen">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1506291" y="4140572"/>
            <a:ext cx="2606675"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7238653" y="4043904"/>
            <a:ext cx="3600400" cy="1841003"/>
          </a:xfrm>
          <a:prstGeom prst="rect">
            <a:avLst/>
          </a:prstGeom>
          <a:noFill/>
          <a:ln>
            <a:noFill/>
          </a:ln>
        </p:spPr>
      </p:pic>
      <p:sp>
        <p:nvSpPr>
          <p:cNvPr id="15" name="Rectangle 2"/>
          <p:cNvSpPr>
            <a:spLocks noChangeArrowheads="1"/>
          </p:cNvSpPr>
          <p:nvPr/>
        </p:nvSpPr>
        <p:spPr bwMode="auto">
          <a:xfrm>
            <a:off x="1105376" y="487446"/>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sp>
        <p:nvSpPr>
          <p:cNvPr id="12" name="5-Point Star 11"/>
          <p:cNvSpPr/>
          <p:nvPr/>
        </p:nvSpPr>
        <p:spPr bwMode="auto">
          <a:xfrm>
            <a:off x="9480376" y="116632"/>
            <a:ext cx="1008112" cy="936104"/>
          </a:xfrm>
          <a:prstGeom prst="star5">
            <a:avLst/>
          </a:prstGeom>
          <a:solidFill>
            <a:srgbClr val="FFFF00"/>
          </a:solidFill>
          <a:ln>
            <a:solidFill>
              <a:srgbClr val="FFFF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400">
              <a:solidFill>
                <a:schemeClr val="tx1"/>
              </a:solidFill>
              <a:latin typeface="Tahoma" charset="0"/>
              <a:ea typeface="ＭＳ Ｐゴシック" charset="0"/>
            </a:endParaRPr>
          </a:p>
        </p:txBody>
      </p:sp>
      <p:pic>
        <p:nvPicPr>
          <p:cNvPr id="14" name="Picture 13"/>
          <p:cNvPicPr>
            <a:picLocks noChangeAspect="1"/>
          </p:cNvPicPr>
          <p:nvPr/>
        </p:nvPicPr>
        <p:blipFill>
          <a:blip r:embed="rId4"/>
          <a:stretch>
            <a:fillRect/>
          </a:stretch>
        </p:blipFill>
        <p:spPr>
          <a:xfrm>
            <a:off x="2205440" y="1352626"/>
            <a:ext cx="4785421" cy="2808730"/>
          </a:xfrm>
          <a:prstGeom prst="rect">
            <a:avLst/>
          </a:prstGeom>
        </p:spPr>
      </p:pic>
      <p:cxnSp>
        <p:nvCxnSpPr>
          <p:cNvPr id="4" name="Straight Arrow Connector 3"/>
          <p:cNvCxnSpPr/>
          <p:nvPr/>
        </p:nvCxnSpPr>
        <p:spPr bwMode="auto">
          <a:xfrm>
            <a:off x="3690880" y="2106184"/>
            <a:ext cx="3547773" cy="2465248"/>
          </a:xfrm>
          <a:prstGeom prst="straightConnector1">
            <a:avLst/>
          </a:prstGeom>
          <a:solidFill>
            <a:schemeClr val="accent1"/>
          </a:solidFill>
          <a:ln w="412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p:cNvCxnSpPr/>
          <p:nvPr/>
        </p:nvCxnSpPr>
        <p:spPr bwMode="auto">
          <a:xfrm>
            <a:off x="6757408" y="1925800"/>
            <a:ext cx="2722968" cy="2044352"/>
          </a:xfrm>
          <a:prstGeom prst="straightConnector1">
            <a:avLst/>
          </a:prstGeom>
          <a:solidFill>
            <a:schemeClr val="accent1"/>
          </a:solidFill>
          <a:ln w="41275" cap="flat" cmpd="sng" algn="ctr">
            <a:solidFill>
              <a:srgbClr val="C0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58855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bwMode="auto">
          <a:xfrm>
            <a:off x="1350976" y="1472240"/>
            <a:ext cx="3662720" cy="4326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r>
              <a:rPr lang="en-US" kern="0" dirty="0">
                <a:solidFill>
                  <a:srgbClr val="357723"/>
                </a:solidFill>
              </a:rPr>
              <a:t>Technology / solution </a:t>
            </a:r>
            <a:endParaRPr lang="nl-NL" kern="0" dirty="0">
              <a:solidFill>
                <a:srgbClr val="357723"/>
              </a:solidFill>
            </a:endParaRPr>
          </a:p>
        </p:txBody>
      </p:sp>
      <p:sp>
        <p:nvSpPr>
          <p:cNvPr id="9" name="Content Placeholder 2"/>
          <p:cNvSpPr txBox="1">
            <a:spLocks/>
          </p:cNvSpPr>
          <p:nvPr/>
        </p:nvSpPr>
        <p:spPr bwMode="auto">
          <a:xfrm>
            <a:off x="6014060" y="1472240"/>
            <a:ext cx="2753740" cy="4326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r>
              <a:rPr lang="en-US" kern="0" dirty="0">
                <a:solidFill>
                  <a:srgbClr val="FF9999"/>
                </a:solidFill>
              </a:rPr>
              <a:t>Users / customers</a:t>
            </a:r>
            <a:endParaRPr lang="nl-NL" kern="0" dirty="0">
              <a:solidFill>
                <a:srgbClr val="FF9999"/>
              </a:solidFill>
            </a:endParaRPr>
          </a:p>
        </p:txBody>
      </p:sp>
      <p:pic>
        <p:nvPicPr>
          <p:cNvPr id="1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8851"/>
          <a:stretch/>
        </p:blipFill>
        <p:spPr bwMode="auto">
          <a:xfrm>
            <a:off x="4811825" y="1895504"/>
            <a:ext cx="4009839"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995400" y="1895504"/>
            <a:ext cx="3919790"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2"/>
          <p:cNvSpPr>
            <a:spLocks noChangeArrowheads="1"/>
          </p:cNvSpPr>
          <p:nvPr/>
        </p:nvSpPr>
        <p:spPr bwMode="auto">
          <a:xfrm>
            <a:off x="383840" y="482728"/>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sp>
        <p:nvSpPr>
          <p:cNvPr id="3" name="TextBox 2"/>
          <p:cNvSpPr txBox="1"/>
          <p:nvPr/>
        </p:nvSpPr>
        <p:spPr>
          <a:xfrm>
            <a:off x="-972616" y="486916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449878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809" y="1628800"/>
            <a:ext cx="6678162"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sp>
        <p:nvSpPr>
          <p:cNvPr id="6" name="Rectangle 3"/>
          <p:cNvSpPr>
            <a:spLocks noGrp="1" noChangeArrowheads="1"/>
          </p:cNvSpPr>
          <p:nvPr>
            <p:ph idx="1"/>
          </p:nvPr>
        </p:nvSpPr>
        <p:spPr>
          <a:xfrm>
            <a:off x="2099593" y="1124744"/>
            <a:ext cx="8244879" cy="4392612"/>
          </a:xfrm>
        </p:spPr>
        <p:txBody>
          <a:bodyPr/>
          <a:lstStyle/>
          <a:p>
            <a:pPr>
              <a:lnSpc>
                <a:spcPct val="150000"/>
              </a:lnSpc>
              <a:buFontTx/>
              <a:buChar char="-"/>
              <a:defRPr/>
            </a:pPr>
            <a:r>
              <a:rPr lang="en-GB" dirty="0">
                <a:solidFill>
                  <a:srgbClr val="002B60"/>
                </a:solidFill>
                <a:latin typeface="Arial" panose="020B0604020202020204" pitchFamily="34" charset="0"/>
                <a:ea typeface="+mj-ea"/>
                <a:cs typeface="Arial" panose="020B0604020202020204" pitchFamily="34" charset="0"/>
              </a:rPr>
              <a:t>Develop a fit between the offer you have and the customer needs</a:t>
            </a:r>
            <a:endParaRPr lang="en-US" dirty="0">
              <a:solidFill>
                <a:srgbClr val="002B60"/>
              </a:solidFill>
              <a:latin typeface="Arial" panose="020B0604020202020204" pitchFamily="34" charset="0"/>
              <a:ea typeface="+mj-ea"/>
              <a:cs typeface="Arial" panose="020B0604020202020204" pitchFamily="34" charset="0"/>
            </a:endParaRPr>
          </a:p>
        </p:txBody>
      </p:sp>
      <p:sp>
        <p:nvSpPr>
          <p:cNvPr id="8" name="Rectangle 7"/>
          <p:cNvSpPr/>
          <p:nvPr/>
        </p:nvSpPr>
        <p:spPr>
          <a:xfrm>
            <a:off x="3071664" y="5229200"/>
            <a:ext cx="7560840" cy="1077218"/>
          </a:xfrm>
          <a:prstGeom prst="rect">
            <a:avLst/>
          </a:prstGeom>
        </p:spPr>
        <p:txBody>
          <a:bodyPr wrap="square">
            <a:spAutoFit/>
          </a:bodyPr>
          <a:lstStyle/>
          <a:p>
            <a:r>
              <a:rPr lang="en-US" sz="1600" dirty="0">
                <a:hlinkClick r:id="rId3"/>
              </a:rPr>
              <a:t>http://designabetterbusiness.com/2017/10/12/how-to-really-understand-your-customer-with-the-value-proposition-canvas/</a:t>
            </a:r>
            <a:endParaRPr lang="en-US" sz="1600" dirty="0"/>
          </a:p>
          <a:p>
            <a:r>
              <a:rPr lang="en-US" sz="1600" dirty="0">
                <a:hlinkClick r:id="rId4"/>
              </a:rPr>
              <a:t>https://strategyzer.com/canvas/value-proposition-canvas</a:t>
            </a:r>
            <a:endParaRPr lang="en-US" sz="1600" dirty="0"/>
          </a:p>
          <a:p>
            <a:endParaRPr lang="en-US" sz="1600" dirty="0"/>
          </a:p>
        </p:txBody>
      </p:sp>
      <p:sp>
        <p:nvSpPr>
          <p:cNvPr id="2" name="TextBox 1"/>
          <p:cNvSpPr txBox="1"/>
          <p:nvPr/>
        </p:nvSpPr>
        <p:spPr>
          <a:xfrm>
            <a:off x="1631504" y="5302949"/>
            <a:ext cx="1944216" cy="784830"/>
          </a:xfrm>
          <a:prstGeom prst="rect">
            <a:avLst/>
          </a:prstGeom>
          <a:noFill/>
        </p:spPr>
        <p:txBody>
          <a:bodyPr wrap="square" rtlCol="0">
            <a:spAutoFit/>
          </a:bodyPr>
          <a:lstStyle/>
          <a:p>
            <a:r>
              <a:rPr lang="en-US" dirty="0"/>
              <a:t>Further Info:</a:t>
            </a:r>
          </a:p>
          <a:p>
            <a:endParaRPr lang="en-US" sz="900" dirty="0"/>
          </a:p>
          <a:p>
            <a:r>
              <a:rPr lang="en-US" dirty="0"/>
              <a:t>Download</a:t>
            </a:r>
          </a:p>
        </p:txBody>
      </p:sp>
      <p:sp>
        <p:nvSpPr>
          <p:cNvPr id="3" name="Rectangle 2"/>
          <p:cNvSpPr/>
          <p:nvPr/>
        </p:nvSpPr>
        <p:spPr>
          <a:xfrm>
            <a:off x="2024485" y="4794486"/>
            <a:ext cx="3018775" cy="338554"/>
          </a:xfrm>
          <a:prstGeom prst="rect">
            <a:avLst/>
          </a:prstGeom>
        </p:spPr>
        <p:txBody>
          <a:bodyPr wrap="none">
            <a:spAutoFit/>
          </a:bodyPr>
          <a:lstStyle/>
          <a:p>
            <a:r>
              <a:rPr lang="nl-NL" sz="1600" dirty="0"/>
              <a:t>https://youtu.be/jUsrkasOBVk</a:t>
            </a:r>
          </a:p>
        </p:txBody>
      </p:sp>
    </p:spTree>
    <p:extLst>
      <p:ext uri="{BB962C8B-B14F-4D97-AF65-F5344CB8AC3E}">
        <p14:creationId xmlns:p14="http://schemas.microsoft.com/office/powerpoint/2010/main" val="1567778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idx="1"/>
          </p:nvPr>
        </p:nvSpPr>
        <p:spPr>
          <a:xfrm>
            <a:off x="1285760" y="1204264"/>
            <a:ext cx="8758798" cy="4689984"/>
          </a:xfrm>
        </p:spPr>
        <p:txBody>
          <a:bodyPr>
            <a:normAutofit/>
          </a:bodyPr>
          <a:lstStyle/>
          <a:p>
            <a:pPr marL="0" indent="0">
              <a:lnSpc>
                <a:spcPct val="90000"/>
              </a:lnSpc>
              <a:buNone/>
              <a:defRPr/>
            </a:pPr>
            <a:r>
              <a:rPr lang="en-US" dirty="0">
                <a:solidFill>
                  <a:srgbClr val="002B60"/>
                </a:solidFill>
                <a:latin typeface="Arial" panose="020B0604020202020204" pitchFamily="34" charset="0"/>
                <a:ea typeface="+mj-ea"/>
                <a:cs typeface="Arial" panose="020B0604020202020204" pitchFamily="34" charset="0"/>
              </a:rPr>
              <a:t>Your technology, is a solution in need of a problem</a:t>
            </a:r>
          </a:p>
          <a:p>
            <a:pPr marL="0" indent="0">
              <a:lnSpc>
                <a:spcPct val="90000"/>
              </a:lnSpc>
              <a:buNone/>
              <a:defRPr/>
            </a:pPr>
            <a:endParaRPr lang="en-US" dirty="0">
              <a:solidFill>
                <a:srgbClr val="002B60"/>
              </a:solidFill>
              <a:latin typeface="Arial" panose="020B0604020202020204" pitchFamily="34" charset="0"/>
              <a:ea typeface="+mj-ea"/>
              <a:cs typeface="Arial" panose="020B0604020202020204" pitchFamily="34" charset="0"/>
            </a:endParaRPr>
          </a:p>
          <a:p>
            <a:pPr>
              <a:lnSpc>
                <a:spcPct val="150000"/>
              </a:lnSpc>
              <a:buFont typeface="+mj-lt"/>
              <a:buAutoNum type="arabicPeriod"/>
              <a:defRPr/>
            </a:pPr>
            <a:r>
              <a:rPr lang="en-US" dirty="0">
                <a:solidFill>
                  <a:srgbClr val="002B60"/>
                </a:solidFill>
                <a:latin typeface="Arial" panose="020B0604020202020204" pitchFamily="34" charset="0"/>
                <a:ea typeface="+mj-ea"/>
                <a:cs typeface="Arial" panose="020B0604020202020204" pitchFamily="34" charset="0"/>
              </a:rPr>
              <a:t>My technology what can it do, and could not be done before…</a:t>
            </a:r>
          </a:p>
          <a:p>
            <a:pPr>
              <a:lnSpc>
                <a:spcPct val="150000"/>
              </a:lnSpc>
              <a:buFont typeface="+mj-lt"/>
              <a:buAutoNum type="arabicPeriod"/>
              <a:defRPr/>
            </a:pPr>
            <a:r>
              <a:rPr lang="en-US" dirty="0">
                <a:solidFill>
                  <a:srgbClr val="002B60"/>
                </a:solidFill>
                <a:latin typeface="Arial" panose="020B0604020202020204" pitchFamily="34" charset="0"/>
                <a:ea typeface="+mj-ea"/>
                <a:cs typeface="Arial" panose="020B0604020202020204" pitchFamily="34" charset="0"/>
              </a:rPr>
              <a:t>Why would this be interesting and when would this be interesting for users? </a:t>
            </a:r>
          </a:p>
          <a:p>
            <a:pPr>
              <a:lnSpc>
                <a:spcPct val="150000"/>
              </a:lnSpc>
              <a:buFont typeface="+mj-lt"/>
              <a:buAutoNum type="arabicPeriod"/>
              <a:defRPr/>
            </a:pPr>
            <a:r>
              <a:rPr lang="en-US" dirty="0">
                <a:solidFill>
                  <a:srgbClr val="002B60"/>
                </a:solidFill>
                <a:latin typeface="Arial" panose="020B0604020202020204" pitchFamily="34" charset="0"/>
                <a:ea typeface="+mj-ea"/>
                <a:cs typeface="Arial" panose="020B0604020202020204" pitchFamily="34" charset="0"/>
              </a:rPr>
              <a:t>Market: How big is the problem, how many people are affected? Are they willing to pay?</a:t>
            </a:r>
          </a:p>
          <a:p>
            <a:pPr eaLnBrk="1" hangingPunct="1">
              <a:buFont typeface="Wingdings" pitchFamily="2" charset="2"/>
              <a:buNone/>
            </a:pPr>
            <a:endParaRPr lang="en-US" altLang="nl-NL" dirty="0">
              <a:solidFill>
                <a:srgbClr val="002B60"/>
              </a:solidFill>
              <a:latin typeface="Arial" panose="020B0604020202020204" pitchFamily="34" charset="0"/>
              <a:ea typeface="+mj-ea"/>
              <a:cs typeface="Arial" panose="020B0604020202020204" pitchFamily="34" charset="0"/>
            </a:endParaRPr>
          </a:p>
          <a:p>
            <a:pPr eaLnBrk="1" hangingPunct="1">
              <a:buFont typeface="Wingdings" pitchFamily="2" charset="2"/>
              <a:buNone/>
            </a:pPr>
            <a:r>
              <a:rPr lang="en-US" altLang="nl-NL" dirty="0">
                <a:solidFill>
                  <a:srgbClr val="002B60"/>
                </a:solidFill>
                <a:latin typeface="Arial" panose="020B0604020202020204" pitchFamily="34" charset="0"/>
                <a:ea typeface="+mj-ea"/>
                <a:cs typeface="Arial" panose="020B0604020202020204" pitchFamily="34" charset="0"/>
              </a:rPr>
              <a:t>Formulate hypotheses about the value proposition.</a:t>
            </a:r>
          </a:p>
          <a:p>
            <a:pPr lvl="1">
              <a:buFont typeface="Arial" panose="020B0604020202020204" pitchFamily="34" charset="0"/>
              <a:buChar char="•"/>
            </a:pPr>
            <a:r>
              <a:rPr lang="en-US" altLang="nl-NL" dirty="0">
                <a:solidFill>
                  <a:srgbClr val="002B60"/>
                </a:solidFill>
                <a:latin typeface="Arial" panose="020B0604020202020204" pitchFamily="34" charset="0"/>
                <a:ea typeface="+mj-ea"/>
                <a:cs typeface="Arial" panose="020B0604020202020204" pitchFamily="34" charset="0"/>
              </a:rPr>
              <a:t>What can and should technology do?</a:t>
            </a:r>
          </a:p>
          <a:p>
            <a:pPr lvl="1" eaLnBrk="1" hangingPunct="1">
              <a:buFont typeface="Arial" panose="020B0604020202020204" pitchFamily="34" charset="0"/>
              <a:buChar char="•"/>
            </a:pPr>
            <a:r>
              <a:rPr lang="en-US" altLang="nl-NL" dirty="0">
                <a:solidFill>
                  <a:srgbClr val="002B60"/>
                </a:solidFill>
                <a:latin typeface="Arial" panose="020B0604020202020204" pitchFamily="34" charset="0"/>
                <a:ea typeface="+mj-ea"/>
                <a:cs typeface="Arial" panose="020B0604020202020204" pitchFamily="34" charset="0"/>
              </a:rPr>
              <a:t>What problems can it solve? </a:t>
            </a:r>
          </a:p>
          <a:p>
            <a:pPr lvl="1" eaLnBrk="1" hangingPunct="1">
              <a:buFont typeface="Arial" panose="020B0604020202020204" pitchFamily="34" charset="0"/>
              <a:buChar char="•"/>
            </a:pPr>
            <a:r>
              <a:rPr lang="en-US" altLang="nl-NL" dirty="0">
                <a:solidFill>
                  <a:srgbClr val="002B60"/>
                </a:solidFill>
                <a:latin typeface="Arial" panose="020B0604020202020204" pitchFamily="34" charset="0"/>
                <a:ea typeface="+mj-ea"/>
                <a:cs typeface="Arial" panose="020B0604020202020204" pitchFamily="34" charset="0"/>
              </a:rPr>
              <a:t>Who has such a problem, which users and are they willing to purchase? </a:t>
            </a:r>
          </a:p>
          <a:p>
            <a:pPr>
              <a:lnSpc>
                <a:spcPct val="150000"/>
              </a:lnSpc>
              <a:buFontTx/>
              <a:buChar char="-"/>
              <a:defRPr/>
            </a:pPr>
            <a:endParaRPr lang="en-US" dirty="0">
              <a:solidFill>
                <a:srgbClr val="002B60"/>
              </a:solidFill>
              <a:latin typeface="+mj-lt"/>
              <a:ea typeface="+mj-ea"/>
            </a:endParaRPr>
          </a:p>
        </p:txBody>
      </p:sp>
      <p:sp>
        <p:nvSpPr>
          <p:cNvPr id="6"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spTree>
    <p:extLst>
      <p:ext uri="{BB962C8B-B14F-4D97-AF65-F5344CB8AC3E}">
        <p14:creationId xmlns:p14="http://schemas.microsoft.com/office/powerpoint/2010/main" val="2948132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1176540"/>
            <a:ext cx="7772400" cy="421496"/>
          </a:xfrm>
        </p:spPr>
        <p:txBody>
          <a:bodyPr/>
          <a:lstStyle/>
          <a:p>
            <a:r>
              <a:rPr lang="en-GB" sz="2000" dirty="0">
                <a:solidFill>
                  <a:srgbClr val="002B60"/>
                </a:solidFill>
                <a:latin typeface="Arial" charset="0"/>
                <a:ea typeface="+mn-ea"/>
                <a:cs typeface="+mn-cs"/>
              </a:rPr>
              <a:t>Approach: Build-Measure-Learn</a:t>
            </a:r>
            <a:endParaRPr lang="nl-NL" sz="2000" dirty="0">
              <a:solidFill>
                <a:srgbClr val="002B60"/>
              </a:solidFill>
              <a:latin typeface="Arial" charset="0"/>
              <a:ea typeface="+mn-ea"/>
              <a:cs typeface="+mn-cs"/>
            </a:endParaRPr>
          </a:p>
        </p:txBody>
      </p:sp>
      <p:grpSp>
        <p:nvGrpSpPr>
          <p:cNvPr id="4" name="Group 3"/>
          <p:cNvGrpSpPr/>
          <p:nvPr/>
        </p:nvGrpSpPr>
        <p:grpSpPr>
          <a:xfrm>
            <a:off x="2451101" y="1608032"/>
            <a:ext cx="7192516" cy="4434012"/>
            <a:chOff x="1426715" y="1772816"/>
            <a:chExt cx="6578601" cy="4121696"/>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1639" t="36412" r="8237" b="20531"/>
            <a:stretch/>
          </p:blipFill>
          <p:spPr bwMode="auto">
            <a:xfrm>
              <a:off x="1426715" y="1772816"/>
              <a:ext cx="6578601" cy="4121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6372200" y="2708920"/>
              <a:ext cx="1512168" cy="1001343"/>
            </a:xfrm>
            <a:prstGeom prst="rect">
              <a:avLst/>
            </a:prstGeom>
            <a:solidFill>
              <a:schemeClr val="accent1">
                <a:lumMod val="50000"/>
              </a:schemeClr>
            </a:solidFill>
          </p:spPr>
          <p:txBody>
            <a:bodyPr wrap="square" rtlCol="0">
              <a:spAutoFit/>
            </a:bodyPr>
            <a:lstStyle/>
            <a:p>
              <a:pPr algn="r" eaLnBrk="1" hangingPunct="1"/>
              <a:r>
                <a:rPr lang="en-GB" sz="1400" b="1" dirty="0">
                  <a:solidFill>
                    <a:srgbClr val="FFFFFF"/>
                  </a:solidFill>
                  <a:latin typeface="Arial" panose="020B0604020202020204" pitchFamily="34" charset="0"/>
                  <a:cs typeface="Arial" panose="020B0604020202020204" pitchFamily="34" charset="0"/>
                </a:rPr>
                <a:t>Articulate hypotheses </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Product feature </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User group specs</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User group size</a:t>
              </a:r>
            </a:p>
          </p:txBody>
        </p:sp>
        <p:sp>
          <p:nvSpPr>
            <p:cNvPr id="5" name="TextBox 4"/>
            <p:cNvSpPr txBox="1"/>
            <p:nvPr/>
          </p:nvSpPr>
          <p:spPr>
            <a:xfrm>
              <a:off x="2771800" y="4725144"/>
              <a:ext cx="1512168" cy="801074"/>
            </a:xfrm>
            <a:prstGeom prst="rect">
              <a:avLst/>
            </a:prstGeom>
            <a:solidFill>
              <a:schemeClr val="accent1">
                <a:lumMod val="50000"/>
              </a:schemeClr>
            </a:solidFill>
          </p:spPr>
          <p:txBody>
            <a:bodyPr wrap="square" rtlCol="0">
              <a:spAutoFit/>
            </a:bodyPr>
            <a:lstStyle/>
            <a:p>
              <a:pPr algn="r" eaLnBrk="1" hangingPunct="1"/>
              <a:r>
                <a:rPr lang="en-GB" sz="1400" b="1" dirty="0">
                  <a:solidFill>
                    <a:srgbClr val="FFFFFF"/>
                  </a:solidFill>
                  <a:latin typeface="Arial" panose="020B0604020202020204" pitchFamily="34" charset="0"/>
                  <a:cs typeface="Arial" panose="020B0604020202020204" pitchFamily="34" charset="0"/>
                </a:rPr>
                <a:t>Measure</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Bring in evidence</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Talk to people</a:t>
              </a:r>
            </a:p>
            <a:p>
              <a:pPr marL="177800" indent="-177800" algn="r">
                <a:buFontTx/>
                <a:buChar char="-"/>
              </a:pPr>
              <a:endParaRPr lang="en-GB" sz="1200" b="1" dirty="0">
                <a:solidFill>
                  <a:srgbClr val="FFFFFF"/>
                </a:solidFill>
                <a:latin typeface="Arial" panose="020B0604020202020204" pitchFamily="34" charset="0"/>
                <a:cs typeface="Arial" panose="020B0604020202020204" pitchFamily="34" charset="0"/>
              </a:endParaRPr>
            </a:p>
          </p:txBody>
        </p:sp>
        <p:sp>
          <p:nvSpPr>
            <p:cNvPr id="6" name="TextBox 5"/>
            <p:cNvSpPr txBox="1"/>
            <p:nvPr/>
          </p:nvSpPr>
          <p:spPr>
            <a:xfrm>
              <a:off x="1443359" y="2564904"/>
              <a:ext cx="1512168" cy="801074"/>
            </a:xfrm>
            <a:prstGeom prst="rect">
              <a:avLst/>
            </a:prstGeom>
            <a:solidFill>
              <a:schemeClr val="accent1">
                <a:lumMod val="50000"/>
              </a:schemeClr>
            </a:solidFill>
          </p:spPr>
          <p:txBody>
            <a:bodyPr wrap="square" rtlCol="0">
              <a:spAutoFit/>
            </a:bodyPr>
            <a:lstStyle/>
            <a:p>
              <a:pPr algn="r" eaLnBrk="1" hangingPunct="1"/>
              <a:r>
                <a:rPr lang="en-GB" sz="1400" b="1" dirty="0">
                  <a:solidFill>
                    <a:srgbClr val="FFFFFF"/>
                  </a:solidFill>
                  <a:latin typeface="Arial" panose="020B0604020202020204" pitchFamily="34" charset="0"/>
                  <a:cs typeface="Arial" panose="020B0604020202020204" pitchFamily="34" charset="0"/>
                </a:rPr>
                <a:t>Learn</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Evaluate hypotheses</a:t>
              </a:r>
            </a:p>
            <a:p>
              <a:pPr marL="177800" indent="-177800" algn="r">
                <a:buFontTx/>
                <a:buChar char="-"/>
              </a:pPr>
              <a:r>
                <a:rPr lang="en-GB" sz="1200" b="1" dirty="0">
                  <a:solidFill>
                    <a:srgbClr val="FFFFFF"/>
                  </a:solidFill>
                  <a:latin typeface="Arial" panose="020B0604020202020204" pitchFamily="34" charset="0"/>
                  <a:cs typeface="Arial" panose="020B0604020202020204" pitchFamily="34" charset="0"/>
                </a:rPr>
                <a:t>Adapt your idea </a:t>
              </a:r>
            </a:p>
          </p:txBody>
        </p:sp>
      </p:grpSp>
      <p:sp>
        <p:nvSpPr>
          <p:cNvPr id="9"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504" y="3869669"/>
            <a:ext cx="182880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323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3879606" y="3106123"/>
            <a:ext cx="1476164" cy="1378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Grp="1" noChangeAspect="1" noChangeArrowheads="1"/>
          </p:cNvPicPr>
          <p:nvPr>
            <p:ph idx="1"/>
          </p:nvPr>
        </p:nvPicPr>
        <p:blipFill rotWithShape="1">
          <a:blip r:embed="rId3" cstate="screen">
            <a:extLst>
              <a:ext uri="{28A0092B-C50C-407E-A947-70E740481C1C}">
                <a14:useLocalDpi xmlns:a14="http://schemas.microsoft.com/office/drawing/2010/main"/>
              </a:ext>
            </a:extLst>
          </a:blip>
          <a:srcRect/>
          <a:stretch/>
        </p:blipFill>
        <p:spPr bwMode="auto">
          <a:xfrm>
            <a:off x="5429156" y="1604311"/>
            <a:ext cx="1566808" cy="1512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429159" y="4628647"/>
            <a:ext cx="1566863" cy="14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374464" y="3188488"/>
            <a:ext cx="1566863"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2422133" y="3127894"/>
            <a:ext cx="1368152" cy="1357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3879609" y="1676319"/>
            <a:ext cx="1474787" cy="1377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3879609" y="4556639"/>
            <a:ext cx="1474787" cy="1377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7201626" y="1322615"/>
            <a:ext cx="1594669" cy="1531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295070" y="2606398"/>
            <a:ext cx="190500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Rectangle 3"/>
          <p:cNvSpPr>
            <a:spLocks noGrp="1" noChangeArrowheads="1"/>
          </p:cNvSpPr>
          <p:nvPr>
            <p:ph type="title" idx="4294967295"/>
          </p:nvPr>
        </p:nvSpPr>
        <p:spPr>
          <a:xfrm>
            <a:off x="890483" y="1604310"/>
            <a:ext cx="3063299" cy="458786"/>
          </a:xfrm>
        </p:spPr>
        <p:txBody>
          <a:bodyPr>
            <a:normAutofit fontScale="90000"/>
          </a:bodyPr>
          <a:lstStyle/>
          <a:p>
            <a:r>
              <a:rPr lang="en-GB" sz="1800" dirty="0">
                <a:solidFill>
                  <a:srgbClr val="002B60"/>
                </a:solidFill>
                <a:latin typeface="Arial" panose="020B0604020202020204" pitchFamily="34" charset="0"/>
                <a:cs typeface="Arial" panose="020B0604020202020204" pitchFamily="34" charset="0"/>
              </a:rPr>
              <a:t>More than </a:t>
            </a:r>
            <a:r>
              <a:rPr lang="nl-NL" sz="1800" dirty="0">
                <a:solidFill>
                  <a:srgbClr val="002B60"/>
                </a:solidFill>
                <a:latin typeface="Arial" panose="020B0604020202020204" pitchFamily="34" charset="0"/>
                <a:cs typeface="Arial" panose="020B0604020202020204" pitchFamily="34" charset="0"/>
              </a:rPr>
              <a:t>1 customer segment</a:t>
            </a:r>
          </a:p>
        </p:txBody>
      </p:sp>
      <p:sp>
        <p:nvSpPr>
          <p:cNvPr id="18"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002B60"/>
                </a:solidFill>
                <a:latin typeface="Arial" charset="0"/>
              </a:rPr>
              <a:t>Value Proposition Canvas</a:t>
            </a:r>
          </a:p>
        </p:txBody>
      </p:sp>
      <p:sp>
        <p:nvSpPr>
          <p:cNvPr id="15" name="Rectangle 3"/>
          <p:cNvSpPr>
            <a:spLocks noGrp="1" noChangeArrowheads="1"/>
          </p:cNvSpPr>
          <p:nvPr>
            <p:ph type="title" idx="4294967295"/>
          </p:nvPr>
        </p:nvSpPr>
        <p:spPr>
          <a:xfrm>
            <a:off x="9136350" y="1713802"/>
            <a:ext cx="3063299" cy="4215820"/>
          </a:xfrm>
          <a:solidFill>
            <a:schemeClr val="bg1"/>
          </a:solidFill>
        </p:spPr>
        <p:txBody>
          <a:bodyPr>
            <a:normAutofit fontScale="90000"/>
          </a:bodyPr>
          <a:lstStyle/>
          <a:p>
            <a:r>
              <a:rPr lang="en-GB" sz="1800" b="1" dirty="0">
                <a:solidFill>
                  <a:srgbClr val="002B60"/>
                </a:solidFill>
                <a:latin typeface="Arial" panose="020B0604020202020204" pitchFamily="34" charset="0"/>
                <a:cs typeface="Arial" panose="020B0604020202020204" pitchFamily="34" charset="0"/>
              </a:rPr>
              <a:t>Hypotheses</a:t>
            </a:r>
            <a:br>
              <a:rPr lang="en-GB" sz="1800" dirty="0">
                <a:solidFill>
                  <a:srgbClr val="002B60"/>
                </a:solidFill>
                <a:latin typeface="Arial" panose="020B0604020202020204" pitchFamily="34" charset="0"/>
                <a:cs typeface="Arial" panose="020B0604020202020204" pitchFamily="34" charset="0"/>
              </a:rPr>
            </a:br>
            <a:br>
              <a:rPr lang="en-GB" sz="18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Our solar panels are more efficient than existing</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Our solar panels are robust</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Households/ transport/ travellers (markets) do have a need</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The problem they have…</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The size of the market</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Can they afford it?</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Competition?</a:t>
            </a:r>
            <a:br>
              <a:rPr lang="en-GB" sz="1600" dirty="0">
                <a:solidFill>
                  <a:srgbClr val="002B60"/>
                </a:solidFill>
                <a:latin typeface="Arial" panose="020B0604020202020204" pitchFamily="34" charset="0"/>
                <a:cs typeface="Arial" panose="020B0604020202020204" pitchFamily="34" charset="0"/>
              </a:rPr>
            </a:br>
            <a:br>
              <a:rPr lang="en-GB" sz="1600" dirty="0">
                <a:solidFill>
                  <a:srgbClr val="002B60"/>
                </a:solidFill>
                <a:latin typeface="Arial" panose="020B0604020202020204" pitchFamily="34" charset="0"/>
                <a:cs typeface="Arial" panose="020B0604020202020204" pitchFamily="34" charset="0"/>
              </a:rPr>
            </a:br>
            <a:r>
              <a:rPr lang="en-GB" sz="1600" dirty="0">
                <a:solidFill>
                  <a:srgbClr val="002B60"/>
                </a:solidFill>
                <a:latin typeface="Arial" panose="020B0604020202020204" pitchFamily="34" charset="0"/>
                <a:cs typeface="Arial" panose="020B0604020202020204" pitchFamily="34" charset="0"/>
              </a:rPr>
              <a:t>Can we do it?</a:t>
            </a:r>
            <a:endParaRPr lang="en-GB" sz="1800" dirty="0">
              <a:solidFill>
                <a:srgbClr val="002B60"/>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rotWithShape="1">
          <a:blip r:embed="rId10"/>
          <a:srcRect r="41329"/>
          <a:stretch/>
        </p:blipFill>
        <p:spPr>
          <a:xfrm>
            <a:off x="7293885" y="5006698"/>
            <a:ext cx="1410152" cy="1650743"/>
          </a:xfrm>
          <a:prstGeom prst="rect">
            <a:avLst/>
          </a:prstGeom>
        </p:spPr>
      </p:pic>
      <p:pic>
        <p:nvPicPr>
          <p:cNvPr id="3" name="Picture 2"/>
          <p:cNvPicPr>
            <a:picLocks noChangeAspect="1"/>
          </p:cNvPicPr>
          <p:nvPr/>
        </p:nvPicPr>
        <p:blipFill rotWithShape="1">
          <a:blip r:embed="rId11"/>
          <a:srcRect l="21884" r="19973"/>
          <a:stretch/>
        </p:blipFill>
        <p:spPr>
          <a:xfrm>
            <a:off x="7210537" y="3171983"/>
            <a:ext cx="1733566" cy="1677129"/>
          </a:xfrm>
          <a:prstGeom prst="rect">
            <a:avLst/>
          </a:prstGeom>
        </p:spPr>
      </p:pic>
    </p:spTree>
    <p:extLst>
      <p:ext uri="{BB962C8B-B14F-4D97-AF65-F5344CB8AC3E}">
        <p14:creationId xmlns:p14="http://schemas.microsoft.com/office/powerpoint/2010/main" val="231946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dirty="0">
                <a:solidFill>
                  <a:srgbClr val="002B60"/>
                </a:solidFill>
                <a:latin typeface="Arial" charset="0"/>
                <a:ea typeface="+mn-ea"/>
                <a:cs typeface="+mn-cs"/>
              </a:rPr>
              <a:t>Targeting and Market Segmentation</a:t>
            </a:r>
          </a:p>
        </p:txBody>
      </p:sp>
      <p:sp>
        <p:nvSpPr>
          <p:cNvPr id="56323" name="Rectangle 3"/>
          <p:cNvSpPr>
            <a:spLocks noGrp="1" noChangeArrowheads="1"/>
          </p:cNvSpPr>
          <p:nvPr>
            <p:ph type="body" idx="1"/>
          </p:nvPr>
        </p:nvSpPr>
        <p:spPr>
          <a:xfrm>
            <a:off x="677334" y="1625160"/>
            <a:ext cx="8596668" cy="3880773"/>
          </a:xfrm>
        </p:spPr>
        <p:txBody>
          <a:bodyPr/>
          <a:lstStyle/>
          <a:p>
            <a:pPr eaLnBrk="1" hangingPunct="1">
              <a:lnSpc>
                <a:spcPct val="90000"/>
              </a:lnSpc>
            </a:pPr>
            <a:endParaRPr lang="en-AU" b="1" dirty="0">
              <a:solidFill>
                <a:srgbClr val="0000FF"/>
              </a:solidFill>
              <a:latin typeface="Tahoma" charset="0"/>
              <a:ea typeface="ＭＳ Ｐゴシック" charset="0"/>
              <a:cs typeface="ＭＳ Ｐゴシック" charset="0"/>
            </a:endParaRPr>
          </a:p>
          <a:p>
            <a:pPr eaLnBrk="1" hangingPunct="1">
              <a:lnSpc>
                <a:spcPct val="90000"/>
              </a:lnSpc>
            </a:pPr>
            <a:r>
              <a:rPr lang="en-AU" dirty="0">
                <a:latin typeface="Tahoma" charset="0"/>
                <a:ea typeface="ＭＳ Ｐゴシック" charset="0"/>
                <a:cs typeface="ＭＳ Ｐゴシック" charset="0"/>
              </a:rPr>
              <a:t>Try to be specific who your user might be</a:t>
            </a:r>
          </a:p>
          <a:p>
            <a:pPr eaLnBrk="1" hangingPunct="1">
              <a:lnSpc>
                <a:spcPct val="90000"/>
              </a:lnSpc>
            </a:pPr>
            <a:endParaRPr lang="en-AU" dirty="0">
              <a:latin typeface="Tahoma" charset="0"/>
              <a:ea typeface="ＭＳ Ｐゴシック" charset="0"/>
              <a:cs typeface="ＭＳ Ｐゴシック" charset="0"/>
            </a:endParaRPr>
          </a:p>
          <a:p>
            <a:pPr eaLnBrk="1" hangingPunct="1">
              <a:lnSpc>
                <a:spcPct val="90000"/>
              </a:lnSpc>
            </a:pPr>
            <a:r>
              <a:rPr lang="en-AU" dirty="0">
                <a:latin typeface="Tahoma" charset="0"/>
                <a:ea typeface="ＭＳ Ｐゴシック" charset="0"/>
                <a:cs typeface="ＭＳ Ｐゴシック" charset="0"/>
              </a:rPr>
              <a:t>The process of dividing the total market for a good or service into smaller groups, each of which tends to be homogenous (or similar) in all significant aspects.</a:t>
            </a:r>
          </a:p>
          <a:p>
            <a:pPr eaLnBrk="1" hangingPunct="1">
              <a:lnSpc>
                <a:spcPct val="90000"/>
              </a:lnSpc>
            </a:pPr>
            <a:endParaRPr lang="en-AU" dirty="0">
              <a:latin typeface="Tahoma" charset="0"/>
              <a:ea typeface="ＭＳ Ｐゴシック" charset="0"/>
              <a:cs typeface="ＭＳ Ｐゴシック" charset="0"/>
            </a:endParaRPr>
          </a:p>
          <a:p>
            <a:pPr eaLnBrk="1" hangingPunct="1">
              <a:lnSpc>
                <a:spcPct val="90000"/>
              </a:lnSpc>
            </a:pPr>
            <a:r>
              <a:rPr lang="en-AU" dirty="0">
                <a:latin typeface="Tahoma" charset="0"/>
                <a:ea typeface="ＭＳ Ｐゴシック" charset="0"/>
                <a:cs typeface="ＭＳ Ｐゴシック" charset="0"/>
              </a:rPr>
              <a:t>One or more of these segments is then selected as the firm’s target market/s.</a:t>
            </a:r>
          </a:p>
          <a:p>
            <a:pPr eaLnBrk="1" hangingPunct="1">
              <a:lnSpc>
                <a:spcPct val="90000"/>
              </a:lnSpc>
            </a:pPr>
            <a:endParaRPr lang="en-US"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209957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63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dirty="0">
                <a:solidFill>
                  <a:srgbClr val="002B60"/>
                </a:solidFill>
                <a:latin typeface="Arial" charset="0"/>
                <a:ea typeface="+mn-ea"/>
                <a:cs typeface="+mn-cs"/>
              </a:rPr>
              <a:t>Market Segmentation Process</a:t>
            </a:r>
          </a:p>
        </p:txBody>
      </p:sp>
      <p:sp>
        <p:nvSpPr>
          <p:cNvPr id="68611" name="Rectangle 3"/>
          <p:cNvSpPr>
            <a:spLocks noGrp="1" noChangeArrowheads="1"/>
          </p:cNvSpPr>
          <p:nvPr>
            <p:ph type="body" idx="1"/>
          </p:nvPr>
        </p:nvSpPr>
        <p:spPr/>
        <p:txBody>
          <a:bodyPr/>
          <a:lstStyle/>
          <a:p>
            <a:pPr eaLnBrk="1" hangingPunct="1"/>
            <a:r>
              <a:rPr lang="en-AU">
                <a:latin typeface="Tahoma" charset="0"/>
                <a:ea typeface="ＭＳ Ｐゴシック" charset="0"/>
                <a:cs typeface="ＭＳ Ｐゴシック" charset="0"/>
              </a:rPr>
              <a:t>Identify the needs and wants of customers.</a:t>
            </a:r>
          </a:p>
          <a:p>
            <a:pPr eaLnBrk="1" hangingPunct="1"/>
            <a:endParaRPr lang="en-AU">
              <a:latin typeface="Tahoma" charset="0"/>
              <a:ea typeface="ＭＳ Ｐゴシック" charset="0"/>
              <a:cs typeface="ＭＳ Ｐゴシック" charset="0"/>
            </a:endParaRPr>
          </a:p>
          <a:p>
            <a:pPr eaLnBrk="1" hangingPunct="1"/>
            <a:r>
              <a:rPr lang="en-AU">
                <a:latin typeface="Tahoma" charset="0"/>
                <a:ea typeface="ＭＳ Ｐゴシック" charset="0"/>
                <a:cs typeface="ＭＳ Ｐゴシック" charset="0"/>
              </a:rPr>
              <a:t>Identify the different characteristics between market segments.</a:t>
            </a:r>
          </a:p>
          <a:p>
            <a:pPr eaLnBrk="1" hangingPunct="1"/>
            <a:endParaRPr lang="en-AU">
              <a:latin typeface="Tahoma" charset="0"/>
              <a:ea typeface="ＭＳ Ｐゴシック" charset="0"/>
              <a:cs typeface="ＭＳ Ｐゴシック" charset="0"/>
            </a:endParaRPr>
          </a:p>
          <a:p>
            <a:pPr eaLnBrk="1" hangingPunct="1"/>
            <a:r>
              <a:rPr lang="en-AU">
                <a:latin typeface="Tahoma" charset="0"/>
                <a:ea typeface="ＭＳ Ｐゴシック" charset="0"/>
                <a:cs typeface="ＭＳ Ｐゴシック" charset="0"/>
              </a:rPr>
              <a:t>Estimate the market potential.</a:t>
            </a:r>
          </a:p>
          <a:p>
            <a:pPr eaLnBrk="1" hangingPunct="1"/>
            <a:endParaRPr lang="en-US">
              <a:latin typeface="Tahoma" charset="0"/>
              <a:ea typeface="ＭＳ Ｐゴシック" charset="0"/>
              <a:cs typeface="ＭＳ Ｐゴシック" charset="0"/>
            </a:endParaRPr>
          </a:p>
        </p:txBody>
      </p:sp>
      <p:pic>
        <p:nvPicPr>
          <p:cNvPr id="1146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8008" y="3861048"/>
            <a:ext cx="4209802" cy="208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71260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924992" y="1179849"/>
            <a:ext cx="7772400" cy="1143000"/>
          </a:xfrm>
        </p:spPr>
        <p:txBody>
          <a:bodyPr/>
          <a:lstStyle/>
          <a:p>
            <a:br>
              <a:rPr lang="en-US" altLang="en-US" sz="2800">
                <a:solidFill>
                  <a:schemeClr val="tx1"/>
                </a:solidFill>
              </a:rPr>
            </a:br>
            <a:r>
              <a:rPr lang="en-US" altLang="en-US" sz="2800">
                <a:solidFill>
                  <a:schemeClr val="tx1"/>
                </a:solidFill>
              </a:rPr>
              <a:t>Beachhead market</a:t>
            </a:r>
          </a:p>
        </p:txBody>
      </p:sp>
      <p:sp>
        <p:nvSpPr>
          <p:cNvPr id="26627" name="Content Placeholder 2"/>
          <p:cNvSpPr>
            <a:spLocks noGrp="1"/>
          </p:cNvSpPr>
          <p:nvPr>
            <p:ph idx="1"/>
          </p:nvPr>
        </p:nvSpPr>
        <p:spPr>
          <a:xfrm>
            <a:off x="788467" y="2276812"/>
            <a:ext cx="7772400" cy="3778250"/>
          </a:xfrm>
        </p:spPr>
        <p:txBody>
          <a:bodyPr/>
          <a:lstStyle/>
          <a:p>
            <a:r>
              <a:rPr lang="en-US" altLang="en-US" sz="2000" dirty="0"/>
              <a:t>Your first entry to the market</a:t>
            </a:r>
          </a:p>
          <a:p>
            <a:endParaRPr lang="en-US" altLang="en-US" sz="2000" dirty="0"/>
          </a:p>
          <a:p>
            <a:r>
              <a:rPr lang="en-US" altLang="en-US" sz="2000" dirty="0"/>
              <a:t>Small enough to be a significant player</a:t>
            </a:r>
          </a:p>
          <a:p>
            <a:endParaRPr lang="en-US" altLang="en-US" sz="2000" dirty="0"/>
          </a:p>
          <a:p>
            <a:r>
              <a:rPr lang="en-US" altLang="en-US" sz="2000" dirty="0"/>
              <a:t>Big enough to generate cash and grow in related markets</a:t>
            </a:r>
          </a:p>
          <a:p>
            <a:endParaRPr lang="en-US" altLang="en-US" sz="2000" dirty="0"/>
          </a:p>
          <a:p>
            <a:r>
              <a:rPr lang="en-US" altLang="en-US" sz="2000" dirty="0"/>
              <a:t>Opportunity to extent to other markets</a:t>
            </a:r>
          </a:p>
        </p:txBody>
      </p:sp>
      <p:sp>
        <p:nvSpPr>
          <p:cNvPr id="26628" name="Date Placeholder 3"/>
          <p:cNvSpPr>
            <a:spLocks noGrp="1"/>
          </p:cNvSpPr>
          <p:nvPr>
            <p:ph type="dt" sz="quarter" idx="4294967295"/>
          </p:nvPr>
        </p:nvSpPr>
        <p:spPr>
          <a:xfrm>
            <a:off x="2271713" y="5837238"/>
            <a:ext cx="1905000" cy="304800"/>
          </a:xfrm>
          <a:prstGeom prst="rect">
            <a:avLst/>
          </a:prstGeom>
          <a:noFill/>
        </p:spPr>
        <p:txBody>
          <a:bodyP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spcBef>
                <a:spcPct val="0"/>
              </a:spcBef>
              <a:buFontTx/>
              <a:buNone/>
            </a:pPr>
            <a:fld id="{32177D46-9324-4943-B026-DA2A4E23AED6}" type="datetime4">
              <a:rPr lang="en-US" altLang="en-US" sz="1000"/>
              <a:pPr>
                <a:spcBef>
                  <a:spcPct val="0"/>
                </a:spcBef>
                <a:buFontTx/>
                <a:buNone/>
              </a:pPr>
              <a:t>March 30, 2026</a:t>
            </a:fld>
            <a:endParaRPr lang="en-US" altLang="en-US" sz="1000"/>
          </a:p>
        </p:txBody>
      </p:sp>
      <p:sp>
        <p:nvSpPr>
          <p:cNvPr id="26629" name="Slide Number Placeholder 4"/>
          <p:cNvSpPr>
            <a:spLocks noGrp="1"/>
          </p:cNvSpPr>
          <p:nvPr>
            <p:ph type="sldNum" sz="quarter" idx="4294967295"/>
          </p:nvPr>
        </p:nvSpPr>
        <p:spPr>
          <a:xfrm>
            <a:off x="8001000" y="5837238"/>
            <a:ext cx="1905000" cy="228600"/>
          </a:xfrm>
          <a:prstGeom prst="rect">
            <a:avLst/>
          </a:prstGeom>
          <a:noFill/>
        </p:spPr>
        <p:txBody>
          <a:bodyP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spcBef>
                <a:spcPct val="0"/>
              </a:spcBef>
              <a:buFontTx/>
              <a:buNone/>
            </a:pPr>
            <a:fld id="{D966934F-0E20-4C48-9CFB-A2AC7AC2B7BB}" type="slidenum">
              <a:rPr lang="en-US" altLang="en-US" sz="1000"/>
              <a:pPr>
                <a:spcBef>
                  <a:spcPct val="0"/>
                </a:spcBef>
                <a:buFontTx/>
                <a:buNone/>
              </a:pPr>
              <a:t>27</a:t>
            </a:fld>
            <a:endParaRPr lang="en-US" altLang="en-US" sz="1000"/>
          </a:p>
        </p:txBody>
      </p:sp>
      <p:pic>
        <p:nvPicPr>
          <p:cNvPr id="26630" name="Picture 6" descr="D:\hkhodaei\Desktop\download.jpg"/>
          <p:cNvPicPr>
            <a:picLocks noChangeAspect="1" noChangeArrowheads="1"/>
          </p:cNvPicPr>
          <p:nvPr/>
        </p:nvPicPr>
        <p:blipFill>
          <a:blip r:embed="rId3">
            <a:extLst>
              <a:ext uri="{28A0092B-C50C-407E-A947-70E740481C1C}">
                <a14:useLocalDpi xmlns:a14="http://schemas.microsoft.com/office/drawing/2010/main" val="0"/>
              </a:ext>
            </a:extLst>
          </a:blip>
          <a:srcRect b="11656"/>
          <a:stretch>
            <a:fillRect/>
          </a:stretch>
        </p:blipFill>
        <p:spPr bwMode="auto">
          <a:xfrm>
            <a:off x="8324850" y="1993443"/>
            <a:ext cx="3467100"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auto">
          <a:xfrm>
            <a:off x="938890" y="585331"/>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lvl1pPr algn="l" rtl="0" eaLnBrk="0" fontAlgn="base" hangingPunct="0">
              <a:spcBef>
                <a:spcPct val="0"/>
              </a:spcBef>
              <a:spcAft>
                <a:spcPct val="0"/>
              </a:spcAft>
              <a:defRPr sz="3200" b="1">
                <a:solidFill>
                  <a:srgbClr val="0099CC"/>
                </a:solidFill>
                <a:latin typeface="+mj-lt"/>
                <a:ea typeface="+mj-ea"/>
                <a:cs typeface="+mj-cs"/>
              </a:defRPr>
            </a:lvl1pPr>
            <a:lvl2pPr algn="l" rtl="0" eaLnBrk="0" fontAlgn="base" hangingPunct="0">
              <a:spcBef>
                <a:spcPct val="0"/>
              </a:spcBef>
              <a:spcAft>
                <a:spcPct val="0"/>
              </a:spcAft>
              <a:defRPr sz="3200" b="1">
                <a:solidFill>
                  <a:srgbClr val="0099CC"/>
                </a:solidFill>
                <a:latin typeface="Tahoma" charset="0"/>
              </a:defRPr>
            </a:lvl2pPr>
            <a:lvl3pPr algn="l" rtl="0" eaLnBrk="0" fontAlgn="base" hangingPunct="0">
              <a:spcBef>
                <a:spcPct val="0"/>
              </a:spcBef>
              <a:spcAft>
                <a:spcPct val="0"/>
              </a:spcAft>
              <a:defRPr sz="3200" b="1">
                <a:solidFill>
                  <a:srgbClr val="0099CC"/>
                </a:solidFill>
                <a:latin typeface="Tahoma" charset="0"/>
              </a:defRPr>
            </a:lvl3pPr>
            <a:lvl4pPr algn="l" rtl="0" eaLnBrk="0" fontAlgn="base" hangingPunct="0">
              <a:spcBef>
                <a:spcPct val="0"/>
              </a:spcBef>
              <a:spcAft>
                <a:spcPct val="0"/>
              </a:spcAft>
              <a:defRPr sz="3200" b="1">
                <a:solidFill>
                  <a:srgbClr val="0099CC"/>
                </a:solidFill>
                <a:latin typeface="Tahoma" charset="0"/>
              </a:defRPr>
            </a:lvl4pPr>
            <a:lvl5pPr algn="l" rtl="0" eaLnBrk="0" fontAlgn="base" hangingPunct="0">
              <a:spcBef>
                <a:spcPct val="0"/>
              </a:spcBef>
              <a:spcAft>
                <a:spcPct val="0"/>
              </a:spcAft>
              <a:defRPr sz="3200" b="1">
                <a:solidFill>
                  <a:srgbClr val="0099CC"/>
                </a:solidFill>
                <a:latin typeface="Tahoma" charset="0"/>
              </a:defRPr>
            </a:lvl5pPr>
            <a:lvl6pPr marL="457200" algn="l" rtl="0" fontAlgn="base">
              <a:spcBef>
                <a:spcPct val="0"/>
              </a:spcBef>
              <a:spcAft>
                <a:spcPct val="0"/>
              </a:spcAft>
              <a:defRPr sz="3200" b="1">
                <a:solidFill>
                  <a:srgbClr val="0099CC"/>
                </a:solidFill>
                <a:latin typeface="Tahoma" charset="0"/>
              </a:defRPr>
            </a:lvl6pPr>
            <a:lvl7pPr marL="914400" algn="l" rtl="0" fontAlgn="base">
              <a:spcBef>
                <a:spcPct val="0"/>
              </a:spcBef>
              <a:spcAft>
                <a:spcPct val="0"/>
              </a:spcAft>
              <a:defRPr sz="3200" b="1">
                <a:solidFill>
                  <a:srgbClr val="0099CC"/>
                </a:solidFill>
                <a:latin typeface="Tahoma" charset="0"/>
              </a:defRPr>
            </a:lvl7pPr>
            <a:lvl8pPr marL="1371600" algn="l" rtl="0" fontAlgn="base">
              <a:spcBef>
                <a:spcPct val="0"/>
              </a:spcBef>
              <a:spcAft>
                <a:spcPct val="0"/>
              </a:spcAft>
              <a:defRPr sz="3200" b="1">
                <a:solidFill>
                  <a:srgbClr val="0099CC"/>
                </a:solidFill>
                <a:latin typeface="Tahoma" charset="0"/>
              </a:defRPr>
            </a:lvl8pPr>
            <a:lvl9pPr marL="1828800" algn="l" rtl="0" fontAlgn="base">
              <a:spcBef>
                <a:spcPct val="0"/>
              </a:spcBef>
              <a:spcAft>
                <a:spcPct val="0"/>
              </a:spcAft>
              <a:defRPr sz="3200" b="1">
                <a:solidFill>
                  <a:srgbClr val="0099CC"/>
                </a:solidFill>
                <a:latin typeface="Tahoma" charset="0"/>
              </a:defRPr>
            </a:lvl9pPr>
          </a:lstStyle>
          <a:p>
            <a:pPr eaLnBrk="1" hangingPunct="1"/>
            <a:r>
              <a:rPr lang="en-US" b="0" kern="0" dirty="0">
                <a:solidFill>
                  <a:srgbClr val="002B60"/>
                </a:solidFill>
                <a:latin typeface="Tahoma" charset="0"/>
                <a:ea typeface="ＭＳ Ｐゴシック" charset="0"/>
                <a:cs typeface="ＭＳ Ｐゴシック" charset="0"/>
              </a:rPr>
              <a:t>Effective segmentation</a:t>
            </a:r>
          </a:p>
        </p:txBody>
      </p:sp>
    </p:spTree>
    <p:extLst>
      <p:ext uri="{BB962C8B-B14F-4D97-AF65-F5344CB8AC3E}">
        <p14:creationId xmlns:p14="http://schemas.microsoft.com/office/powerpoint/2010/main" val="502714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7" y="1700808"/>
            <a:ext cx="7839581" cy="3888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552" y="1700808"/>
            <a:ext cx="7452857" cy="4277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2"/>
          <p:cNvSpPr>
            <a:spLocks noChangeArrowheads="1"/>
          </p:cNvSpPr>
          <p:nvPr/>
        </p:nvSpPr>
        <p:spPr bwMode="auto">
          <a:xfrm>
            <a:off x="1045248" y="407505"/>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lnSpc>
                <a:spcPts val="2500"/>
              </a:lnSpc>
              <a:buClr>
                <a:schemeClr val="bg2"/>
              </a:buClr>
              <a:buChar char="•"/>
              <a:defRPr sz="2000">
                <a:solidFill>
                  <a:schemeClr val="tx1"/>
                </a:solidFill>
                <a:latin typeface="Tahoma" pitchFamily="34" charset="0"/>
              </a:defRPr>
            </a:lvl1pPr>
            <a:lvl2pPr marL="742950" indent="-285750" algn="l" eaLnBrk="0" hangingPunct="0">
              <a:lnSpc>
                <a:spcPts val="2500"/>
              </a:lnSpc>
              <a:buClr>
                <a:schemeClr val="bg2"/>
              </a:buClr>
              <a:buFont typeface="Times" pitchFamily="18" charset="0"/>
              <a:buChar char="•"/>
              <a:defRPr>
                <a:solidFill>
                  <a:schemeClr val="tx1"/>
                </a:solidFill>
                <a:latin typeface="Tahoma" pitchFamily="34" charset="0"/>
              </a:defRPr>
            </a:lvl2pPr>
            <a:lvl3pPr marL="1143000" indent="-228600" algn="l" eaLnBrk="0" hangingPunct="0">
              <a:lnSpc>
                <a:spcPts val="2500"/>
              </a:lnSpc>
              <a:buClr>
                <a:schemeClr val="bg2"/>
              </a:buClr>
              <a:buFont typeface="Times" pitchFamily="18" charset="0"/>
              <a:buChar char="•"/>
              <a:defRPr sz="1600">
                <a:solidFill>
                  <a:schemeClr val="tx1"/>
                </a:solidFill>
                <a:latin typeface="Tahoma" pitchFamily="34" charset="0"/>
              </a:defRPr>
            </a:lvl3pPr>
            <a:lvl4pPr marL="1600200" indent="-228600" algn="l" eaLnBrk="0" hangingPunct="0">
              <a:lnSpc>
                <a:spcPts val="2500"/>
              </a:lnSpc>
              <a:buClr>
                <a:schemeClr val="bg2"/>
              </a:buClr>
              <a:buFont typeface="Times" pitchFamily="18" charset="0"/>
              <a:buChar char="•"/>
              <a:defRPr sz="1400">
                <a:solidFill>
                  <a:schemeClr val="tx1"/>
                </a:solidFill>
                <a:latin typeface="Tahoma" pitchFamily="34" charset="0"/>
              </a:defRPr>
            </a:lvl4pPr>
            <a:lvl5pPr marL="2057400" indent="-228600" algn="l" eaLnBrk="0" hangingPunct="0">
              <a:lnSpc>
                <a:spcPts val="2500"/>
              </a:lnSpc>
              <a:buClr>
                <a:schemeClr val="bg2"/>
              </a:buClr>
              <a:buChar char="•"/>
              <a:defRPr sz="1200">
                <a:solidFill>
                  <a:schemeClr val="tx1"/>
                </a:solidFill>
                <a:latin typeface="Tahoma" pitchFamily="34" charset="0"/>
              </a:defRPr>
            </a:lvl5pPr>
            <a:lvl6pPr marL="25146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6pPr>
            <a:lvl7pPr marL="29718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7pPr>
            <a:lvl8pPr marL="34290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8pPr>
            <a:lvl9pPr marL="3886200" indent="-228600" eaLnBrk="0" fontAlgn="base" hangingPunct="0">
              <a:lnSpc>
                <a:spcPts val="2500"/>
              </a:lnSpc>
              <a:spcBef>
                <a:spcPct val="0"/>
              </a:spcBef>
              <a:spcAft>
                <a:spcPct val="0"/>
              </a:spcAft>
              <a:buClr>
                <a:schemeClr val="bg2"/>
              </a:buClr>
              <a:buChar char="•"/>
              <a:defRPr sz="1200">
                <a:solidFill>
                  <a:schemeClr val="tx1"/>
                </a:solidFill>
                <a:latin typeface="Tahoma" pitchFamily="34" charset="0"/>
              </a:defRPr>
            </a:lvl9pPr>
          </a:lstStyle>
          <a:p>
            <a:pPr algn="ctr">
              <a:lnSpc>
                <a:spcPct val="100000"/>
              </a:lnSpc>
              <a:buClrTx/>
              <a:buFontTx/>
              <a:buNone/>
            </a:pPr>
            <a:r>
              <a:rPr lang="en-US" altLang="nl-NL" sz="3600" dirty="0">
                <a:solidFill>
                  <a:srgbClr val="108BD9"/>
                </a:solidFill>
                <a:latin typeface="Arial" charset="0"/>
              </a:rPr>
              <a:t>Value Proposition Canvas</a:t>
            </a:r>
          </a:p>
        </p:txBody>
      </p:sp>
    </p:spTree>
    <p:extLst>
      <p:ext uri="{BB962C8B-B14F-4D97-AF65-F5344CB8AC3E}">
        <p14:creationId xmlns:p14="http://schemas.microsoft.com/office/powerpoint/2010/main" val="255974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bwMode="auto">
          <a:xfrm>
            <a:off x="1105376" y="1709724"/>
            <a:ext cx="2284864" cy="433387"/>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defRPr/>
            </a:pPr>
            <a:r>
              <a:rPr lang="en-US" kern="0" dirty="0">
                <a:solidFill>
                  <a:srgbClr val="0070C0"/>
                </a:solidFill>
              </a:rPr>
              <a:t>Technology </a:t>
            </a:r>
            <a:endParaRPr lang="nl-NL" kern="0" dirty="0">
              <a:solidFill>
                <a:srgbClr val="0070C0"/>
              </a:solidFill>
            </a:endParaRPr>
          </a:p>
        </p:txBody>
      </p:sp>
      <p:pic>
        <p:nvPicPr>
          <p:cNvPr id="17411" name="Picture 2"/>
          <p:cNvPicPr>
            <a:picLocks noChangeAspect="1" noChangeArrowheads="1"/>
          </p:cNvPicPr>
          <p:nvPr/>
        </p:nvPicPr>
        <p:blipFill>
          <a:blip r:embed="rId3">
            <a:extLst>
              <a:ext uri="{28A0092B-C50C-407E-A947-70E740481C1C}">
                <a14:useLocalDpi xmlns:a14="http://schemas.microsoft.com/office/drawing/2010/main" val="0"/>
              </a:ext>
            </a:extLst>
          </a:blip>
          <a:srcRect r="50000"/>
          <a:stretch>
            <a:fillRect/>
          </a:stretch>
        </p:blipFill>
        <p:spPr bwMode="auto">
          <a:xfrm>
            <a:off x="744608" y="2143111"/>
            <a:ext cx="3919538" cy="3887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bwMode="auto">
          <a:xfrm>
            <a:off x="5133952" y="2250267"/>
            <a:ext cx="403225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0" indent="0" algn="ctr" rtl="0" eaLnBrk="0" fontAlgn="base" hangingPunct="0">
              <a:spcBef>
                <a:spcPct val="20000"/>
              </a:spcBef>
              <a:spcAft>
                <a:spcPct val="0"/>
              </a:spcAft>
              <a:buFont typeface="Times" pitchFamily="18" charset="0"/>
              <a:buNone/>
              <a:defRPr sz="2400">
                <a:solidFill>
                  <a:schemeClr val="tx1"/>
                </a:solidFill>
                <a:latin typeface="+mn-lt"/>
                <a:ea typeface="+mn-ea"/>
                <a:cs typeface="+mn-cs"/>
              </a:defRPr>
            </a:lvl1pPr>
            <a:lvl2pPr marL="457200" indent="0" algn="ctr" rtl="0" eaLnBrk="0" fontAlgn="base" hangingPunct="0">
              <a:spcBef>
                <a:spcPct val="20000"/>
              </a:spcBef>
              <a:spcAft>
                <a:spcPct val="0"/>
              </a:spcAft>
              <a:buFont typeface="Times" pitchFamily="18" charset="0"/>
              <a:buNone/>
              <a:defRPr sz="2400">
                <a:solidFill>
                  <a:schemeClr val="tx1"/>
                </a:solidFill>
                <a:latin typeface="+mn-lt"/>
              </a:defRPr>
            </a:lvl2pPr>
            <a:lvl3pPr marL="914400" indent="0" algn="ctr" rtl="0" eaLnBrk="0" fontAlgn="base" hangingPunct="0">
              <a:spcBef>
                <a:spcPct val="20000"/>
              </a:spcBef>
              <a:spcAft>
                <a:spcPct val="0"/>
              </a:spcAft>
              <a:buFont typeface="Times" pitchFamily="18" charset="0"/>
              <a:buNone/>
              <a:defRPr sz="2400">
                <a:solidFill>
                  <a:schemeClr val="tx1"/>
                </a:solidFill>
                <a:latin typeface="+mn-lt"/>
              </a:defRPr>
            </a:lvl3pPr>
            <a:lvl4pPr marL="1371600" indent="0" algn="ctr" rtl="0" eaLnBrk="0" fontAlgn="base" hangingPunct="0">
              <a:spcBef>
                <a:spcPct val="20000"/>
              </a:spcBef>
              <a:spcAft>
                <a:spcPct val="0"/>
              </a:spcAft>
              <a:buFont typeface="Times" pitchFamily="18" charset="0"/>
              <a:buNone/>
              <a:defRPr sz="2400">
                <a:solidFill>
                  <a:schemeClr val="tx1"/>
                </a:solidFill>
                <a:latin typeface="+mn-lt"/>
              </a:defRPr>
            </a:lvl4pPr>
            <a:lvl5pPr marL="1828800" indent="0" algn="ctr" rtl="0" eaLnBrk="0" fontAlgn="base" hangingPunct="0">
              <a:spcBef>
                <a:spcPct val="20000"/>
              </a:spcBef>
              <a:spcAft>
                <a:spcPct val="0"/>
              </a:spcAft>
              <a:buFont typeface="Times" pitchFamily="18" charset="0"/>
              <a:buNone/>
              <a:defRPr sz="2400">
                <a:solidFill>
                  <a:schemeClr val="tx1"/>
                </a:solidFill>
                <a:latin typeface="+mn-lt"/>
              </a:defRPr>
            </a:lvl5pPr>
            <a:lvl6pPr marL="2286000" indent="0" algn="ctr" rtl="0" fontAlgn="base">
              <a:spcBef>
                <a:spcPct val="20000"/>
              </a:spcBef>
              <a:spcAft>
                <a:spcPct val="0"/>
              </a:spcAft>
              <a:buFont typeface="Times" charset="0"/>
              <a:buNone/>
              <a:defRPr sz="2400">
                <a:solidFill>
                  <a:schemeClr val="tx1"/>
                </a:solidFill>
                <a:latin typeface="+mn-lt"/>
              </a:defRPr>
            </a:lvl6pPr>
            <a:lvl7pPr marL="2743200" indent="0" algn="ctr" rtl="0" fontAlgn="base">
              <a:spcBef>
                <a:spcPct val="20000"/>
              </a:spcBef>
              <a:spcAft>
                <a:spcPct val="0"/>
              </a:spcAft>
              <a:buFont typeface="Times" charset="0"/>
              <a:buNone/>
              <a:defRPr sz="2400">
                <a:solidFill>
                  <a:schemeClr val="tx1"/>
                </a:solidFill>
                <a:latin typeface="+mn-lt"/>
              </a:defRPr>
            </a:lvl7pPr>
            <a:lvl8pPr marL="3200400" indent="0" algn="ctr" rtl="0" fontAlgn="base">
              <a:spcBef>
                <a:spcPct val="20000"/>
              </a:spcBef>
              <a:spcAft>
                <a:spcPct val="0"/>
              </a:spcAft>
              <a:buFont typeface="Times" charset="0"/>
              <a:buNone/>
              <a:defRPr sz="2400">
                <a:solidFill>
                  <a:schemeClr val="tx1"/>
                </a:solidFill>
                <a:latin typeface="+mn-lt"/>
              </a:defRPr>
            </a:lvl8pPr>
            <a:lvl9pPr marL="3657600" indent="0" algn="ctr" rtl="0" fontAlgn="base">
              <a:spcBef>
                <a:spcPct val="20000"/>
              </a:spcBef>
              <a:spcAft>
                <a:spcPct val="0"/>
              </a:spcAft>
              <a:buFont typeface="Times" charset="0"/>
              <a:buNone/>
              <a:defRPr sz="2400">
                <a:solidFill>
                  <a:schemeClr val="tx1"/>
                </a:solidFill>
                <a:latin typeface="+mn-lt"/>
              </a:defRPr>
            </a:lvl9pPr>
          </a:lstStyle>
          <a:p>
            <a:pPr algn="l">
              <a:lnSpc>
                <a:spcPct val="90000"/>
              </a:lnSpc>
              <a:defRPr/>
            </a:pPr>
            <a:r>
              <a:rPr lang="en-GB" altLang="nl-NL" sz="2000" kern="0" dirty="0"/>
              <a:t>What does the technology do?</a:t>
            </a:r>
          </a:p>
          <a:p>
            <a:pPr algn="l">
              <a:lnSpc>
                <a:spcPct val="90000"/>
              </a:lnSpc>
              <a:defRPr/>
            </a:pPr>
            <a:endParaRPr lang="en-GB" altLang="nl-NL" sz="2000" kern="0" dirty="0"/>
          </a:p>
          <a:p>
            <a:pPr algn="l">
              <a:lnSpc>
                <a:spcPct val="90000"/>
              </a:lnSpc>
              <a:defRPr/>
            </a:pPr>
            <a:r>
              <a:rPr lang="en-GB" altLang="nl-NL" sz="2000" kern="0" dirty="0"/>
              <a:t>What alternatives are available?</a:t>
            </a:r>
          </a:p>
          <a:p>
            <a:pPr algn="l">
              <a:lnSpc>
                <a:spcPct val="90000"/>
              </a:lnSpc>
              <a:defRPr/>
            </a:pPr>
            <a:endParaRPr lang="en-GB" altLang="nl-NL" sz="2000" kern="0" dirty="0"/>
          </a:p>
          <a:p>
            <a:pPr algn="l">
              <a:lnSpc>
                <a:spcPct val="90000"/>
              </a:lnSpc>
              <a:defRPr/>
            </a:pPr>
            <a:r>
              <a:rPr lang="en-GB" altLang="nl-NL" sz="2000" kern="0" dirty="0"/>
              <a:t>What gains does you technology offer?</a:t>
            </a:r>
          </a:p>
          <a:p>
            <a:pPr algn="l">
              <a:lnSpc>
                <a:spcPct val="90000"/>
              </a:lnSpc>
              <a:defRPr/>
            </a:pPr>
            <a:endParaRPr lang="en-GB" altLang="nl-NL" sz="2000" kern="0" dirty="0"/>
          </a:p>
          <a:p>
            <a:pPr algn="l">
              <a:lnSpc>
                <a:spcPct val="90000"/>
              </a:lnSpc>
              <a:defRPr/>
            </a:pPr>
            <a:r>
              <a:rPr lang="en-GB" altLang="nl-NL" sz="2000" kern="0" dirty="0"/>
              <a:t>Or what pains does it solves</a:t>
            </a:r>
          </a:p>
          <a:p>
            <a:pPr algn="l">
              <a:lnSpc>
                <a:spcPct val="90000"/>
              </a:lnSpc>
              <a:defRPr/>
            </a:pPr>
            <a:endParaRPr lang="en-GB" altLang="nl-NL" sz="2000" kern="0" dirty="0"/>
          </a:p>
          <a:p>
            <a:pPr algn="l">
              <a:lnSpc>
                <a:spcPct val="90000"/>
              </a:lnSpc>
              <a:defRPr/>
            </a:pPr>
            <a:r>
              <a:rPr lang="en-GB" altLang="nl-NL" sz="2000" kern="0" dirty="0"/>
              <a:t>Latent problems/ taken for granted</a:t>
            </a:r>
          </a:p>
          <a:p>
            <a:pPr>
              <a:lnSpc>
                <a:spcPct val="90000"/>
              </a:lnSpc>
              <a:defRPr/>
            </a:pPr>
            <a:endParaRPr lang="en-GB" altLang="nl-NL" sz="2000" kern="0" dirty="0"/>
          </a:p>
          <a:p>
            <a:pPr>
              <a:lnSpc>
                <a:spcPct val="90000"/>
              </a:lnSpc>
              <a:defRPr/>
            </a:pPr>
            <a:endParaRPr lang="en-GB" altLang="nl-NL" sz="2000" kern="0" dirty="0">
              <a:solidFill>
                <a:srgbClr val="0099CC"/>
              </a:solidFill>
            </a:endParaRPr>
          </a:p>
          <a:p>
            <a:pPr>
              <a:lnSpc>
                <a:spcPct val="90000"/>
              </a:lnSpc>
              <a:defRPr/>
            </a:pPr>
            <a:endParaRPr lang="en-GB" altLang="nl-NL" sz="2000" kern="0" dirty="0"/>
          </a:p>
          <a:p>
            <a:pPr>
              <a:lnSpc>
                <a:spcPct val="90000"/>
              </a:lnSpc>
              <a:defRPr/>
            </a:pPr>
            <a:endParaRPr lang="nl-NL" altLang="nl-NL" sz="2000" kern="0" dirty="0"/>
          </a:p>
          <a:p>
            <a:pPr>
              <a:lnSpc>
                <a:spcPct val="90000"/>
              </a:lnSpc>
              <a:defRPr/>
            </a:pPr>
            <a:endParaRPr lang="en-GB" altLang="nl-NL" sz="2000" kern="0" dirty="0"/>
          </a:p>
        </p:txBody>
      </p:sp>
      <p:sp>
        <p:nvSpPr>
          <p:cNvPr id="17413"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lgn="ctr">
              <a:spcBef>
                <a:spcPct val="0"/>
              </a:spcBef>
              <a:buFontTx/>
              <a:buNone/>
            </a:pPr>
            <a:r>
              <a:rPr lang="en-US" altLang="nl-NL" sz="3300" dirty="0">
                <a:solidFill>
                  <a:srgbClr val="002B60"/>
                </a:solidFill>
                <a:latin typeface="Arial" pitchFamily="34" charset="0"/>
              </a:rPr>
              <a:t>Value Proposition Canvas</a:t>
            </a:r>
          </a:p>
        </p:txBody>
      </p:sp>
    </p:spTree>
    <p:extLst>
      <p:ext uri="{BB962C8B-B14F-4D97-AF65-F5344CB8AC3E}">
        <p14:creationId xmlns:p14="http://schemas.microsoft.com/office/powerpoint/2010/main" val="3564105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72393" y="1205272"/>
            <a:ext cx="8596668" cy="1320800"/>
          </a:xfrm>
        </p:spPr>
        <p:txBody>
          <a:bodyPr>
            <a:normAutofit/>
          </a:bodyPr>
          <a:lstStyle/>
          <a:p>
            <a:pPr eaLnBrk="1" hangingPunct="1"/>
            <a:r>
              <a:rPr lang="en-US" sz="2400" dirty="0">
                <a:solidFill>
                  <a:srgbClr val="002B60"/>
                </a:solidFill>
                <a:latin typeface="Arial" charset="0"/>
                <a:ea typeface="+mn-ea"/>
                <a:cs typeface="+mn-cs"/>
              </a:rPr>
              <a:t>Mapping problems that can be targeted</a:t>
            </a:r>
            <a:br>
              <a:rPr lang="en-US" sz="2400" dirty="0">
                <a:solidFill>
                  <a:srgbClr val="002B60"/>
                </a:solidFill>
                <a:latin typeface="Arial" charset="0"/>
                <a:ea typeface="+mn-ea"/>
                <a:cs typeface="+mn-cs"/>
              </a:rPr>
            </a:br>
            <a:endParaRPr lang="en-US" sz="2400" dirty="0">
              <a:solidFill>
                <a:srgbClr val="002B60"/>
              </a:solidFill>
              <a:latin typeface="Arial" charset="0"/>
              <a:ea typeface="+mn-ea"/>
              <a:cs typeface="+mn-cs"/>
            </a:endParaRPr>
          </a:p>
        </p:txBody>
      </p:sp>
      <p:sp>
        <p:nvSpPr>
          <p:cNvPr id="52227" name="Rectangle 3"/>
          <p:cNvSpPr>
            <a:spLocks noGrp="1" noChangeArrowheads="1"/>
          </p:cNvSpPr>
          <p:nvPr>
            <p:ph type="body" idx="1"/>
          </p:nvPr>
        </p:nvSpPr>
        <p:spPr>
          <a:xfrm>
            <a:off x="864865" y="1865672"/>
            <a:ext cx="5351392" cy="4389344"/>
          </a:xfrm>
        </p:spPr>
        <p:txBody>
          <a:bodyPr>
            <a:normAutofit/>
          </a:bodyPr>
          <a:lstStyle/>
          <a:p>
            <a:pPr marL="0" indent="0">
              <a:buNone/>
            </a:pPr>
            <a:r>
              <a:rPr lang="en-GB" b="1" i="1" dirty="0"/>
              <a:t>power management integrated circuits (PMICs) for low power energy harvesting</a:t>
            </a:r>
          </a:p>
          <a:p>
            <a:pPr marL="0" indent="0">
              <a:buNone/>
            </a:pPr>
            <a:endParaRPr lang="en-GB" b="1" dirty="0"/>
          </a:p>
          <a:p>
            <a:pPr marL="0" indent="0">
              <a:buNone/>
            </a:pPr>
            <a:r>
              <a:rPr lang="en-GB" b="1" dirty="0"/>
              <a:t>My technology has specific benefits</a:t>
            </a:r>
          </a:p>
          <a:p>
            <a:pPr>
              <a:buFont typeface="Wingdings" panose="05000000000000000000" pitchFamily="2" charset="2"/>
              <a:buChar char="ü"/>
            </a:pPr>
            <a:r>
              <a:rPr lang="en-GB" b="1" dirty="0"/>
              <a:t>Small / flexible</a:t>
            </a:r>
          </a:p>
          <a:p>
            <a:pPr>
              <a:buFont typeface="Wingdings" panose="05000000000000000000" pitchFamily="2" charset="2"/>
              <a:buChar char="ü"/>
            </a:pPr>
            <a:r>
              <a:rPr lang="en-GB" b="1" dirty="0"/>
              <a:t>No wiring/ no battery</a:t>
            </a:r>
          </a:p>
          <a:p>
            <a:pPr>
              <a:buFont typeface="Wingdings" panose="05000000000000000000" pitchFamily="2" charset="2"/>
              <a:buChar char="ü"/>
            </a:pPr>
            <a:r>
              <a:rPr lang="en-GB" b="1" dirty="0"/>
              <a:t>Enabling technology</a:t>
            </a:r>
          </a:p>
          <a:p>
            <a:pPr marL="0" indent="0">
              <a:buNone/>
            </a:pPr>
            <a:endParaRPr lang="en-GB" b="1" dirty="0"/>
          </a:p>
          <a:p>
            <a:pPr marL="0" indent="0">
              <a:buNone/>
            </a:pPr>
            <a:r>
              <a:rPr lang="en-GB" b="1" dirty="0"/>
              <a:t>But also some limitations</a:t>
            </a:r>
          </a:p>
          <a:p>
            <a:pPr>
              <a:buFontTx/>
              <a:buChar char="-"/>
            </a:pPr>
            <a:r>
              <a:rPr lang="en-GB" b="1" dirty="0"/>
              <a:t>Small capacity</a:t>
            </a:r>
          </a:p>
          <a:p>
            <a:pPr>
              <a:buFontTx/>
              <a:buChar char="-"/>
            </a:pPr>
            <a:r>
              <a:rPr lang="en-GB" b="1" dirty="0"/>
              <a:t>Evidence, not fully proven</a:t>
            </a:r>
            <a:endParaRPr lang="en-GB" dirty="0"/>
          </a:p>
          <a:p>
            <a:pPr eaLnBrk="1" hangingPunct="1"/>
            <a:endParaRPr lang="en-GB" dirty="0">
              <a:latin typeface="Tahoma" charset="0"/>
              <a:ea typeface="ＭＳ Ｐゴシック" charset="0"/>
              <a:cs typeface="ＭＳ Ｐゴシック" charset="0"/>
            </a:endParaRPr>
          </a:p>
        </p:txBody>
      </p:sp>
      <p:pic>
        <p:nvPicPr>
          <p:cNvPr id="2" name="Picture 1"/>
          <p:cNvPicPr>
            <a:picLocks noChangeAspect="1"/>
          </p:cNvPicPr>
          <p:nvPr/>
        </p:nvPicPr>
        <p:blipFill>
          <a:blip r:embed="rId3"/>
          <a:stretch>
            <a:fillRect/>
          </a:stretch>
        </p:blipFill>
        <p:spPr>
          <a:xfrm>
            <a:off x="6096000" y="1649678"/>
            <a:ext cx="5898407" cy="3937187"/>
          </a:xfrm>
          <a:prstGeom prst="rect">
            <a:avLst/>
          </a:prstGeom>
        </p:spPr>
      </p:pic>
      <p:sp>
        <p:nvSpPr>
          <p:cNvPr id="7"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lgn="ctr">
              <a:spcBef>
                <a:spcPct val="0"/>
              </a:spcBef>
              <a:buFontTx/>
              <a:buNone/>
            </a:pPr>
            <a:r>
              <a:rPr lang="en-US" altLang="nl-NL" sz="3300" dirty="0">
                <a:solidFill>
                  <a:srgbClr val="002B60"/>
                </a:solidFill>
                <a:latin typeface="Arial" pitchFamily="34" charset="0"/>
              </a:rPr>
              <a:t>Value Proposition Canvas</a:t>
            </a:r>
          </a:p>
        </p:txBody>
      </p:sp>
      <p:sp>
        <p:nvSpPr>
          <p:cNvPr id="3" name="Rectangle 2"/>
          <p:cNvSpPr/>
          <p:nvPr/>
        </p:nvSpPr>
        <p:spPr>
          <a:xfrm>
            <a:off x="6577024" y="4751816"/>
            <a:ext cx="3733829" cy="523220"/>
          </a:xfrm>
          <a:prstGeom prst="rect">
            <a:avLst/>
          </a:prstGeom>
        </p:spPr>
        <p:txBody>
          <a:bodyPr wrap="square">
            <a:spAutoFit/>
          </a:bodyPr>
          <a:lstStyle/>
          <a:p>
            <a:pPr marL="12700">
              <a:spcBef>
                <a:spcPts val="100"/>
              </a:spcBef>
            </a:pPr>
            <a:r>
              <a:rPr lang="en-GB" sz="1400" dirty="0">
                <a:solidFill>
                  <a:srgbClr val="002B60"/>
                </a:solidFill>
                <a:latin typeface="Tahoma"/>
                <a:cs typeface="Tahoma"/>
                <a:hlinkClick r:id="rId4"/>
              </a:rPr>
              <a:t>https://www.youtube.com/watch?v=jUsrkasOBVk&amp;feature=youtu.be</a:t>
            </a:r>
            <a:r>
              <a:rPr lang="en-GB" sz="1400" dirty="0">
                <a:solidFill>
                  <a:srgbClr val="002B60"/>
                </a:solidFill>
                <a:latin typeface="Tahoma"/>
                <a:cs typeface="Tahoma"/>
              </a:rPr>
              <a:t> </a:t>
            </a:r>
          </a:p>
        </p:txBody>
      </p:sp>
    </p:spTree>
    <p:extLst>
      <p:ext uri="{BB962C8B-B14F-4D97-AF65-F5344CB8AC3E}">
        <p14:creationId xmlns:p14="http://schemas.microsoft.com/office/powerpoint/2010/main" val="316191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2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2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089726" y="3156019"/>
            <a:ext cx="1475994" cy="1377696"/>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6664020" y="1572592"/>
            <a:ext cx="1512543" cy="1494272"/>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6654547" y="4652771"/>
            <a:ext cx="1567433" cy="142113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6610679" y="3156019"/>
            <a:ext cx="1511807" cy="142036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2187680" y="3066864"/>
            <a:ext cx="1367790" cy="1357122"/>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5194080" y="1625160"/>
            <a:ext cx="1395262" cy="1378458"/>
          </a:xfrm>
          <a:prstGeom prst="rect">
            <a:avLst/>
          </a:prstGeom>
          <a:blipFill>
            <a:blip r:embed="rId7" cstate="print"/>
            <a:stretch>
              <a:fillRect/>
            </a:stretch>
          </a:blipFill>
        </p:spPr>
        <p:txBody>
          <a:bodyPr wrap="square" lIns="0" tIns="0" rIns="0" bIns="0" rtlCol="0"/>
          <a:lstStyle/>
          <a:p>
            <a:endParaRPr/>
          </a:p>
        </p:txBody>
      </p:sp>
      <p:sp>
        <p:nvSpPr>
          <p:cNvPr id="8" name="object 8"/>
          <p:cNvSpPr/>
          <p:nvPr/>
        </p:nvSpPr>
        <p:spPr>
          <a:xfrm>
            <a:off x="5114873" y="4524570"/>
            <a:ext cx="1474470" cy="1377696"/>
          </a:xfrm>
          <a:prstGeom prst="rect">
            <a:avLst/>
          </a:prstGeom>
          <a:blipFill>
            <a:blip r:embed="rId8" cstate="print"/>
            <a:stretch>
              <a:fillRect/>
            </a:stretch>
          </a:blipFill>
        </p:spPr>
        <p:txBody>
          <a:bodyPr wrap="square" lIns="0" tIns="0" rIns="0" bIns="0" rtlCol="0"/>
          <a:lstStyle/>
          <a:p>
            <a:endParaRPr/>
          </a:p>
        </p:txBody>
      </p:sp>
      <p:sp>
        <p:nvSpPr>
          <p:cNvPr id="9" name="object 9"/>
          <p:cNvSpPr txBox="1"/>
          <p:nvPr/>
        </p:nvSpPr>
        <p:spPr>
          <a:xfrm>
            <a:off x="924992" y="1144136"/>
            <a:ext cx="2312035" cy="299720"/>
          </a:xfrm>
          <a:prstGeom prst="rect">
            <a:avLst/>
          </a:prstGeom>
        </p:spPr>
        <p:txBody>
          <a:bodyPr vert="horz" wrap="square" lIns="0" tIns="12700" rIns="0" bIns="0" rtlCol="0">
            <a:spAutoFit/>
          </a:bodyPr>
          <a:lstStyle/>
          <a:p>
            <a:pPr marL="12700">
              <a:spcBef>
                <a:spcPts val="100"/>
              </a:spcBef>
            </a:pPr>
            <a:r>
              <a:rPr b="1" spc="-5" dirty="0">
                <a:solidFill>
                  <a:schemeClr val="accent2"/>
                </a:solidFill>
                <a:latin typeface="Arial"/>
                <a:cs typeface="Arial"/>
              </a:rPr>
              <a:t>More </a:t>
            </a:r>
            <a:r>
              <a:rPr b="1" dirty="0">
                <a:solidFill>
                  <a:schemeClr val="accent2"/>
                </a:solidFill>
                <a:latin typeface="Arial"/>
                <a:cs typeface="Arial"/>
              </a:rPr>
              <a:t>than </a:t>
            </a:r>
            <a:r>
              <a:rPr b="1" spc="-5" dirty="0">
                <a:solidFill>
                  <a:schemeClr val="accent2"/>
                </a:solidFill>
                <a:latin typeface="Arial"/>
                <a:cs typeface="Arial"/>
              </a:rPr>
              <a:t>1</a:t>
            </a:r>
            <a:r>
              <a:rPr b="1" spc="-70" dirty="0">
                <a:solidFill>
                  <a:schemeClr val="accent2"/>
                </a:solidFill>
                <a:latin typeface="Arial"/>
                <a:cs typeface="Arial"/>
              </a:rPr>
              <a:t> </a:t>
            </a:r>
            <a:r>
              <a:rPr b="1" dirty="0">
                <a:solidFill>
                  <a:schemeClr val="accent2"/>
                </a:solidFill>
                <a:latin typeface="Arial"/>
                <a:cs typeface="Arial"/>
              </a:rPr>
              <a:t>segment</a:t>
            </a:r>
            <a:endParaRPr dirty="0">
              <a:solidFill>
                <a:schemeClr val="accent2"/>
              </a:solidFill>
              <a:latin typeface="Arial"/>
              <a:cs typeface="Arial"/>
            </a:endParaRPr>
          </a:p>
        </p:txBody>
      </p:sp>
      <p:sp>
        <p:nvSpPr>
          <p:cNvPr id="10" name="object 10"/>
          <p:cNvSpPr txBox="1"/>
          <p:nvPr/>
        </p:nvSpPr>
        <p:spPr>
          <a:xfrm>
            <a:off x="3470402" y="119126"/>
            <a:ext cx="5249545" cy="574040"/>
          </a:xfrm>
          <a:prstGeom prst="rect">
            <a:avLst/>
          </a:prstGeom>
        </p:spPr>
        <p:txBody>
          <a:bodyPr vert="horz" wrap="square" lIns="0" tIns="12700" rIns="0" bIns="0" rtlCol="0">
            <a:spAutoFit/>
          </a:bodyPr>
          <a:lstStyle/>
          <a:p>
            <a:pPr marL="12700">
              <a:spcBef>
                <a:spcPts val="100"/>
              </a:spcBef>
            </a:pPr>
            <a:r>
              <a:rPr sz="3600" spc="-55" dirty="0">
                <a:solidFill>
                  <a:srgbClr val="002B60"/>
                </a:solidFill>
                <a:latin typeface="Arial"/>
                <a:cs typeface="Arial"/>
              </a:rPr>
              <a:t>Value </a:t>
            </a:r>
            <a:r>
              <a:rPr sz="3600" spc="-5" dirty="0">
                <a:solidFill>
                  <a:srgbClr val="002B60"/>
                </a:solidFill>
                <a:latin typeface="Arial"/>
                <a:cs typeface="Arial"/>
              </a:rPr>
              <a:t>Proposition</a:t>
            </a:r>
            <a:r>
              <a:rPr sz="3600" spc="20" dirty="0">
                <a:solidFill>
                  <a:srgbClr val="002B60"/>
                </a:solidFill>
                <a:latin typeface="Arial"/>
                <a:cs typeface="Arial"/>
              </a:rPr>
              <a:t> </a:t>
            </a:r>
            <a:r>
              <a:rPr sz="3600" spc="-5" dirty="0">
                <a:solidFill>
                  <a:srgbClr val="002B60"/>
                </a:solidFill>
                <a:latin typeface="Arial"/>
                <a:cs typeface="Arial"/>
              </a:rPr>
              <a:t>Canvas</a:t>
            </a:r>
            <a:endParaRPr sz="3600" dirty="0">
              <a:solidFill>
                <a:srgbClr val="002B60"/>
              </a:solidFill>
              <a:latin typeface="Arial"/>
              <a:cs typeface="Arial"/>
            </a:endParaRPr>
          </a:p>
        </p:txBody>
      </p:sp>
      <p:sp>
        <p:nvSpPr>
          <p:cNvPr id="11" name="object 11"/>
          <p:cNvSpPr/>
          <p:nvPr/>
        </p:nvSpPr>
        <p:spPr>
          <a:xfrm>
            <a:off x="242295" y="3163638"/>
            <a:ext cx="1664208" cy="1163574"/>
          </a:xfrm>
          <a:prstGeom prst="rect">
            <a:avLst/>
          </a:prstGeom>
          <a:blipFill>
            <a:blip r:embed="rId9" cstate="print"/>
            <a:stretch>
              <a:fillRect/>
            </a:stretch>
          </a:blipFill>
        </p:spPr>
        <p:txBody>
          <a:bodyPr wrap="square" lIns="0" tIns="0" rIns="0" bIns="0" rtlCol="0"/>
          <a:lstStyle/>
          <a:p>
            <a:endParaRPr/>
          </a:p>
        </p:txBody>
      </p:sp>
      <p:sp>
        <p:nvSpPr>
          <p:cNvPr id="12" name="object 12"/>
          <p:cNvSpPr/>
          <p:nvPr/>
        </p:nvSpPr>
        <p:spPr>
          <a:xfrm>
            <a:off x="8296656" y="4576572"/>
            <a:ext cx="1528572" cy="1527047"/>
          </a:xfrm>
          <a:prstGeom prst="rect">
            <a:avLst/>
          </a:prstGeom>
          <a:blipFill>
            <a:blip r:embed="rId10" cstate="print"/>
            <a:stretch>
              <a:fillRect/>
            </a:stretch>
          </a:blipFill>
        </p:spPr>
        <p:txBody>
          <a:bodyPr wrap="square" lIns="0" tIns="0" rIns="0" bIns="0" rtlCol="0"/>
          <a:lstStyle/>
          <a:p>
            <a:endParaRPr/>
          </a:p>
        </p:txBody>
      </p:sp>
      <p:sp>
        <p:nvSpPr>
          <p:cNvPr id="13" name="object 13"/>
          <p:cNvSpPr/>
          <p:nvPr/>
        </p:nvSpPr>
        <p:spPr>
          <a:xfrm>
            <a:off x="8145346" y="1642688"/>
            <a:ext cx="2000250" cy="909827"/>
          </a:xfrm>
          <a:prstGeom prst="rect">
            <a:avLst/>
          </a:prstGeom>
          <a:blipFill>
            <a:blip r:embed="rId11" cstate="print"/>
            <a:stretch>
              <a:fillRect/>
            </a:stretch>
          </a:blipFill>
        </p:spPr>
        <p:txBody>
          <a:bodyPr wrap="square" lIns="0" tIns="0" rIns="0" bIns="0" rtlCol="0"/>
          <a:lstStyle/>
          <a:p>
            <a:endParaRPr/>
          </a:p>
        </p:txBody>
      </p:sp>
      <p:sp>
        <p:nvSpPr>
          <p:cNvPr id="14" name="object 14"/>
          <p:cNvSpPr/>
          <p:nvPr/>
        </p:nvSpPr>
        <p:spPr>
          <a:xfrm>
            <a:off x="8851721" y="4955863"/>
            <a:ext cx="1705355" cy="219455"/>
          </a:xfrm>
          <a:prstGeom prst="rect">
            <a:avLst/>
          </a:prstGeom>
          <a:blipFill>
            <a:blip r:embed="rId12" cstate="print"/>
            <a:stretch>
              <a:fillRect/>
            </a:stretch>
          </a:blipFill>
        </p:spPr>
        <p:txBody>
          <a:bodyPr wrap="square" lIns="0" tIns="0" rIns="0" bIns="0" rtlCol="0"/>
          <a:lstStyle/>
          <a:p>
            <a:endParaRPr/>
          </a:p>
        </p:txBody>
      </p:sp>
      <p:sp>
        <p:nvSpPr>
          <p:cNvPr id="15" name="object 15"/>
          <p:cNvSpPr/>
          <p:nvPr/>
        </p:nvSpPr>
        <p:spPr>
          <a:xfrm>
            <a:off x="8231453" y="3138492"/>
            <a:ext cx="1869948" cy="1169670"/>
          </a:xfrm>
          <a:prstGeom prst="rect">
            <a:avLst/>
          </a:prstGeom>
          <a:blipFill>
            <a:blip r:embed="rId13" cstate="print"/>
            <a:stretch>
              <a:fillRect/>
            </a:stretch>
          </a:blipFill>
        </p:spPr>
        <p:txBody>
          <a:bodyPr wrap="square" lIns="0" tIns="0" rIns="0" bIns="0" rtlCol="0"/>
          <a:lstStyle/>
          <a:p>
            <a:endParaRPr/>
          </a:p>
        </p:txBody>
      </p:sp>
      <p:sp>
        <p:nvSpPr>
          <p:cNvPr id="16" name="Slide Number Placeholder 15"/>
          <p:cNvSpPr>
            <a:spLocks noGrp="1"/>
          </p:cNvSpPr>
          <p:nvPr>
            <p:ph type="sldNum" sz="quarter" idx="7"/>
          </p:nvPr>
        </p:nvSpPr>
        <p:spPr/>
        <p:txBody>
          <a:bodyPr/>
          <a:lstStyle/>
          <a:p>
            <a:fld id="{B6F15528-21DE-4FAA-801E-634DDDAF4B2B}" type="slidenum">
              <a:rPr lang="en-GB" smtClean="0"/>
              <a:t>31</a:t>
            </a:fld>
            <a:endParaRPr lang="en-GB"/>
          </a:p>
        </p:txBody>
      </p:sp>
      <p:sp>
        <p:nvSpPr>
          <p:cNvPr id="17" name="object 9"/>
          <p:cNvSpPr txBox="1"/>
          <p:nvPr/>
        </p:nvSpPr>
        <p:spPr>
          <a:xfrm rot="20679139">
            <a:off x="3507286" y="2297085"/>
            <a:ext cx="1547768" cy="299720"/>
          </a:xfrm>
          <a:prstGeom prst="rect">
            <a:avLst/>
          </a:prstGeom>
        </p:spPr>
        <p:txBody>
          <a:bodyPr vert="horz" wrap="square" lIns="0" tIns="12700" rIns="0" bIns="0" rtlCol="0">
            <a:spAutoFit/>
          </a:bodyPr>
          <a:lstStyle/>
          <a:p>
            <a:pPr marL="12700">
              <a:spcBef>
                <a:spcPts val="100"/>
              </a:spcBef>
            </a:pPr>
            <a:r>
              <a:rPr lang="nl-NL" b="1" spc="-5" dirty="0" err="1">
                <a:solidFill>
                  <a:schemeClr val="accent2"/>
                </a:solidFill>
                <a:latin typeface="Arial"/>
                <a:cs typeface="Arial"/>
              </a:rPr>
              <a:t>Smoke</a:t>
            </a:r>
            <a:r>
              <a:rPr lang="nl-NL" b="1" spc="-5" dirty="0">
                <a:solidFill>
                  <a:schemeClr val="accent2"/>
                </a:solidFill>
                <a:latin typeface="Arial"/>
                <a:cs typeface="Arial"/>
              </a:rPr>
              <a:t> alarm</a:t>
            </a:r>
            <a:endParaRPr dirty="0">
              <a:solidFill>
                <a:schemeClr val="accent2"/>
              </a:solidFill>
              <a:latin typeface="Arial"/>
              <a:cs typeface="Arial"/>
            </a:endParaRPr>
          </a:p>
        </p:txBody>
      </p:sp>
      <p:sp>
        <p:nvSpPr>
          <p:cNvPr id="18" name="object 9"/>
          <p:cNvSpPr txBox="1"/>
          <p:nvPr/>
        </p:nvSpPr>
        <p:spPr>
          <a:xfrm>
            <a:off x="3991520" y="3556884"/>
            <a:ext cx="1529643" cy="566822"/>
          </a:xfrm>
          <a:prstGeom prst="rect">
            <a:avLst/>
          </a:prstGeom>
        </p:spPr>
        <p:txBody>
          <a:bodyPr vert="horz" wrap="square" lIns="0" tIns="12700" rIns="0" bIns="0" rtlCol="0">
            <a:spAutoFit/>
          </a:bodyPr>
          <a:lstStyle/>
          <a:p>
            <a:pPr marL="12700">
              <a:spcBef>
                <a:spcPts val="100"/>
              </a:spcBef>
            </a:pPr>
            <a:r>
              <a:rPr lang="nl-NL" b="1" spc="-5" dirty="0" err="1">
                <a:solidFill>
                  <a:schemeClr val="accent2"/>
                </a:solidFill>
                <a:latin typeface="Arial"/>
                <a:cs typeface="Arial"/>
              </a:rPr>
              <a:t>Climate</a:t>
            </a:r>
            <a:r>
              <a:rPr lang="nl-NL" b="1" spc="-5" dirty="0">
                <a:solidFill>
                  <a:schemeClr val="accent2"/>
                </a:solidFill>
                <a:latin typeface="Arial"/>
                <a:cs typeface="Arial"/>
              </a:rPr>
              <a:t> control</a:t>
            </a:r>
            <a:endParaRPr dirty="0">
              <a:solidFill>
                <a:schemeClr val="accent2"/>
              </a:solidFill>
              <a:latin typeface="Arial"/>
              <a:cs typeface="Arial"/>
            </a:endParaRPr>
          </a:p>
        </p:txBody>
      </p:sp>
      <p:sp>
        <p:nvSpPr>
          <p:cNvPr id="19" name="object 9"/>
          <p:cNvSpPr txBox="1"/>
          <p:nvPr/>
        </p:nvSpPr>
        <p:spPr>
          <a:xfrm rot="1309801">
            <a:off x="3609140" y="4855179"/>
            <a:ext cx="1547768" cy="566822"/>
          </a:xfrm>
          <a:prstGeom prst="rect">
            <a:avLst/>
          </a:prstGeom>
        </p:spPr>
        <p:txBody>
          <a:bodyPr vert="horz" wrap="square" lIns="0" tIns="12700" rIns="0" bIns="0" rtlCol="0">
            <a:spAutoFit/>
          </a:bodyPr>
          <a:lstStyle/>
          <a:p>
            <a:pPr marL="12700">
              <a:spcBef>
                <a:spcPts val="100"/>
              </a:spcBef>
            </a:pPr>
            <a:r>
              <a:rPr lang="nl-NL" b="1" spc="-5" dirty="0">
                <a:solidFill>
                  <a:schemeClr val="accent2"/>
                </a:solidFill>
                <a:latin typeface="Arial"/>
                <a:cs typeface="Arial"/>
              </a:rPr>
              <a:t>Traffic monitoring</a:t>
            </a:r>
            <a:endParaRPr dirty="0">
              <a:solidFill>
                <a:schemeClr val="accent2"/>
              </a:solidFill>
              <a:latin typeface="Arial"/>
              <a:cs typeface="Arial"/>
            </a:endParaRPr>
          </a:p>
        </p:txBody>
      </p:sp>
    </p:spTree>
    <p:extLst>
      <p:ext uri="{BB962C8B-B14F-4D97-AF65-F5344CB8AC3E}">
        <p14:creationId xmlns:p14="http://schemas.microsoft.com/office/powerpoint/2010/main" val="204490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p:cNvSpPr txBox="1">
            <a:spLocks/>
          </p:cNvSpPr>
          <p:nvPr/>
        </p:nvSpPr>
        <p:spPr bwMode="auto">
          <a:xfrm>
            <a:off x="6959601" y="1341438"/>
            <a:ext cx="2754313" cy="431800"/>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defRPr/>
            </a:pPr>
            <a:r>
              <a:rPr lang="en-US" kern="0" dirty="0">
                <a:solidFill>
                  <a:srgbClr val="002B60"/>
                </a:solidFill>
              </a:rPr>
              <a:t>Users / customers</a:t>
            </a:r>
            <a:endParaRPr lang="nl-NL" kern="0" dirty="0">
              <a:solidFill>
                <a:srgbClr val="002B60"/>
              </a:solidFill>
            </a:endParaRP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l="48851"/>
          <a:stretch>
            <a:fillRect/>
          </a:stretch>
        </p:blipFill>
        <p:spPr bwMode="auto">
          <a:xfrm>
            <a:off x="6188076" y="1763713"/>
            <a:ext cx="3795713" cy="3681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bwMode="auto">
          <a:xfrm>
            <a:off x="542398" y="1763713"/>
            <a:ext cx="5375803"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0" indent="0" algn="ctr" rtl="0" eaLnBrk="0" fontAlgn="base" hangingPunct="0">
              <a:spcBef>
                <a:spcPct val="20000"/>
              </a:spcBef>
              <a:spcAft>
                <a:spcPct val="0"/>
              </a:spcAft>
              <a:buFont typeface="Times" pitchFamily="18" charset="0"/>
              <a:buNone/>
              <a:defRPr sz="2400">
                <a:solidFill>
                  <a:schemeClr val="tx1"/>
                </a:solidFill>
                <a:latin typeface="+mn-lt"/>
                <a:ea typeface="+mn-ea"/>
                <a:cs typeface="+mn-cs"/>
              </a:defRPr>
            </a:lvl1pPr>
            <a:lvl2pPr marL="457200" indent="0" algn="ctr" rtl="0" eaLnBrk="0" fontAlgn="base" hangingPunct="0">
              <a:spcBef>
                <a:spcPct val="20000"/>
              </a:spcBef>
              <a:spcAft>
                <a:spcPct val="0"/>
              </a:spcAft>
              <a:buFont typeface="Times" pitchFamily="18" charset="0"/>
              <a:buNone/>
              <a:defRPr sz="2400">
                <a:solidFill>
                  <a:schemeClr val="tx1"/>
                </a:solidFill>
                <a:latin typeface="+mn-lt"/>
              </a:defRPr>
            </a:lvl2pPr>
            <a:lvl3pPr marL="914400" indent="0" algn="ctr" rtl="0" eaLnBrk="0" fontAlgn="base" hangingPunct="0">
              <a:spcBef>
                <a:spcPct val="20000"/>
              </a:spcBef>
              <a:spcAft>
                <a:spcPct val="0"/>
              </a:spcAft>
              <a:buFont typeface="Times" pitchFamily="18" charset="0"/>
              <a:buNone/>
              <a:defRPr sz="2400">
                <a:solidFill>
                  <a:schemeClr val="tx1"/>
                </a:solidFill>
                <a:latin typeface="+mn-lt"/>
              </a:defRPr>
            </a:lvl3pPr>
            <a:lvl4pPr marL="1371600" indent="0" algn="ctr" rtl="0" eaLnBrk="0" fontAlgn="base" hangingPunct="0">
              <a:spcBef>
                <a:spcPct val="20000"/>
              </a:spcBef>
              <a:spcAft>
                <a:spcPct val="0"/>
              </a:spcAft>
              <a:buFont typeface="Times" pitchFamily="18" charset="0"/>
              <a:buNone/>
              <a:defRPr sz="2400">
                <a:solidFill>
                  <a:schemeClr val="tx1"/>
                </a:solidFill>
                <a:latin typeface="+mn-lt"/>
              </a:defRPr>
            </a:lvl4pPr>
            <a:lvl5pPr marL="1828800" indent="0" algn="ctr" rtl="0" eaLnBrk="0" fontAlgn="base" hangingPunct="0">
              <a:spcBef>
                <a:spcPct val="20000"/>
              </a:spcBef>
              <a:spcAft>
                <a:spcPct val="0"/>
              </a:spcAft>
              <a:buFont typeface="Times" pitchFamily="18" charset="0"/>
              <a:buNone/>
              <a:defRPr sz="2400">
                <a:solidFill>
                  <a:schemeClr val="tx1"/>
                </a:solidFill>
                <a:latin typeface="+mn-lt"/>
              </a:defRPr>
            </a:lvl5pPr>
            <a:lvl6pPr marL="2286000" indent="0" algn="ctr" rtl="0" fontAlgn="base">
              <a:spcBef>
                <a:spcPct val="20000"/>
              </a:spcBef>
              <a:spcAft>
                <a:spcPct val="0"/>
              </a:spcAft>
              <a:buFont typeface="Times" charset="0"/>
              <a:buNone/>
              <a:defRPr sz="2400">
                <a:solidFill>
                  <a:schemeClr val="tx1"/>
                </a:solidFill>
                <a:latin typeface="+mn-lt"/>
              </a:defRPr>
            </a:lvl6pPr>
            <a:lvl7pPr marL="2743200" indent="0" algn="ctr" rtl="0" fontAlgn="base">
              <a:spcBef>
                <a:spcPct val="20000"/>
              </a:spcBef>
              <a:spcAft>
                <a:spcPct val="0"/>
              </a:spcAft>
              <a:buFont typeface="Times" charset="0"/>
              <a:buNone/>
              <a:defRPr sz="2400">
                <a:solidFill>
                  <a:schemeClr val="tx1"/>
                </a:solidFill>
                <a:latin typeface="+mn-lt"/>
              </a:defRPr>
            </a:lvl7pPr>
            <a:lvl8pPr marL="3200400" indent="0" algn="ctr" rtl="0" fontAlgn="base">
              <a:spcBef>
                <a:spcPct val="20000"/>
              </a:spcBef>
              <a:spcAft>
                <a:spcPct val="0"/>
              </a:spcAft>
              <a:buFont typeface="Times" charset="0"/>
              <a:buNone/>
              <a:defRPr sz="2400">
                <a:solidFill>
                  <a:schemeClr val="tx1"/>
                </a:solidFill>
                <a:latin typeface="+mn-lt"/>
              </a:defRPr>
            </a:lvl8pPr>
            <a:lvl9pPr marL="3657600" indent="0" algn="ctr" rtl="0" fontAlgn="base">
              <a:spcBef>
                <a:spcPct val="20000"/>
              </a:spcBef>
              <a:spcAft>
                <a:spcPct val="0"/>
              </a:spcAft>
              <a:buFont typeface="Times" charset="0"/>
              <a:buNone/>
              <a:defRPr sz="2400">
                <a:solidFill>
                  <a:schemeClr val="tx1"/>
                </a:solidFill>
                <a:latin typeface="+mn-lt"/>
              </a:defRPr>
            </a:lvl9pPr>
          </a:lstStyle>
          <a:p>
            <a:pPr algn="l">
              <a:lnSpc>
                <a:spcPct val="90000"/>
              </a:lnSpc>
              <a:defRPr/>
            </a:pPr>
            <a:r>
              <a:rPr lang="en-GB" altLang="nl-NL" sz="2000" kern="0" dirty="0"/>
              <a:t>How do people solve the problem currently?</a:t>
            </a:r>
          </a:p>
          <a:p>
            <a:pPr algn="l">
              <a:lnSpc>
                <a:spcPct val="90000"/>
              </a:lnSpc>
              <a:defRPr/>
            </a:pPr>
            <a:endParaRPr lang="en-GB" altLang="nl-NL" sz="2000" kern="0" dirty="0"/>
          </a:p>
          <a:p>
            <a:pPr algn="l">
              <a:lnSpc>
                <a:spcPct val="90000"/>
              </a:lnSpc>
              <a:defRPr/>
            </a:pPr>
            <a:r>
              <a:rPr lang="en-GB" altLang="nl-NL" sz="2000" kern="0" dirty="0"/>
              <a:t>How do they do their job?</a:t>
            </a:r>
          </a:p>
          <a:p>
            <a:pPr algn="l">
              <a:lnSpc>
                <a:spcPct val="90000"/>
              </a:lnSpc>
              <a:defRPr/>
            </a:pPr>
            <a:endParaRPr lang="en-GB" altLang="nl-NL" sz="2000" kern="0" dirty="0"/>
          </a:p>
          <a:p>
            <a:pPr algn="l">
              <a:lnSpc>
                <a:spcPct val="90000"/>
              </a:lnSpc>
              <a:defRPr/>
            </a:pPr>
            <a:r>
              <a:rPr lang="en-GB" altLang="nl-NL" sz="2000" kern="0" dirty="0"/>
              <a:t>Does your offer fit in their job?</a:t>
            </a:r>
          </a:p>
          <a:p>
            <a:pPr algn="l">
              <a:lnSpc>
                <a:spcPct val="90000"/>
              </a:lnSpc>
              <a:defRPr/>
            </a:pPr>
            <a:endParaRPr lang="en-GB" altLang="nl-NL" sz="2000" kern="0" dirty="0"/>
          </a:p>
          <a:p>
            <a:pPr algn="l">
              <a:lnSpc>
                <a:spcPct val="90000"/>
              </a:lnSpc>
              <a:defRPr/>
            </a:pPr>
            <a:r>
              <a:rPr lang="en-GB" altLang="nl-NL" sz="2000" kern="0" dirty="0"/>
              <a:t>Does your offer solve the problem better than the current solution?</a:t>
            </a:r>
          </a:p>
          <a:p>
            <a:pPr algn="l">
              <a:lnSpc>
                <a:spcPct val="90000"/>
              </a:lnSpc>
              <a:defRPr/>
            </a:pPr>
            <a:endParaRPr lang="nl-NL" altLang="nl-NL" sz="2000" kern="0" dirty="0"/>
          </a:p>
          <a:p>
            <a:pPr algn="l">
              <a:lnSpc>
                <a:spcPct val="90000"/>
              </a:lnSpc>
              <a:defRPr/>
            </a:pPr>
            <a:r>
              <a:rPr lang="nl-NL" altLang="nl-NL" sz="1800" i="1" u="sng" kern="0" dirty="0"/>
              <a:t>People </a:t>
            </a:r>
            <a:r>
              <a:rPr lang="nl-NL" altLang="nl-NL" sz="1800" i="1" u="sng" kern="0" dirty="0" err="1"/>
              <a:t>hire</a:t>
            </a:r>
            <a:r>
              <a:rPr lang="nl-NL" altLang="nl-NL" sz="1800" i="1" u="sng" kern="0" dirty="0"/>
              <a:t> </a:t>
            </a:r>
            <a:r>
              <a:rPr lang="nl-NL" altLang="nl-NL" sz="1800" i="1" u="sng" kern="0" dirty="0" err="1"/>
              <a:t>products</a:t>
            </a:r>
            <a:r>
              <a:rPr lang="nl-NL" altLang="nl-NL" sz="1800" i="1" u="sng" kern="0" dirty="0"/>
              <a:t>/ services </a:t>
            </a:r>
            <a:r>
              <a:rPr lang="nl-NL" altLang="nl-NL" sz="1800" i="1" u="sng" kern="0" dirty="0" err="1"/>
              <a:t>to</a:t>
            </a:r>
            <a:r>
              <a:rPr lang="nl-NL" altLang="nl-NL" sz="1800" i="1" u="sng" kern="0" dirty="0"/>
              <a:t> do a job </a:t>
            </a:r>
            <a:r>
              <a:rPr lang="nl-NL" altLang="nl-NL" sz="1800" i="1" u="sng" kern="0" dirty="0" err="1"/>
              <a:t>for</a:t>
            </a:r>
            <a:r>
              <a:rPr lang="nl-NL" altLang="nl-NL" sz="1800" i="1" u="sng" kern="0" dirty="0"/>
              <a:t> </a:t>
            </a:r>
            <a:r>
              <a:rPr lang="nl-NL" altLang="nl-NL" sz="1800" i="1" u="sng" kern="0" dirty="0" err="1"/>
              <a:t>them</a:t>
            </a:r>
            <a:endParaRPr lang="en-GB" altLang="nl-NL" sz="1800" i="1" u="sng" kern="0" dirty="0"/>
          </a:p>
          <a:p>
            <a:pPr>
              <a:lnSpc>
                <a:spcPct val="90000"/>
              </a:lnSpc>
              <a:defRPr/>
            </a:pPr>
            <a:endParaRPr lang="en-US" sz="2000" i="1" u="sng" kern="0" dirty="0">
              <a:sym typeface="Wingdings" panose="05000000000000000000" pitchFamily="2" charset="2"/>
            </a:endParaRPr>
          </a:p>
          <a:p>
            <a:pPr>
              <a:lnSpc>
                <a:spcPct val="90000"/>
              </a:lnSpc>
              <a:defRPr/>
            </a:pPr>
            <a:r>
              <a:rPr lang="en-US" sz="2000" i="1" u="sng" kern="0" dirty="0">
                <a:sym typeface="Wingdings" panose="05000000000000000000" pitchFamily="2" charset="2"/>
              </a:rPr>
              <a:t> Do not provide the solution before you validate the problem exists</a:t>
            </a:r>
            <a:endParaRPr lang="en-US" sz="2000" i="1" u="sng" kern="0" dirty="0"/>
          </a:p>
          <a:p>
            <a:pPr>
              <a:lnSpc>
                <a:spcPct val="90000"/>
              </a:lnSpc>
              <a:defRPr/>
            </a:pPr>
            <a:endParaRPr lang="en-GB" altLang="nl-NL" sz="2000" kern="0" dirty="0">
              <a:solidFill>
                <a:srgbClr val="0099CC"/>
              </a:solidFill>
            </a:endParaRPr>
          </a:p>
          <a:p>
            <a:pPr>
              <a:lnSpc>
                <a:spcPct val="90000"/>
              </a:lnSpc>
              <a:defRPr/>
            </a:pPr>
            <a:endParaRPr lang="en-GB" altLang="nl-NL" sz="2000" kern="0" dirty="0">
              <a:solidFill>
                <a:srgbClr val="0099CC"/>
              </a:solidFill>
            </a:endParaRPr>
          </a:p>
          <a:p>
            <a:pPr>
              <a:lnSpc>
                <a:spcPct val="90000"/>
              </a:lnSpc>
              <a:defRPr/>
            </a:pPr>
            <a:endParaRPr lang="en-GB" altLang="nl-NL" sz="2000" kern="0" dirty="0"/>
          </a:p>
          <a:p>
            <a:pPr>
              <a:lnSpc>
                <a:spcPct val="90000"/>
              </a:lnSpc>
              <a:defRPr/>
            </a:pPr>
            <a:endParaRPr lang="nl-NL" altLang="nl-NL" sz="2000" kern="0" dirty="0"/>
          </a:p>
          <a:p>
            <a:pPr>
              <a:lnSpc>
                <a:spcPct val="90000"/>
              </a:lnSpc>
              <a:defRPr/>
            </a:pPr>
            <a:endParaRPr lang="en-GB" altLang="nl-NL" sz="2000" kern="0" dirty="0"/>
          </a:p>
        </p:txBody>
      </p:sp>
      <p:sp>
        <p:nvSpPr>
          <p:cNvPr id="18437"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lgn="ctr">
              <a:spcBef>
                <a:spcPct val="0"/>
              </a:spcBef>
              <a:buFontTx/>
              <a:buNone/>
            </a:pPr>
            <a:r>
              <a:rPr lang="en-US" altLang="nl-NL" sz="3300" dirty="0">
                <a:solidFill>
                  <a:srgbClr val="002B60"/>
                </a:solidFill>
                <a:latin typeface="Arial" pitchFamily="34" charset="0"/>
              </a:rPr>
              <a:t>Value Proposition Canvas</a:t>
            </a:r>
          </a:p>
        </p:txBody>
      </p:sp>
    </p:spTree>
    <p:extLst>
      <p:ext uri="{BB962C8B-B14F-4D97-AF65-F5344CB8AC3E}">
        <p14:creationId xmlns:p14="http://schemas.microsoft.com/office/powerpoint/2010/main" val="225180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4352" y="6134760"/>
            <a:ext cx="4028576" cy="4810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2"/>
          <p:cNvSpPr txBox="1">
            <a:spLocks/>
          </p:cNvSpPr>
          <p:nvPr/>
        </p:nvSpPr>
        <p:spPr bwMode="auto">
          <a:xfrm>
            <a:off x="6959601" y="1341438"/>
            <a:ext cx="2754313" cy="431800"/>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2400">
                <a:solidFill>
                  <a:schemeClr val="tx1"/>
                </a:solidFill>
                <a:latin typeface="+mn-lt"/>
                <a:ea typeface="+mn-ea"/>
                <a:cs typeface="Osaka"/>
              </a:defRPr>
            </a:lvl1pPr>
            <a:lvl2pPr marL="457200" indent="0" algn="ctr" rtl="0" eaLnBrk="0" fontAlgn="base" hangingPunct="0">
              <a:spcBef>
                <a:spcPct val="20000"/>
              </a:spcBef>
              <a:spcAft>
                <a:spcPct val="0"/>
              </a:spcAft>
              <a:buNone/>
              <a:defRPr sz="2400">
                <a:solidFill>
                  <a:schemeClr val="tx1"/>
                </a:solidFill>
                <a:latin typeface="+mn-lt"/>
                <a:ea typeface="+mn-ea"/>
                <a:cs typeface="Osaka"/>
              </a:defRPr>
            </a:lvl2pPr>
            <a:lvl3pPr marL="914400" indent="0" algn="ctr" rtl="0" eaLnBrk="0" fontAlgn="base" hangingPunct="0">
              <a:spcBef>
                <a:spcPct val="20000"/>
              </a:spcBef>
              <a:spcAft>
                <a:spcPct val="0"/>
              </a:spcAft>
              <a:buNone/>
              <a:defRPr sz="2400">
                <a:solidFill>
                  <a:schemeClr val="tx1"/>
                </a:solidFill>
                <a:latin typeface="+mn-lt"/>
                <a:ea typeface="+mn-ea"/>
                <a:cs typeface="Osaka"/>
              </a:defRPr>
            </a:lvl3pPr>
            <a:lvl4pPr marL="1371600" indent="0" algn="ctr" rtl="0" eaLnBrk="0" fontAlgn="base" hangingPunct="0">
              <a:spcBef>
                <a:spcPct val="20000"/>
              </a:spcBef>
              <a:spcAft>
                <a:spcPct val="0"/>
              </a:spcAft>
              <a:buNone/>
              <a:defRPr sz="2400">
                <a:solidFill>
                  <a:schemeClr val="tx1"/>
                </a:solidFill>
                <a:latin typeface="+mn-lt"/>
                <a:ea typeface="+mn-ea"/>
                <a:cs typeface="Osaka"/>
              </a:defRPr>
            </a:lvl4pPr>
            <a:lvl5pPr marL="1828800" indent="0" algn="ctr" rtl="0" eaLnBrk="0" fontAlgn="base" hangingPunct="0">
              <a:spcBef>
                <a:spcPct val="20000"/>
              </a:spcBef>
              <a:spcAft>
                <a:spcPct val="0"/>
              </a:spcAft>
              <a:buNone/>
              <a:defRPr sz="2400">
                <a:solidFill>
                  <a:schemeClr val="tx1"/>
                </a:solidFill>
                <a:latin typeface="+mn-lt"/>
                <a:ea typeface="+mn-ea"/>
                <a:cs typeface="Osaka"/>
              </a:defRPr>
            </a:lvl5pPr>
            <a:lvl6pPr marL="2286000" indent="0" algn="ctr" rtl="0" fontAlgn="base">
              <a:spcBef>
                <a:spcPct val="20000"/>
              </a:spcBef>
              <a:spcAft>
                <a:spcPct val="0"/>
              </a:spcAft>
              <a:buNone/>
              <a:defRPr sz="2400">
                <a:solidFill>
                  <a:schemeClr val="tx1"/>
                </a:solidFill>
                <a:latin typeface="+mn-lt"/>
                <a:ea typeface="+mn-ea"/>
              </a:defRPr>
            </a:lvl6pPr>
            <a:lvl7pPr marL="2743200" indent="0" algn="ctr" rtl="0" fontAlgn="base">
              <a:spcBef>
                <a:spcPct val="20000"/>
              </a:spcBef>
              <a:spcAft>
                <a:spcPct val="0"/>
              </a:spcAft>
              <a:buNone/>
              <a:defRPr sz="2400">
                <a:solidFill>
                  <a:schemeClr val="tx1"/>
                </a:solidFill>
                <a:latin typeface="+mn-lt"/>
                <a:ea typeface="+mn-ea"/>
              </a:defRPr>
            </a:lvl7pPr>
            <a:lvl8pPr marL="3200400" indent="0" algn="ctr" rtl="0" fontAlgn="base">
              <a:spcBef>
                <a:spcPct val="20000"/>
              </a:spcBef>
              <a:spcAft>
                <a:spcPct val="0"/>
              </a:spcAft>
              <a:buNone/>
              <a:defRPr sz="2400">
                <a:solidFill>
                  <a:schemeClr val="tx1"/>
                </a:solidFill>
                <a:latin typeface="+mn-lt"/>
                <a:ea typeface="+mn-ea"/>
              </a:defRPr>
            </a:lvl8pPr>
            <a:lvl9pPr marL="3657600" indent="0" algn="ctr" rtl="0" fontAlgn="base">
              <a:spcBef>
                <a:spcPct val="20000"/>
              </a:spcBef>
              <a:spcAft>
                <a:spcPct val="0"/>
              </a:spcAft>
              <a:buNone/>
              <a:defRPr sz="2400">
                <a:solidFill>
                  <a:schemeClr val="tx1"/>
                </a:solidFill>
                <a:latin typeface="+mn-lt"/>
                <a:ea typeface="+mn-ea"/>
              </a:defRPr>
            </a:lvl9pPr>
          </a:lstStyle>
          <a:p>
            <a:pPr algn="l">
              <a:defRPr/>
            </a:pPr>
            <a:r>
              <a:rPr lang="en-US" kern="0" dirty="0">
                <a:solidFill>
                  <a:srgbClr val="002B60"/>
                </a:solidFill>
              </a:rPr>
              <a:t>Users / customers</a:t>
            </a:r>
            <a:endParaRPr lang="nl-NL" kern="0" dirty="0">
              <a:solidFill>
                <a:srgbClr val="002B60"/>
              </a:solidFill>
            </a:endParaRPr>
          </a:p>
        </p:txBody>
      </p:sp>
      <p:pic>
        <p:nvPicPr>
          <p:cNvPr id="18435" name="Picture 2"/>
          <p:cNvPicPr>
            <a:picLocks noChangeAspect="1" noChangeArrowheads="1"/>
          </p:cNvPicPr>
          <p:nvPr/>
        </p:nvPicPr>
        <p:blipFill>
          <a:blip r:embed="rId3">
            <a:extLst>
              <a:ext uri="{28A0092B-C50C-407E-A947-70E740481C1C}">
                <a14:useLocalDpi xmlns:a14="http://schemas.microsoft.com/office/drawing/2010/main" val="0"/>
              </a:ext>
            </a:extLst>
          </a:blip>
          <a:srcRect l="48851"/>
          <a:stretch>
            <a:fillRect/>
          </a:stretch>
        </p:blipFill>
        <p:spPr bwMode="auto">
          <a:xfrm>
            <a:off x="6188076" y="1763713"/>
            <a:ext cx="3795713" cy="3681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p:cNvSpPr txBox="1">
            <a:spLocks noChangeArrowheads="1"/>
          </p:cNvSpPr>
          <p:nvPr/>
        </p:nvSpPr>
        <p:spPr bwMode="auto">
          <a:xfrm>
            <a:off x="720197" y="1344445"/>
            <a:ext cx="5375803"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marL="0" indent="0" algn="ctr" rtl="0" eaLnBrk="0" fontAlgn="base" hangingPunct="0">
              <a:spcBef>
                <a:spcPct val="20000"/>
              </a:spcBef>
              <a:spcAft>
                <a:spcPct val="0"/>
              </a:spcAft>
              <a:buFont typeface="Times" pitchFamily="18" charset="0"/>
              <a:buNone/>
              <a:defRPr sz="2400">
                <a:solidFill>
                  <a:schemeClr val="tx1"/>
                </a:solidFill>
                <a:latin typeface="+mn-lt"/>
                <a:ea typeface="+mn-ea"/>
                <a:cs typeface="+mn-cs"/>
              </a:defRPr>
            </a:lvl1pPr>
            <a:lvl2pPr marL="457200" indent="0" algn="ctr" rtl="0" eaLnBrk="0" fontAlgn="base" hangingPunct="0">
              <a:spcBef>
                <a:spcPct val="20000"/>
              </a:spcBef>
              <a:spcAft>
                <a:spcPct val="0"/>
              </a:spcAft>
              <a:buFont typeface="Times" pitchFamily="18" charset="0"/>
              <a:buNone/>
              <a:defRPr sz="2400">
                <a:solidFill>
                  <a:schemeClr val="tx1"/>
                </a:solidFill>
                <a:latin typeface="+mn-lt"/>
              </a:defRPr>
            </a:lvl2pPr>
            <a:lvl3pPr marL="914400" indent="0" algn="ctr" rtl="0" eaLnBrk="0" fontAlgn="base" hangingPunct="0">
              <a:spcBef>
                <a:spcPct val="20000"/>
              </a:spcBef>
              <a:spcAft>
                <a:spcPct val="0"/>
              </a:spcAft>
              <a:buFont typeface="Times" pitchFamily="18" charset="0"/>
              <a:buNone/>
              <a:defRPr sz="2400">
                <a:solidFill>
                  <a:schemeClr val="tx1"/>
                </a:solidFill>
                <a:latin typeface="+mn-lt"/>
              </a:defRPr>
            </a:lvl3pPr>
            <a:lvl4pPr marL="1371600" indent="0" algn="ctr" rtl="0" eaLnBrk="0" fontAlgn="base" hangingPunct="0">
              <a:spcBef>
                <a:spcPct val="20000"/>
              </a:spcBef>
              <a:spcAft>
                <a:spcPct val="0"/>
              </a:spcAft>
              <a:buFont typeface="Times" pitchFamily="18" charset="0"/>
              <a:buNone/>
              <a:defRPr sz="2400">
                <a:solidFill>
                  <a:schemeClr val="tx1"/>
                </a:solidFill>
                <a:latin typeface="+mn-lt"/>
              </a:defRPr>
            </a:lvl4pPr>
            <a:lvl5pPr marL="1828800" indent="0" algn="ctr" rtl="0" eaLnBrk="0" fontAlgn="base" hangingPunct="0">
              <a:spcBef>
                <a:spcPct val="20000"/>
              </a:spcBef>
              <a:spcAft>
                <a:spcPct val="0"/>
              </a:spcAft>
              <a:buFont typeface="Times" pitchFamily="18" charset="0"/>
              <a:buNone/>
              <a:defRPr sz="2400">
                <a:solidFill>
                  <a:schemeClr val="tx1"/>
                </a:solidFill>
                <a:latin typeface="+mn-lt"/>
              </a:defRPr>
            </a:lvl5pPr>
            <a:lvl6pPr marL="2286000" indent="0" algn="ctr" rtl="0" fontAlgn="base">
              <a:spcBef>
                <a:spcPct val="20000"/>
              </a:spcBef>
              <a:spcAft>
                <a:spcPct val="0"/>
              </a:spcAft>
              <a:buFont typeface="Times" charset="0"/>
              <a:buNone/>
              <a:defRPr sz="2400">
                <a:solidFill>
                  <a:schemeClr val="tx1"/>
                </a:solidFill>
                <a:latin typeface="+mn-lt"/>
              </a:defRPr>
            </a:lvl6pPr>
            <a:lvl7pPr marL="2743200" indent="0" algn="ctr" rtl="0" fontAlgn="base">
              <a:spcBef>
                <a:spcPct val="20000"/>
              </a:spcBef>
              <a:spcAft>
                <a:spcPct val="0"/>
              </a:spcAft>
              <a:buFont typeface="Times" charset="0"/>
              <a:buNone/>
              <a:defRPr sz="2400">
                <a:solidFill>
                  <a:schemeClr val="tx1"/>
                </a:solidFill>
                <a:latin typeface="+mn-lt"/>
              </a:defRPr>
            </a:lvl7pPr>
            <a:lvl8pPr marL="3200400" indent="0" algn="ctr" rtl="0" fontAlgn="base">
              <a:spcBef>
                <a:spcPct val="20000"/>
              </a:spcBef>
              <a:spcAft>
                <a:spcPct val="0"/>
              </a:spcAft>
              <a:buFont typeface="Times" charset="0"/>
              <a:buNone/>
              <a:defRPr sz="2400">
                <a:solidFill>
                  <a:schemeClr val="tx1"/>
                </a:solidFill>
                <a:latin typeface="+mn-lt"/>
              </a:defRPr>
            </a:lvl8pPr>
            <a:lvl9pPr marL="3657600" indent="0" algn="ctr" rtl="0" fontAlgn="base">
              <a:spcBef>
                <a:spcPct val="20000"/>
              </a:spcBef>
              <a:spcAft>
                <a:spcPct val="0"/>
              </a:spcAft>
              <a:buFont typeface="Times" charset="0"/>
              <a:buNone/>
              <a:defRPr sz="2400">
                <a:solidFill>
                  <a:schemeClr val="tx1"/>
                </a:solidFill>
                <a:latin typeface="+mn-lt"/>
              </a:defRPr>
            </a:lvl9pPr>
          </a:lstStyle>
          <a:p>
            <a:pPr algn="l">
              <a:lnSpc>
                <a:spcPct val="90000"/>
              </a:lnSpc>
              <a:defRPr/>
            </a:pPr>
            <a:r>
              <a:rPr lang="nl-NL" altLang="nl-NL" sz="2000" kern="0" dirty="0"/>
              <a:t>Customer Job</a:t>
            </a:r>
          </a:p>
          <a:p>
            <a:pPr algn="l">
              <a:lnSpc>
                <a:spcPct val="90000"/>
              </a:lnSpc>
              <a:defRPr/>
            </a:pPr>
            <a:endParaRPr lang="nl-NL" altLang="nl-NL" sz="2000" kern="0" dirty="0"/>
          </a:p>
          <a:p>
            <a:pPr algn="l">
              <a:lnSpc>
                <a:spcPct val="90000"/>
              </a:lnSpc>
              <a:defRPr/>
            </a:pPr>
            <a:r>
              <a:rPr lang="nl-NL" altLang="nl-NL" sz="1800" i="1" u="sng" kern="0" dirty="0"/>
              <a:t>People </a:t>
            </a:r>
            <a:r>
              <a:rPr lang="nl-NL" altLang="nl-NL" sz="1800" i="1" u="sng" kern="0" dirty="0" err="1"/>
              <a:t>hire</a:t>
            </a:r>
            <a:r>
              <a:rPr lang="nl-NL" altLang="nl-NL" sz="1800" i="1" u="sng" kern="0" dirty="0"/>
              <a:t> </a:t>
            </a:r>
            <a:r>
              <a:rPr lang="nl-NL" altLang="nl-NL" sz="1800" i="1" u="sng" kern="0" dirty="0" err="1"/>
              <a:t>products</a:t>
            </a:r>
            <a:r>
              <a:rPr lang="nl-NL" altLang="nl-NL" sz="1800" i="1" u="sng" kern="0" dirty="0"/>
              <a:t>/ services </a:t>
            </a:r>
            <a:r>
              <a:rPr lang="nl-NL" altLang="nl-NL" sz="1800" i="1" u="sng" kern="0" dirty="0" err="1"/>
              <a:t>to</a:t>
            </a:r>
            <a:r>
              <a:rPr lang="nl-NL" altLang="nl-NL" sz="1800" i="1" u="sng" kern="0" dirty="0"/>
              <a:t> do a job for </a:t>
            </a:r>
            <a:r>
              <a:rPr lang="nl-NL" altLang="nl-NL" sz="1800" i="1" u="sng" kern="0" dirty="0" err="1"/>
              <a:t>them</a:t>
            </a:r>
            <a:endParaRPr lang="nl-NL" altLang="nl-NL" sz="1800" i="1" u="sng" kern="0" dirty="0"/>
          </a:p>
          <a:p>
            <a:pPr algn="l">
              <a:lnSpc>
                <a:spcPct val="90000"/>
              </a:lnSpc>
              <a:defRPr/>
            </a:pPr>
            <a:endParaRPr lang="nl-NL" altLang="nl-NL" sz="2000" i="1" u="sng" kern="0" dirty="0"/>
          </a:p>
          <a:p>
            <a:pPr algn="l">
              <a:lnSpc>
                <a:spcPct val="90000"/>
              </a:lnSpc>
              <a:defRPr/>
            </a:pPr>
            <a:r>
              <a:rPr lang="nl-NL" altLang="nl-NL" sz="1800" kern="0" dirty="0" err="1"/>
              <a:t>Christensen</a:t>
            </a:r>
            <a:r>
              <a:rPr lang="nl-NL" altLang="nl-NL" sz="1800" kern="0" dirty="0"/>
              <a:t>: </a:t>
            </a:r>
            <a:r>
              <a:rPr lang="en-GB" sz="1800" spc="-5" dirty="0">
                <a:solidFill>
                  <a:srgbClr val="002B60"/>
                </a:solidFill>
                <a:latin typeface="Tahoma"/>
                <a:cs typeface="Tahoma"/>
                <a:hlinkClick r:id="rId4"/>
              </a:rPr>
              <a:t>https://www.youtube.com/watch?v=sfGtw2C95Ms</a:t>
            </a:r>
            <a:endParaRPr lang="en-GB" sz="1800" spc="-5" dirty="0">
              <a:solidFill>
                <a:srgbClr val="002B60"/>
              </a:solidFill>
              <a:latin typeface="Tahoma"/>
              <a:cs typeface="Tahoma"/>
            </a:endParaRPr>
          </a:p>
          <a:p>
            <a:pPr algn="l">
              <a:lnSpc>
                <a:spcPct val="90000"/>
              </a:lnSpc>
              <a:defRPr/>
            </a:pPr>
            <a:endParaRPr lang="en-GB" altLang="nl-NL" sz="2000" i="1" u="sng" kern="0" dirty="0"/>
          </a:p>
          <a:p>
            <a:pPr algn="l">
              <a:lnSpc>
                <a:spcPct val="90000"/>
              </a:lnSpc>
              <a:defRPr/>
            </a:pPr>
            <a:r>
              <a:rPr lang="en-GB" altLang="nl-NL" sz="1800" kern="0" dirty="0"/>
              <a:t>Gains:</a:t>
            </a:r>
          </a:p>
          <a:p>
            <a:pPr algn="l">
              <a:lnSpc>
                <a:spcPct val="90000"/>
              </a:lnSpc>
              <a:defRPr/>
            </a:pPr>
            <a:r>
              <a:rPr lang="en-GB" altLang="nl-NL" sz="1800" kern="0" dirty="0"/>
              <a:t>We can do the job fast, easier, more accurate…</a:t>
            </a:r>
          </a:p>
          <a:p>
            <a:pPr algn="l">
              <a:lnSpc>
                <a:spcPct val="90000"/>
              </a:lnSpc>
              <a:defRPr/>
            </a:pPr>
            <a:r>
              <a:rPr lang="en-GB" altLang="nl-NL" sz="1800" kern="0" dirty="0"/>
              <a:t>= can be interesting if exceeds the cost of change (switching cost)</a:t>
            </a:r>
          </a:p>
          <a:p>
            <a:pPr algn="l">
              <a:lnSpc>
                <a:spcPct val="90000"/>
              </a:lnSpc>
              <a:defRPr/>
            </a:pPr>
            <a:endParaRPr lang="en-GB" altLang="nl-NL" sz="1800" kern="0" dirty="0"/>
          </a:p>
          <a:p>
            <a:pPr algn="l">
              <a:lnSpc>
                <a:spcPct val="90000"/>
              </a:lnSpc>
              <a:defRPr/>
            </a:pPr>
            <a:r>
              <a:rPr lang="en-GB" altLang="nl-NL" sz="1800" kern="0" dirty="0"/>
              <a:t>Pains:</a:t>
            </a:r>
          </a:p>
          <a:p>
            <a:pPr algn="l">
              <a:lnSpc>
                <a:spcPct val="90000"/>
              </a:lnSpc>
              <a:defRPr/>
            </a:pPr>
            <a:r>
              <a:rPr lang="en-GB" altLang="nl-NL" sz="1800" kern="0" dirty="0"/>
              <a:t>We can do a job in a way we could not do before</a:t>
            </a:r>
          </a:p>
          <a:p>
            <a:pPr algn="l">
              <a:lnSpc>
                <a:spcPct val="90000"/>
              </a:lnSpc>
              <a:defRPr/>
            </a:pPr>
            <a:r>
              <a:rPr lang="en-GB" altLang="nl-NL" sz="1800" kern="0" dirty="0"/>
              <a:t>= more urgent, a need to have</a:t>
            </a:r>
          </a:p>
          <a:p>
            <a:pPr algn="l">
              <a:lnSpc>
                <a:spcPct val="90000"/>
              </a:lnSpc>
              <a:defRPr/>
            </a:pPr>
            <a:endParaRPr lang="en-GB" altLang="nl-NL" sz="1800" kern="0" dirty="0"/>
          </a:p>
          <a:p>
            <a:pPr algn="l">
              <a:lnSpc>
                <a:spcPct val="90000"/>
              </a:lnSpc>
              <a:defRPr/>
            </a:pPr>
            <a:r>
              <a:rPr lang="en-GB" altLang="nl-NL" sz="1800" kern="0" dirty="0"/>
              <a:t>Analyse the customer business case!!</a:t>
            </a:r>
          </a:p>
          <a:p>
            <a:pPr algn="l">
              <a:lnSpc>
                <a:spcPct val="90000"/>
              </a:lnSpc>
              <a:defRPr/>
            </a:pPr>
            <a:endParaRPr lang="en-GB" altLang="nl-NL" sz="1800" kern="0" dirty="0"/>
          </a:p>
          <a:p>
            <a:pPr algn="l">
              <a:lnSpc>
                <a:spcPct val="90000"/>
              </a:lnSpc>
              <a:defRPr/>
            </a:pPr>
            <a:endParaRPr lang="en-GB" altLang="nl-NL" sz="1800" kern="0" dirty="0"/>
          </a:p>
          <a:p>
            <a:pPr algn="l">
              <a:lnSpc>
                <a:spcPct val="90000"/>
              </a:lnSpc>
              <a:defRPr/>
            </a:pPr>
            <a:endParaRPr lang="en-GB" altLang="nl-NL" sz="1800" kern="0" dirty="0"/>
          </a:p>
          <a:p>
            <a:pPr>
              <a:lnSpc>
                <a:spcPct val="90000"/>
              </a:lnSpc>
              <a:defRPr/>
            </a:pPr>
            <a:endParaRPr lang="en-US" sz="2000" i="1" u="sng" kern="0" dirty="0">
              <a:sym typeface="Wingdings" panose="05000000000000000000" pitchFamily="2" charset="2"/>
            </a:endParaRPr>
          </a:p>
          <a:p>
            <a:pPr>
              <a:lnSpc>
                <a:spcPct val="90000"/>
              </a:lnSpc>
              <a:defRPr/>
            </a:pPr>
            <a:endParaRPr lang="en-GB" altLang="nl-NL" sz="2000" kern="0" dirty="0">
              <a:solidFill>
                <a:srgbClr val="0099CC"/>
              </a:solidFill>
            </a:endParaRPr>
          </a:p>
          <a:p>
            <a:pPr>
              <a:lnSpc>
                <a:spcPct val="90000"/>
              </a:lnSpc>
              <a:defRPr/>
            </a:pPr>
            <a:endParaRPr lang="en-GB" altLang="nl-NL" sz="2000" kern="0" dirty="0">
              <a:solidFill>
                <a:srgbClr val="0099CC"/>
              </a:solidFill>
            </a:endParaRPr>
          </a:p>
          <a:p>
            <a:pPr>
              <a:lnSpc>
                <a:spcPct val="90000"/>
              </a:lnSpc>
              <a:defRPr/>
            </a:pPr>
            <a:endParaRPr lang="en-GB" altLang="nl-NL" sz="2000" kern="0" dirty="0"/>
          </a:p>
          <a:p>
            <a:pPr>
              <a:lnSpc>
                <a:spcPct val="90000"/>
              </a:lnSpc>
              <a:defRPr/>
            </a:pPr>
            <a:endParaRPr lang="nl-NL" altLang="nl-NL" sz="2000" kern="0" dirty="0"/>
          </a:p>
          <a:p>
            <a:pPr>
              <a:lnSpc>
                <a:spcPct val="90000"/>
              </a:lnSpc>
              <a:defRPr/>
            </a:pPr>
            <a:endParaRPr lang="en-GB" altLang="nl-NL" sz="2000" kern="0" dirty="0"/>
          </a:p>
        </p:txBody>
      </p:sp>
      <p:sp>
        <p:nvSpPr>
          <p:cNvPr id="18437" name="Rectangle 2"/>
          <p:cNvSpPr>
            <a:spLocks noChangeArrowheads="1"/>
          </p:cNvSpPr>
          <p:nvPr/>
        </p:nvSpPr>
        <p:spPr bwMode="auto">
          <a:xfrm>
            <a:off x="1524000" y="0"/>
            <a:ext cx="9144000" cy="83820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Times" pitchFamily="18" charset="0"/>
              <a:buChar char="•"/>
              <a:defRPr sz="2400">
                <a:solidFill>
                  <a:schemeClr val="tx1"/>
                </a:solidFill>
                <a:latin typeface="Tahoma" pitchFamily="34" charset="0"/>
              </a:defRPr>
            </a:lvl1pPr>
            <a:lvl2pPr marL="742950" indent="-285750">
              <a:spcBef>
                <a:spcPct val="20000"/>
              </a:spcBef>
              <a:buFont typeface="Times" pitchFamily="18" charset="0"/>
              <a:buChar char="•"/>
              <a:defRPr sz="2400">
                <a:solidFill>
                  <a:schemeClr val="tx1"/>
                </a:solidFill>
                <a:latin typeface="Tahoma" pitchFamily="34" charset="0"/>
              </a:defRPr>
            </a:lvl2pPr>
            <a:lvl3pPr marL="1143000" indent="-228600">
              <a:spcBef>
                <a:spcPct val="20000"/>
              </a:spcBef>
              <a:buFont typeface="Times" pitchFamily="18" charset="0"/>
              <a:buChar char="•"/>
              <a:defRPr sz="2400">
                <a:solidFill>
                  <a:schemeClr val="tx1"/>
                </a:solidFill>
                <a:latin typeface="Tahoma" pitchFamily="34" charset="0"/>
              </a:defRPr>
            </a:lvl3pPr>
            <a:lvl4pPr marL="1600200" indent="-228600">
              <a:spcBef>
                <a:spcPct val="20000"/>
              </a:spcBef>
              <a:buFont typeface="Times" pitchFamily="18" charset="0"/>
              <a:buChar char="•"/>
              <a:defRPr sz="2400">
                <a:solidFill>
                  <a:schemeClr val="tx1"/>
                </a:solidFill>
                <a:latin typeface="Tahoma" pitchFamily="34" charset="0"/>
              </a:defRPr>
            </a:lvl4pPr>
            <a:lvl5pPr marL="2057400" indent="-228600">
              <a:spcBef>
                <a:spcPct val="20000"/>
              </a:spcBef>
              <a:buFont typeface="Times" pitchFamily="18" charset="0"/>
              <a:buChar char="•"/>
              <a:defRPr sz="2400">
                <a:solidFill>
                  <a:schemeClr val="tx1"/>
                </a:solidFill>
                <a:latin typeface="Tahoma" pitchFamily="34" charset="0"/>
              </a:defRPr>
            </a:lvl5pPr>
            <a:lvl6pPr marL="25146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6pPr>
            <a:lvl7pPr marL="29718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7pPr>
            <a:lvl8pPr marL="34290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8pPr>
            <a:lvl9pPr marL="3886200" indent="-228600" eaLnBrk="0" fontAlgn="base" hangingPunct="0">
              <a:spcBef>
                <a:spcPct val="20000"/>
              </a:spcBef>
              <a:spcAft>
                <a:spcPct val="0"/>
              </a:spcAft>
              <a:buFont typeface="Times" pitchFamily="18" charset="0"/>
              <a:buChar char="•"/>
              <a:defRPr sz="2400">
                <a:solidFill>
                  <a:schemeClr val="tx1"/>
                </a:solidFill>
                <a:latin typeface="Tahoma" pitchFamily="34" charset="0"/>
              </a:defRPr>
            </a:lvl9pPr>
          </a:lstStyle>
          <a:p>
            <a:pPr algn="ctr">
              <a:spcBef>
                <a:spcPct val="0"/>
              </a:spcBef>
              <a:buFontTx/>
              <a:buNone/>
            </a:pPr>
            <a:r>
              <a:rPr lang="en-US" altLang="nl-NL" sz="3300" dirty="0">
                <a:solidFill>
                  <a:srgbClr val="002B60"/>
                </a:solidFill>
                <a:latin typeface="Arial" pitchFamily="34" charset="0"/>
              </a:rPr>
              <a:t>Value Proposition Canvas</a:t>
            </a:r>
          </a:p>
        </p:txBody>
      </p:sp>
    </p:spTree>
    <p:extLst>
      <p:ext uri="{BB962C8B-B14F-4D97-AF65-F5344CB8AC3E}">
        <p14:creationId xmlns:p14="http://schemas.microsoft.com/office/powerpoint/2010/main" val="71480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dirty="0">
                <a:solidFill>
                  <a:srgbClr val="002B60"/>
                </a:solidFill>
                <a:latin typeface="Arial" charset="0"/>
                <a:ea typeface="+mn-ea"/>
                <a:cs typeface="+mn-cs"/>
              </a:rPr>
              <a:t>Customer discovery </a:t>
            </a:r>
          </a:p>
        </p:txBody>
      </p:sp>
      <p:sp>
        <p:nvSpPr>
          <p:cNvPr id="52227" name="Rectangle 3"/>
          <p:cNvSpPr>
            <a:spLocks noGrp="1" noChangeArrowheads="1"/>
          </p:cNvSpPr>
          <p:nvPr>
            <p:ph type="body" idx="1"/>
          </p:nvPr>
        </p:nvSpPr>
        <p:spPr>
          <a:xfrm>
            <a:off x="864864" y="1865672"/>
            <a:ext cx="9079328" cy="4028576"/>
          </a:xfrm>
        </p:spPr>
        <p:txBody>
          <a:bodyPr>
            <a:normAutofit fontScale="92500" lnSpcReduction="20000"/>
          </a:bodyPr>
          <a:lstStyle/>
          <a:p>
            <a:pPr marL="0" indent="0">
              <a:buNone/>
            </a:pPr>
            <a:r>
              <a:rPr lang="nl-NL" b="1" dirty="0" err="1"/>
              <a:t>Develop</a:t>
            </a:r>
            <a:r>
              <a:rPr lang="nl-NL" b="1" dirty="0"/>
              <a:t> </a:t>
            </a:r>
            <a:r>
              <a:rPr lang="nl-NL" b="1" dirty="0" err="1"/>
              <a:t>questions</a:t>
            </a:r>
            <a:r>
              <a:rPr lang="nl-NL" b="1" dirty="0"/>
              <a:t>, </a:t>
            </a:r>
            <a:r>
              <a:rPr lang="nl-NL" b="1" dirty="0" err="1"/>
              <a:t>your</a:t>
            </a:r>
            <a:r>
              <a:rPr lang="nl-NL" b="1" dirty="0"/>
              <a:t> </a:t>
            </a:r>
            <a:r>
              <a:rPr lang="nl-NL" b="1" dirty="0" err="1"/>
              <a:t>assumptions</a:t>
            </a:r>
            <a:r>
              <a:rPr lang="nl-NL" b="1" dirty="0"/>
              <a:t> and translate </a:t>
            </a:r>
            <a:r>
              <a:rPr lang="nl-NL" b="1" dirty="0" err="1"/>
              <a:t>them</a:t>
            </a:r>
            <a:r>
              <a:rPr lang="nl-NL" b="1" dirty="0"/>
              <a:t> </a:t>
            </a:r>
            <a:r>
              <a:rPr lang="nl-NL" b="1" dirty="0" err="1"/>
              <a:t>into</a:t>
            </a:r>
            <a:r>
              <a:rPr lang="nl-NL" b="1" dirty="0"/>
              <a:t> hypotheses </a:t>
            </a:r>
          </a:p>
          <a:p>
            <a:pPr marL="0" indent="0">
              <a:buNone/>
            </a:pPr>
            <a:endParaRPr lang="nl-NL" b="1" dirty="0"/>
          </a:p>
          <a:p>
            <a:pPr marL="0" indent="0">
              <a:buNone/>
            </a:pPr>
            <a:r>
              <a:rPr lang="nl-NL" b="1" dirty="0" err="1"/>
              <a:t>Identify</a:t>
            </a:r>
            <a:r>
              <a:rPr lang="nl-NL" b="1" dirty="0"/>
              <a:t> </a:t>
            </a:r>
            <a:r>
              <a:rPr lang="nl-NL" b="1" dirty="0" err="1"/>
              <a:t>possible</a:t>
            </a:r>
            <a:r>
              <a:rPr lang="nl-NL" b="1" dirty="0"/>
              <a:t> user </a:t>
            </a:r>
            <a:r>
              <a:rPr lang="nl-NL" b="1" dirty="0" err="1"/>
              <a:t>applications</a:t>
            </a:r>
            <a:endParaRPr lang="nl-NL" b="1" dirty="0"/>
          </a:p>
          <a:p>
            <a:pPr marL="0" indent="0">
              <a:buNone/>
            </a:pPr>
            <a:r>
              <a:rPr lang="nl-NL" b="1" dirty="0"/>
              <a:t>Hypothesis: </a:t>
            </a:r>
          </a:p>
          <a:p>
            <a:pPr>
              <a:buAutoNum type="arabicPeriod"/>
            </a:pPr>
            <a:r>
              <a:rPr lang="nl-NL" dirty="0"/>
              <a:t>The PMIC </a:t>
            </a:r>
            <a:r>
              <a:rPr lang="nl-NL" dirty="0" err="1"/>
              <a:t>can</a:t>
            </a:r>
            <a:r>
              <a:rPr lang="nl-NL" dirty="0"/>
              <a:t> </a:t>
            </a:r>
            <a:r>
              <a:rPr lang="nl-NL" dirty="0" err="1"/>
              <a:t>be</a:t>
            </a:r>
            <a:r>
              <a:rPr lang="nl-NL" dirty="0"/>
              <a:t> </a:t>
            </a:r>
            <a:r>
              <a:rPr lang="nl-NL" dirty="0" err="1"/>
              <a:t>used</a:t>
            </a:r>
            <a:r>
              <a:rPr lang="nl-NL" dirty="0"/>
              <a:t> </a:t>
            </a:r>
            <a:r>
              <a:rPr lang="nl-NL" dirty="0" err="1"/>
              <a:t>to</a:t>
            </a:r>
            <a:r>
              <a:rPr lang="nl-NL" dirty="0"/>
              <a:t> power a </a:t>
            </a:r>
            <a:r>
              <a:rPr lang="nl-NL" dirty="0" err="1"/>
              <a:t>smoke</a:t>
            </a:r>
            <a:r>
              <a:rPr lang="nl-NL" dirty="0"/>
              <a:t> alarm/ </a:t>
            </a:r>
            <a:r>
              <a:rPr lang="nl-NL" dirty="0" err="1"/>
              <a:t>climate</a:t>
            </a:r>
            <a:r>
              <a:rPr lang="nl-NL" dirty="0"/>
              <a:t> control/ </a:t>
            </a:r>
            <a:r>
              <a:rPr lang="nl-NL" dirty="0" err="1"/>
              <a:t>measure</a:t>
            </a:r>
            <a:r>
              <a:rPr lang="nl-NL" dirty="0"/>
              <a:t> traffic</a:t>
            </a:r>
          </a:p>
          <a:p>
            <a:pPr>
              <a:buAutoNum type="arabicPeriod"/>
            </a:pPr>
            <a:r>
              <a:rPr lang="nl-NL" dirty="0"/>
              <a:t>For </a:t>
            </a:r>
            <a:r>
              <a:rPr lang="nl-NL" dirty="0" err="1"/>
              <a:t>smoke</a:t>
            </a:r>
            <a:r>
              <a:rPr lang="nl-NL" dirty="0"/>
              <a:t> control, </a:t>
            </a:r>
            <a:r>
              <a:rPr lang="nl-NL" dirty="0" err="1"/>
              <a:t>the</a:t>
            </a:r>
            <a:r>
              <a:rPr lang="nl-NL" dirty="0"/>
              <a:t> market is large </a:t>
            </a:r>
            <a:r>
              <a:rPr lang="nl-NL" dirty="0" err="1"/>
              <a:t>enough</a:t>
            </a:r>
            <a:endParaRPr lang="nl-NL" dirty="0"/>
          </a:p>
          <a:p>
            <a:pPr>
              <a:buAutoNum type="arabicPeriod"/>
            </a:pPr>
            <a:r>
              <a:rPr lang="nl-NL" dirty="0"/>
              <a:t>The benefit of PMIC in </a:t>
            </a:r>
            <a:r>
              <a:rPr lang="nl-NL" dirty="0" err="1"/>
              <a:t>smoke</a:t>
            </a:r>
            <a:r>
              <a:rPr lang="nl-NL" dirty="0"/>
              <a:t> </a:t>
            </a:r>
            <a:r>
              <a:rPr lang="nl-NL" dirty="0" err="1"/>
              <a:t>alarms</a:t>
            </a:r>
            <a:r>
              <a:rPr lang="nl-NL" dirty="0"/>
              <a:t>, is </a:t>
            </a:r>
            <a:r>
              <a:rPr lang="nl-NL" dirty="0" err="1"/>
              <a:t>you</a:t>
            </a:r>
            <a:r>
              <a:rPr lang="nl-NL" dirty="0"/>
              <a:t> do </a:t>
            </a:r>
            <a:r>
              <a:rPr lang="nl-NL" dirty="0" err="1"/>
              <a:t>not</a:t>
            </a:r>
            <a:r>
              <a:rPr lang="nl-NL" dirty="0"/>
              <a:t> </a:t>
            </a:r>
            <a:r>
              <a:rPr lang="nl-NL" dirty="0" err="1"/>
              <a:t>need</a:t>
            </a:r>
            <a:r>
              <a:rPr lang="nl-NL" dirty="0"/>
              <a:t> </a:t>
            </a:r>
            <a:r>
              <a:rPr lang="nl-NL" dirty="0" err="1"/>
              <a:t>to</a:t>
            </a:r>
            <a:r>
              <a:rPr lang="nl-NL" dirty="0"/>
              <a:t> change </a:t>
            </a:r>
            <a:r>
              <a:rPr lang="nl-NL" dirty="0" err="1"/>
              <a:t>batteries</a:t>
            </a:r>
            <a:r>
              <a:rPr lang="nl-NL" dirty="0"/>
              <a:t> </a:t>
            </a:r>
          </a:p>
          <a:p>
            <a:pPr>
              <a:buAutoNum type="arabicPeriod"/>
            </a:pPr>
            <a:r>
              <a:rPr lang="nl-NL" dirty="0"/>
              <a:t>Facility management at Schiphol </a:t>
            </a:r>
            <a:r>
              <a:rPr lang="nl-NL" dirty="0" err="1"/>
              <a:t>can</a:t>
            </a:r>
            <a:r>
              <a:rPr lang="nl-NL" dirty="0"/>
              <a:t> save money </a:t>
            </a:r>
            <a:r>
              <a:rPr lang="nl-NL" dirty="0" err="1"/>
              <a:t>with</a:t>
            </a:r>
            <a:r>
              <a:rPr lang="nl-NL" dirty="0"/>
              <a:t> </a:t>
            </a:r>
            <a:r>
              <a:rPr lang="nl-NL" dirty="0" err="1"/>
              <a:t>the</a:t>
            </a:r>
            <a:r>
              <a:rPr lang="nl-NL" dirty="0"/>
              <a:t> PMC</a:t>
            </a:r>
          </a:p>
          <a:p>
            <a:pPr>
              <a:buAutoNum type="arabicPeriod"/>
            </a:pPr>
            <a:r>
              <a:rPr lang="nl-NL" dirty="0"/>
              <a:t>Facility management is </a:t>
            </a:r>
            <a:r>
              <a:rPr lang="nl-NL" dirty="0" err="1"/>
              <a:t>interested</a:t>
            </a:r>
            <a:r>
              <a:rPr lang="nl-NL" dirty="0"/>
              <a:t> in </a:t>
            </a:r>
            <a:r>
              <a:rPr lang="nl-NL" dirty="0" err="1"/>
              <a:t>purchasing</a:t>
            </a:r>
            <a:r>
              <a:rPr lang="nl-NL" dirty="0"/>
              <a:t> </a:t>
            </a:r>
            <a:r>
              <a:rPr lang="nl-NL" dirty="0" err="1"/>
              <a:t>the</a:t>
            </a:r>
            <a:r>
              <a:rPr lang="nl-NL" dirty="0"/>
              <a:t> OMC-</a:t>
            </a:r>
            <a:r>
              <a:rPr lang="nl-NL" dirty="0" err="1"/>
              <a:t>based</a:t>
            </a:r>
            <a:r>
              <a:rPr lang="nl-NL" dirty="0"/>
              <a:t> </a:t>
            </a:r>
            <a:r>
              <a:rPr lang="nl-NL" dirty="0" err="1"/>
              <a:t>smoke</a:t>
            </a:r>
            <a:r>
              <a:rPr lang="nl-NL" dirty="0"/>
              <a:t> alarm</a:t>
            </a:r>
          </a:p>
          <a:p>
            <a:pPr>
              <a:buAutoNum type="arabicPeriod"/>
            </a:pPr>
            <a:endParaRPr lang="nl-NL" b="1" dirty="0"/>
          </a:p>
          <a:p>
            <a:pPr>
              <a:buAutoNum type="arabicPeriod"/>
            </a:pPr>
            <a:r>
              <a:rPr lang="nl-NL" b="1" dirty="0"/>
              <a:t>Watering holes? </a:t>
            </a:r>
          </a:p>
          <a:p>
            <a:pPr marL="0" indent="0">
              <a:buNone/>
            </a:pPr>
            <a:r>
              <a:rPr lang="nl-NL" b="1" dirty="0"/>
              <a:t>	</a:t>
            </a:r>
            <a:r>
              <a:rPr lang="nl-NL" dirty="0">
                <a:sym typeface="Wingdings" panose="05000000000000000000" pitchFamily="2" charset="2"/>
              </a:rPr>
              <a:t> </a:t>
            </a:r>
            <a:r>
              <a:rPr lang="nl-NL" dirty="0"/>
              <a:t>Analyse </a:t>
            </a:r>
            <a:r>
              <a:rPr lang="nl-NL" dirty="0" err="1"/>
              <a:t>the</a:t>
            </a:r>
            <a:r>
              <a:rPr lang="nl-NL" dirty="0"/>
              <a:t> jobs </a:t>
            </a:r>
            <a:r>
              <a:rPr lang="nl-NL" dirty="0" err="1"/>
              <a:t>they</a:t>
            </a:r>
            <a:r>
              <a:rPr lang="nl-NL" dirty="0"/>
              <a:t> </a:t>
            </a:r>
            <a:r>
              <a:rPr lang="nl-NL" dirty="0" err="1"/>
              <a:t>try</a:t>
            </a:r>
            <a:r>
              <a:rPr lang="nl-NL" dirty="0"/>
              <a:t> </a:t>
            </a:r>
            <a:r>
              <a:rPr lang="nl-NL" dirty="0" err="1"/>
              <a:t>to</a:t>
            </a:r>
            <a:r>
              <a:rPr lang="nl-NL" dirty="0"/>
              <a:t> get </a:t>
            </a:r>
            <a:r>
              <a:rPr lang="nl-NL" dirty="0" err="1"/>
              <a:t>done</a:t>
            </a:r>
            <a:r>
              <a:rPr lang="nl-NL" dirty="0"/>
              <a:t> and </a:t>
            </a:r>
            <a:r>
              <a:rPr lang="nl-NL" i="1" dirty="0" err="1"/>
              <a:t>validate</a:t>
            </a:r>
            <a:r>
              <a:rPr lang="nl-NL" dirty="0"/>
              <a:t> </a:t>
            </a:r>
            <a:r>
              <a:rPr lang="nl-NL" dirty="0" err="1"/>
              <a:t>it</a:t>
            </a:r>
            <a:r>
              <a:rPr lang="nl-NL" dirty="0"/>
              <a:t> </a:t>
            </a:r>
            <a:r>
              <a:rPr lang="nl-NL" dirty="0" err="1"/>
              <a:t>works</a:t>
            </a:r>
            <a:endParaRPr lang="nl-NL" dirty="0"/>
          </a:p>
          <a:p>
            <a:pPr marL="0" indent="0">
              <a:buNone/>
            </a:pPr>
            <a:endParaRPr lang="nl-NL" b="1" dirty="0"/>
          </a:p>
          <a:p>
            <a:pPr marL="0" indent="0">
              <a:buNone/>
            </a:pPr>
            <a:endParaRPr lang="nl-NL" dirty="0"/>
          </a:p>
          <a:p>
            <a:pPr eaLnBrk="1" hangingPunct="1"/>
            <a:endParaRPr lang="en-US" dirty="0">
              <a:latin typeface="Tahoma" charset="0"/>
              <a:ea typeface="ＭＳ Ｐゴシック" charset="0"/>
              <a:cs typeface="ＭＳ Ｐゴシック" charset="0"/>
            </a:endParaRPr>
          </a:p>
        </p:txBody>
      </p:sp>
    </p:spTree>
    <p:extLst>
      <p:ext uri="{BB962C8B-B14F-4D97-AF65-F5344CB8AC3E}">
        <p14:creationId xmlns:p14="http://schemas.microsoft.com/office/powerpoint/2010/main" val="23478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227">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22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77334" y="609600"/>
            <a:ext cx="4336362" cy="1320800"/>
          </a:xfrm>
        </p:spPr>
        <p:txBody>
          <a:bodyPr/>
          <a:lstStyle/>
          <a:p>
            <a:pPr eaLnBrk="1" hangingPunct="1"/>
            <a:r>
              <a:rPr lang="en-US" dirty="0">
                <a:solidFill>
                  <a:srgbClr val="002B60"/>
                </a:solidFill>
                <a:latin typeface="Arial" charset="0"/>
                <a:ea typeface="+mn-ea"/>
                <a:cs typeface="+mn-cs"/>
              </a:rPr>
              <a:t>Key questions for the market</a:t>
            </a:r>
          </a:p>
        </p:txBody>
      </p:sp>
      <p:sp>
        <p:nvSpPr>
          <p:cNvPr id="52227" name="Rectangle 3"/>
          <p:cNvSpPr>
            <a:spLocks noGrp="1" noChangeArrowheads="1"/>
          </p:cNvSpPr>
          <p:nvPr>
            <p:ph type="body" idx="1"/>
          </p:nvPr>
        </p:nvSpPr>
        <p:spPr>
          <a:xfrm>
            <a:off x="6456768" y="121960"/>
            <a:ext cx="5735232" cy="6493824"/>
          </a:xfrm>
          <a:solidFill>
            <a:schemeClr val="bg1"/>
          </a:solidFill>
        </p:spPr>
        <p:txBody>
          <a:bodyPr>
            <a:normAutofit fontScale="47500" lnSpcReduction="20000"/>
          </a:bodyPr>
          <a:lstStyle/>
          <a:p>
            <a:pPr marL="0" indent="0">
              <a:buNone/>
            </a:pPr>
            <a:r>
              <a:rPr lang="en-GB" sz="2500" b="1" u="sng" dirty="0"/>
              <a:t>Characteristics</a:t>
            </a:r>
          </a:p>
          <a:p>
            <a:pPr marL="0" indent="0">
              <a:buNone/>
            </a:pPr>
            <a:endParaRPr lang="en-GB" sz="2500" b="1" dirty="0"/>
          </a:p>
          <a:p>
            <a:pPr marL="0" indent="0">
              <a:buNone/>
            </a:pPr>
            <a:r>
              <a:rPr lang="en-GB" sz="2500" b="1" dirty="0"/>
              <a:t>Does the target customer have a compelling reason to buy?</a:t>
            </a:r>
          </a:p>
          <a:p>
            <a:pPr lvl="0">
              <a:buClr>
                <a:srgbClr val="5FCBEF"/>
              </a:buClr>
            </a:pPr>
            <a:r>
              <a:rPr lang="en-GB" sz="2500" dirty="0">
                <a:solidFill>
                  <a:prstClr val="black">
                    <a:lumMod val="75000"/>
                    <a:lumOff val="25000"/>
                  </a:prstClr>
                </a:solidFill>
              </a:rPr>
              <a:t>Do they have a pain that needs to be solved, something they could not do before</a:t>
            </a:r>
          </a:p>
          <a:p>
            <a:pPr lvl="0">
              <a:buClr>
                <a:srgbClr val="5FCBEF"/>
              </a:buClr>
            </a:pPr>
            <a:r>
              <a:rPr lang="en-GB" sz="2500" dirty="0">
                <a:solidFill>
                  <a:prstClr val="black">
                    <a:lumMod val="75000"/>
                    <a:lumOff val="25000"/>
                  </a:prstClr>
                </a:solidFill>
              </a:rPr>
              <a:t>Or do they have a gain when using the technology: it is faster, cheaper, more accurate and it will save money for the customer that outweighs the switching cost </a:t>
            </a:r>
          </a:p>
          <a:p>
            <a:pPr lvl="0">
              <a:buClr>
                <a:srgbClr val="5FCBEF"/>
              </a:buClr>
            </a:pPr>
            <a:r>
              <a:rPr lang="en-GB" sz="2500" dirty="0"/>
              <a:t>This addresses the sense of urgency. The alternatives the customer currently has are performing far worse than the offer that the participant presents and in addition the participant has shown some basic understanding of the customer business case. Gives details on how the customer can have returns in term of money, time, increased quality of the offer, that justifies the purchase of the offer. </a:t>
            </a:r>
            <a:endParaRPr lang="nl-NL" sz="2500" dirty="0"/>
          </a:p>
          <a:p>
            <a:pPr marL="0" indent="0">
              <a:buNone/>
            </a:pPr>
            <a:endParaRPr lang="en-GB" sz="2500" b="1" dirty="0"/>
          </a:p>
          <a:p>
            <a:pPr marL="0" indent="0">
              <a:buNone/>
            </a:pPr>
            <a:r>
              <a:rPr lang="en-GB" sz="2500" b="1" dirty="0"/>
              <a:t>Is the target customer well-funded?</a:t>
            </a:r>
            <a:endParaRPr lang="nl-NL" sz="2500" b="1" dirty="0"/>
          </a:p>
          <a:p>
            <a:pPr lvl="0"/>
            <a:r>
              <a:rPr lang="en-GB" sz="2500" dirty="0"/>
              <a:t>Is the customers willing to pay and can afford the product/ service offer</a:t>
            </a:r>
          </a:p>
          <a:p>
            <a:pPr lvl="0"/>
            <a:endParaRPr lang="nl-NL" sz="2500" dirty="0"/>
          </a:p>
          <a:p>
            <a:pPr marL="0" indent="0">
              <a:buNone/>
            </a:pPr>
            <a:r>
              <a:rPr lang="en-GB" sz="2500" b="1" dirty="0"/>
              <a:t>Is the target customer easily accessible, you can connect to them?</a:t>
            </a:r>
            <a:endParaRPr lang="nl-NL" sz="2500" b="1" dirty="0"/>
          </a:p>
          <a:p>
            <a:pPr lvl="0"/>
            <a:r>
              <a:rPr lang="en-GB" sz="2500" dirty="0"/>
              <a:t>how to address the customer segment? How can you talk to them and how do they know about the product and to make sure that a product sale can actually happen</a:t>
            </a:r>
            <a:endParaRPr lang="nl-NL" sz="2500" dirty="0"/>
          </a:p>
          <a:p>
            <a:pPr marL="0" lvl="0" indent="0">
              <a:buNone/>
            </a:pPr>
            <a:endParaRPr lang="en-GB" sz="2500" dirty="0"/>
          </a:p>
          <a:p>
            <a:pPr marL="0" lvl="0" indent="0">
              <a:buNone/>
            </a:pPr>
            <a:r>
              <a:rPr lang="en-GB" sz="2500" b="1" dirty="0"/>
              <a:t>Is there entrenched competition that could block you?</a:t>
            </a:r>
          </a:p>
          <a:p>
            <a:pPr lvl="0"/>
            <a:r>
              <a:rPr lang="en-GB" sz="2500" dirty="0"/>
              <a:t>What alternative do customers have and will competition react?</a:t>
            </a:r>
          </a:p>
          <a:p>
            <a:pPr lvl="0"/>
            <a:endParaRPr lang="en-GB" sz="2500" dirty="0"/>
          </a:p>
          <a:p>
            <a:pPr marL="0" indent="0">
              <a:buNone/>
            </a:pPr>
            <a:r>
              <a:rPr lang="en-GB" sz="2500" b="1" dirty="0"/>
              <a:t>If you win this segment, can you leverage it to enter additional segments?</a:t>
            </a:r>
          </a:p>
          <a:p>
            <a:r>
              <a:rPr lang="en-GB" sz="2500" dirty="0"/>
              <a:t>Can you scale to other markets to grow?</a:t>
            </a:r>
          </a:p>
          <a:p>
            <a:pPr lvl="0"/>
            <a:endParaRPr lang="en-GB" dirty="0"/>
          </a:p>
        </p:txBody>
      </p:sp>
      <p:graphicFrame>
        <p:nvGraphicFramePr>
          <p:cNvPr id="2" name="Table 1"/>
          <p:cNvGraphicFramePr>
            <a:graphicFrameLocks noGrp="1"/>
          </p:cNvGraphicFramePr>
          <p:nvPr/>
        </p:nvGraphicFramePr>
        <p:xfrm>
          <a:off x="263584" y="3188488"/>
          <a:ext cx="6031230" cy="1402080"/>
        </p:xfrm>
        <a:graphic>
          <a:graphicData uri="http://schemas.openxmlformats.org/drawingml/2006/table">
            <a:tbl>
              <a:tblPr firstRow="1" firstCol="1" bandRow="1">
                <a:tableStyleId>{5C22544A-7EE6-4342-B048-85BDC9FD1C3A}</a:tableStyleId>
              </a:tblPr>
              <a:tblGrid>
                <a:gridCol w="1249452">
                  <a:extLst>
                    <a:ext uri="{9D8B030D-6E8A-4147-A177-3AD203B41FA5}">
                      <a16:colId xmlns:a16="http://schemas.microsoft.com/office/drawing/2014/main" val="3747743827"/>
                    </a:ext>
                  </a:extLst>
                </a:gridCol>
                <a:gridCol w="998598">
                  <a:extLst>
                    <a:ext uri="{9D8B030D-6E8A-4147-A177-3AD203B41FA5}">
                      <a16:colId xmlns:a16="http://schemas.microsoft.com/office/drawing/2014/main" val="4102422523"/>
                    </a:ext>
                  </a:extLst>
                </a:gridCol>
                <a:gridCol w="900999">
                  <a:extLst>
                    <a:ext uri="{9D8B030D-6E8A-4147-A177-3AD203B41FA5}">
                      <a16:colId xmlns:a16="http://schemas.microsoft.com/office/drawing/2014/main" val="1065146090"/>
                    </a:ext>
                  </a:extLst>
                </a:gridCol>
                <a:gridCol w="900364">
                  <a:extLst>
                    <a:ext uri="{9D8B030D-6E8A-4147-A177-3AD203B41FA5}">
                      <a16:colId xmlns:a16="http://schemas.microsoft.com/office/drawing/2014/main" val="556103972"/>
                    </a:ext>
                  </a:extLst>
                </a:gridCol>
                <a:gridCol w="990591">
                  <a:extLst>
                    <a:ext uri="{9D8B030D-6E8A-4147-A177-3AD203B41FA5}">
                      <a16:colId xmlns:a16="http://schemas.microsoft.com/office/drawing/2014/main" val="3689062617"/>
                    </a:ext>
                  </a:extLst>
                </a:gridCol>
                <a:gridCol w="991226">
                  <a:extLst>
                    <a:ext uri="{9D8B030D-6E8A-4147-A177-3AD203B41FA5}">
                      <a16:colId xmlns:a16="http://schemas.microsoft.com/office/drawing/2014/main" val="3007250942"/>
                    </a:ext>
                  </a:extLst>
                </a:gridCol>
              </a:tblGrid>
              <a:tr h="0">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User group 1</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User </a:t>
                      </a:r>
                    </a:p>
                    <a:p>
                      <a:pPr algn="just">
                        <a:spcBef>
                          <a:spcPts val="605"/>
                        </a:spcBef>
                        <a:spcAft>
                          <a:spcPts val="0"/>
                        </a:spcAft>
                      </a:pPr>
                      <a:r>
                        <a:rPr lang="en-GB" sz="1100" dirty="0">
                          <a:effectLst/>
                        </a:rPr>
                        <a:t>group 2</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User </a:t>
                      </a:r>
                    </a:p>
                    <a:p>
                      <a:pPr algn="just">
                        <a:spcBef>
                          <a:spcPts val="605"/>
                        </a:spcBef>
                        <a:spcAft>
                          <a:spcPts val="0"/>
                        </a:spcAft>
                      </a:pPr>
                      <a:r>
                        <a:rPr lang="en-GB" sz="1100" dirty="0">
                          <a:effectLst/>
                        </a:rPr>
                        <a:t>group 3</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User </a:t>
                      </a:r>
                    </a:p>
                    <a:p>
                      <a:pPr algn="just">
                        <a:spcBef>
                          <a:spcPts val="605"/>
                        </a:spcBef>
                        <a:spcAft>
                          <a:spcPts val="0"/>
                        </a:spcAft>
                      </a:pPr>
                      <a:r>
                        <a:rPr lang="en-GB" sz="1100" dirty="0">
                          <a:effectLst/>
                        </a:rPr>
                        <a:t>group 4</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User </a:t>
                      </a:r>
                    </a:p>
                    <a:p>
                      <a:pPr algn="just">
                        <a:spcBef>
                          <a:spcPts val="605"/>
                        </a:spcBef>
                        <a:spcAft>
                          <a:spcPts val="0"/>
                        </a:spcAft>
                      </a:pPr>
                      <a:r>
                        <a:rPr lang="en-GB" sz="1100" dirty="0">
                          <a:effectLst/>
                        </a:rPr>
                        <a:t>group 5</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8737798"/>
                  </a:ext>
                </a:extLst>
              </a:tr>
              <a:tr h="0">
                <a:tc>
                  <a:txBody>
                    <a:bodyPr/>
                    <a:lstStyle/>
                    <a:p>
                      <a:pPr algn="just">
                        <a:spcBef>
                          <a:spcPts val="605"/>
                        </a:spcBef>
                        <a:spcAft>
                          <a:spcPts val="0"/>
                        </a:spcAft>
                      </a:pPr>
                      <a:r>
                        <a:rPr lang="en-GB" sz="1100" dirty="0">
                          <a:effectLst/>
                        </a:rPr>
                        <a:t>Characteristic 1</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900" i="1" dirty="0">
                          <a:effectLst/>
                        </a:rPr>
                        <a:t>Low- high, or</a:t>
                      </a:r>
                    </a:p>
                    <a:p>
                      <a:pPr algn="just">
                        <a:spcBef>
                          <a:spcPts val="605"/>
                        </a:spcBef>
                        <a:spcAft>
                          <a:spcPts val="0"/>
                        </a:spcAft>
                      </a:pPr>
                      <a:r>
                        <a:rPr lang="en-GB" sz="900" i="1" dirty="0">
                          <a:effectLst/>
                        </a:rPr>
                        <a:t>Easy-difficult, etc.</a:t>
                      </a:r>
                      <a:endParaRPr lang="en-GB" sz="900"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5810461"/>
                  </a:ext>
                </a:extLst>
              </a:tr>
              <a:tr h="0">
                <a:tc>
                  <a:txBody>
                    <a:bodyPr/>
                    <a:lstStyle/>
                    <a:p>
                      <a:pPr algn="just">
                        <a:spcBef>
                          <a:spcPts val="605"/>
                        </a:spcBef>
                        <a:spcAft>
                          <a:spcPts val="0"/>
                        </a:spcAft>
                      </a:pPr>
                      <a:r>
                        <a:rPr lang="en-GB" sz="1100">
                          <a:effectLst/>
                        </a:rPr>
                        <a:t>Characteristic 2</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4041921"/>
                  </a:ext>
                </a:extLst>
              </a:tr>
              <a:tr h="0">
                <a:tc>
                  <a:txBody>
                    <a:bodyPr/>
                    <a:lstStyle/>
                    <a:p>
                      <a:pPr algn="just">
                        <a:spcBef>
                          <a:spcPts val="605"/>
                        </a:spcBef>
                        <a:spcAft>
                          <a:spcPts val="0"/>
                        </a:spcAft>
                      </a:pPr>
                      <a:r>
                        <a:rPr lang="en-GB" sz="1100">
                          <a:effectLst/>
                        </a:rPr>
                        <a:t>Characteristic n</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6674187"/>
                  </a:ext>
                </a:extLst>
              </a:tr>
              <a:tr h="0">
                <a:tc>
                  <a:txBody>
                    <a:bodyPr/>
                    <a:lstStyle/>
                    <a:p>
                      <a:pPr algn="ctr">
                        <a:spcBef>
                          <a:spcPts val="605"/>
                        </a:spcBef>
                        <a:spcAft>
                          <a:spcPts val="0"/>
                        </a:spcAft>
                      </a:pPr>
                      <a:r>
                        <a:rPr lang="en-GB" sz="1100">
                          <a:effectLst/>
                        </a:rPr>
                        <a:t>TOTAL</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605"/>
                        </a:spcBef>
                        <a:spcAft>
                          <a:spcPts val="0"/>
                        </a:spcAft>
                      </a:pPr>
                      <a:r>
                        <a:rPr lang="en-GB" sz="11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605"/>
                        </a:spcBef>
                        <a:spcAft>
                          <a:spcPts val="0"/>
                        </a:spcAft>
                      </a:pPr>
                      <a:r>
                        <a:rPr lang="en-GB" sz="1100" dirty="0">
                          <a:effectLst/>
                        </a:rPr>
                        <a:t>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7758575"/>
                  </a:ext>
                </a:extLst>
              </a:tr>
            </a:tbl>
          </a:graphicData>
        </a:graphic>
      </p:graphicFrame>
      <p:sp>
        <p:nvSpPr>
          <p:cNvPr id="3" name="Rectangle 1"/>
          <p:cNvSpPr>
            <a:spLocks noChangeArrowheads="1"/>
          </p:cNvSpPr>
          <p:nvPr/>
        </p:nvSpPr>
        <p:spPr bwMode="auto">
          <a:xfrm>
            <a:off x="263584" y="2510583"/>
            <a:ext cx="56520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GB" altLang="en-US" sz="14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Draw up a list of at max. 5 potential markets that have users that would use your technology</a:t>
            </a:r>
            <a:endParaRPr kumimoji="0" lang="en-GB" altLang="en-US" sz="2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9946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B60"/>
                </a:solidFill>
              </a:rPr>
              <a:t>As an Entrepreneur, you have:</a:t>
            </a:r>
          </a:p>
        </p:txBody>
      </p:sp>
      <p:sp>
        <p:nvSpPr>
          <p:cNvPr id="3" name="Content Placeholder 2"/>
          <p:cNvSpPr>
            <a:spLocks noGrp="1"/>
          </p:cNvSpPr>
          <p:nvPr>
            <p:ph idx="1"/>
          </p:nvPr>
        </p:nvSpPr>
        <p:spPr/>
        <p:txBody>
          <a:bodyPr/>
          <a:lstStyle/>
          <a:p>
            <a:r>
              <a:rPr lang="en-US" dirty="0"/>
              <a:t>Limited amount of:</a:t>
            </a:r>
          </a:p>
          <a:p>
            <a:pPr lvl="1"/>
            <a:r>
              <a:rPr lang="en-US" dirty="0"/>
              <a:t>Money,</a:t>
            </a:r>
          </a:p>
          <a:p>
            <a:pPr lvl="1"/>
            <a:r>
              <a:rPr lang="en-US" dirty="0"/>
              <a:t>Time</a:t>
            </a:r>
          </a:p>
          <a:p>
            <a:pPr lvl="1"/>
            <a:r>
              <a:rPr lang="en-US" dirty="0"/>
              <a:t>Human capital</a:t>
            </a:r>
          </a:p>
          <a:p>
            <a:endParaRPr lang="en-US" dirty="0"/>
          </a:p>
        </p:txBody>
      </p:sp>
      <p:sp>
        <p:nvSpPr>
          <p:cNvPr id="4" name="Date Placeholder 3"/>
          <p:cNvSpPr>
            <a:spLocks noGrp="1"/>
          </p:cNvSpPr>
          <p:nvPr>
            <p:ph type="dt" sz="half" idx="10"/>
          </p:nvPr>
        </p:nvSpPr>
        <p:spPr/>
        <p:txBody>
          <a:bodyPr/>
          <a:lstStyle/>
          <a:p>
            <a:fld id="{6F68CD1F-4DBD-274B-8D9E-E70FEFA47943}" type="datetime4">
              <a:rPr lang="en-US" smtClean="0"/>
              <a:pPr/>
              <a:t>March 30, 2026</a:t>
            </a:fld>
            <a:endParaRPr lang="en-US"/>
          </a:p>
        </p:txBody>
      </p:sp>
      <p:sp>
        <p:nvSpPr>
          <p:cNvPr id="5" name="Slide Number Placeholder 4"/>
          <p:cNvSpPr>
            <a:spLocks noGrp="1"/>
          </p:cNvSpPr>
          <p:nvPr>
            <p:ph type="sldNum" sz="quarter" idx="11"/>
          </p:nvPr>
        </p:nvSpPr>
        <p:spPr/>
        <p:txBody>
          <a:bodyPr/>
          <a:lstStyle/>
          <a:p>
            <a:fld id="{6A3A45F5-E901-7A4F-B124-2E6A7B83F5E1}" type="slidenum">
              <a:rPr lang="en-US" smtClean="0"/>
              <a:pPr/>
              <a:t>36</a:t>
            </a:fld>
            <a:endParaRPr lang="en-US"/>
          </a:p>
        </p:txBody>
      </p:sp>
      <p:sp>
        <p:nvSpPr>
          <p:cNvPr id="6" name="5-Point Star 5"/>
          <p:cNvSpPr/>
          <p:nvPr/>
        </p:nvSpPr>
        <p:spPr bwMode="auto">
          <a:xfrm>
            <a:off x="9480376" y="116632"/>
            <a:ext cx="1008112" cy="936104"/>
          </a:xfrm>
          <a:prstGeom prst="star5">
            <a:avLst/>
          </a:prstGeom>
          <a:solidFill>
            <a:srgbClr val="FFFF00"/>
          </a:solidFill>
          <a:ln>
            <a:solidFill>
              <a:srgbClr val="FFFF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400">
              <a:solidFill>
                <a:schemeClr val="tx1"/>
              </a:solidFill>
              <a:latin typeface="Tahoma" charset="0"/>
              <a:ea typeface="ＭＳ Ｐゴシック" charset="0"/>
            </a:endParaRPr>
          </a:p>
        </p:txBody>
      </p:sp>
    </p:spTree>
    <p:extLst>
      <p:ext uri="{BB962C8B-B14F-4D97-AF65-F5344CB8AC3E}">
        <p14:creationId xmlns:p14="http://schemas.microsoft.com/office/powerpoint/2010/main" val="1161726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B60"/>
                </a:solidFill>
              </a:rPr>
              <a:t>As an Entrepreneur, you have:</a:t>
            </a:r>
          </a:p>
        </p:txBody>
      </p:sp>
      <p:sp>
        <p:nvSpPr>
          <p:cNvPr id="3" name="Content Placeholder 2"/>
          <p:cNvSpPr>
            <a:spLocks noGrp="1"/>
          </p:cNvSpPr>
          <p:nvPr>
            <p:ph idx="1"/>
          </p:nvPr>
        </p:nvSpPr>
        <p:spPr/>
        <p:txBody>
          <a:bodyPr/>
          <a:lstStyle/>
          <a:p>
            <a:r>
              <a:rPr lang="en-US" dirty="0">
                <a:solidFill>
                  <a:srgbClr val="002B60"/>
                </a:solidFill>
              </a:rPr>
              <a:t>Limited amount of:</a:t>
            </a:r>
          </a:p>
          <a:p>
            <a:pPr lvl="1"/>
            <a:r>
              <a:rPr lang="en-US" dirty="0">
                <a:solidFill>
                  <a:srgbClr val="002B60"/>
                </a:solidFill>
              </a:rPr>
              <a:t>Money,</a:t>
            </a:r>
          </a:p>
          <a:p>
            <a:pPr lvl="1"/>
            <a:r>
              <a:rPr lang="en-US" dirty="0">
                <a:solidFill>
                  <a:srgbClr val="002B60"/>
                </a:solidFill>
              </a:rPr>
              <a:t>Time</a:t>
            </a:r>
          </a:p>
          <a:p>
            <a:pPr lvl="1"/>
            <a:r>
              <a:rPr lang="en-US" dirty="0">
                <a:solidFill>
                  <a:srgbClr val="002B60"/>
                </a:solidFill>
              </a:rPr>
              <a:t>Human capital</a:t>
            </a:r>
          </a:p>
          <a:p>
            <a:endParaRPr lang="en-US" dirty="0">
              <a:solidFill>
                <a:srgbClr val="002B60"/>
              </a:solidFill>
            </a:endParaRPr>
          </a:p>
        </p:txBody>
      </p:sp>
      <p:sp>
        <p:nvSpPr>
          <p:cNvPr id="4" name="Date Placeholder 3"/>
          <p:cNvSpPr>
            <a:spLocks noGrp="1"/>
          </p:cNvSpPr>
          <p:nvPr>
            <p:ph type="dt" sz="half" idx="10"/>
          </p:nvPr>
        </p:nvSpPr>
        <p:spPr/>
        <p:txBody>
          <a:bodyPr/>
          <a:lstStyle/>
          <a:p>
            <a:fld id="{6F68CD1F-4DBD-274B-8D9E-E70FEFA47943}" type="datetime4">
              <a:rPr lang="en-US" smtClean="0"/>
              <a:pPr/>
              <a:t>March 30, 2026</a:t>
            </a:fld>
            <a:endParaRPr lang="en-US"/>
          </a:p>
        </p:txBody>
      </p:sp>
      <p:sp>
        <p:nvSpPr>
          <p:cNvPr id="5" name="Slide Number Placeholder 4"/>
          <p:cNvSpPr>
            <a:spLocks noGrp="1"/>
          </p:cNvSpPr>
          <p:nvPr>
            <p:ph type="sldNum" sz="quarter" idx="11"/>
          </p:nvPr>
        </p:nvSpPr>
        <p:spPr/>
        <p:txBody>
          <a:bodyPr/>
          <a:lstStyle/>
          <a:p>
            <a:fld id="{6A3A45F5-E901-7A4F-B124-2E6A7B83F5E1}" type="slidenum">
              <a:rPr lang="en-US" smtClean="0"/>
              <a:pPr/>
              <a:t>37</a:t>
            </a:fld>
            <a:endParaRPr lang="en-US"/>
          </a:p>
        </p:txBody>
      </p:sp>
      <p:sp>
        <p:nvSpPr>
          <p:cNvPr id="6" name="Title 1"/>
          <p:cNvSpPr txBox="1">
            <a:spLocks/>
          </p:cNvSpPr>
          <p:nvPr/>
        </p:nvSpPr>
        <p:spPr bwMode="auto">
          <a:xfrm>
            <a:off x="4171904" y="3755362"/>
            <a:ext cx="446449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45720" rIns="0" bIns="45720" numCol="1" anchor="t" anchorCtr="0" compatLnSpc="1">
            <a:prstTxWarp prst="textNoShape">
              <a:avLst/>
            </a:prstTxWarp>
          </a:bodyPr>
          <a:lstStyle>
            <a:lvl1pPr algn="l" rtl="0" eaLnBrk="1" fontAlgn="base" hangingPunct="1">
              <a:spcBef>
                <a:spcPct val="0"/>
              </a:spcBef>
              <a:spcAft>
                <a:spcPct val="0"/>
              </a:spcAft>
              <a:defRPr sz="3200" b="1">
                <a:solidFill>
                  <a:srgbClr val="00A6D7"/>
                </a:solidFill>
                <a:latin typeface="+mj-lt"/>
                <a:ea typeface="+mj-ea"/>
                <a:cs typeface="+mj-cs"/>
              </a:defRPr>
            </a:lvl1pPr>
            <a:lvl2pPr algn="l" rtl="0" eaLnBrk="1" fontAlgn="base" hangingPunct="1">
              <a:spcBef>
                <a:spcPct val="0"/>
              </a:spcBef>
              <a:spcAft>
                <a:spcPct val="0"/>
              </a:spcAft>
              <a:defRPr sz="3200" b="1">
                <a:solidFill>
                  <a:srgbClr val="00A6D7"/>
                </a:solidFill>
                <a:latin typeface="Tahoma" charset="0"/>
                <a:ea typeface="ＭＳ Ｐゴシック" charset="0"/>
              </a:defRPr>
            </a:lvl2pPr>
            <a:lvl3pPr algn="l" rtl="0" eaLnBrk="1" fontAlgn="base" hangingPunct="1">
              <a:spcBef>
                <a:spcPct val="0"/>
              </a:spcBef>
              <a:spcAft>
                <a:spcPct val="0"/>
              </a:spcAft>
              <a:defRPr sz="3200" b="1">
                <a:solidFill>
                  <a:srgbClr val="00A6D7"/>
                </a:solidFill>
                <a:latin typeface="Tahoma" charset="0"/>
                <a:ea typeface="ＭＳ Ｐゴシック" charset="0"/>
              </a:defRPr>
            </a:lvl3pPr>
            <a:lvl4pPr algn="l" rtl="0" eaLnBrk="1" fontAlgn="base" hangingPunct="1">
              <a:spcBef>
                <a:spcPct val="0"/>
              </a:spcBef>
              <a:spcAft>
                <a:spcPct val="0"/>
              </a:spcAft>
              <a:defRPr sz="3200" b="1">
                <a:solidFill>
                  <a:srgbClr val="00A6D7"/>
                </a:solidFill>
                <a:latin typeface="Tahoma" charset="0"/>
                <a:ea typeface="ＭＳ Ｐゴシック" charset="0"/>
              </a:defRPr>
            </a:lvl4pPr>
            <a:lvl5pPr algn="l" rtl="0" eaLnBrk="1" fontAlgn="base" hangingPunct="1">
              <a:spcBef>
                <a:spcPct val="0"/>
              </a:spcBef>
              <a:spcAft>
                <a:spcPct val="0"/>
              </a:spcAft>
              <a:defRPr sz="3200" b="1">
                <a:solidFill>
                  <a:srgbClr val="00A6D7"/>
                </a:solidFill>
                <a:latin typeface="Tahoma" charset="0"/>
                <a:ea typeface="ＭＳ Ｐゴシック" charset="0"/>
              </a:defRPr>
            </a:lvl5pPr>
            <a:lvl6pPr marL="457200" algn="l" rtl="0" eaLnBrk="1" fontAlgn="base" hangingPunct="1">
              <a:spcBef>
                <a:spcPct val="0"/>
              </a:spcBef>
              <a:spcAft>
                <a:spcPct val="0"/>
              </a:spcAft>
              <a:defRPr sz="3200" b="1">
                <a:solidFill>
                  <a:srgbClr val="00A6D7"/>
                </a:solidFill>
                <a:latin typeface="Tahoma" charset="0"/>
                <a:ea typeface="ＭＳ Ｐゴシック" charset="0"/>
              </a:defRPr>
            </a:lvl6pPr>
            <a:lvl7pPr marL="914400" algn="l" rtl="0" eaLnBrk="1" fontAlgn="base" hangingPunct="1">
              <a:spcBef>
                <a:spcPct val="0"/>
              </a:spcBef>
              <a:spcAft>
                <a:spcPct val="0"/>
              </a:spcAft>
              <a:defRPr sz="3200" b="1">
                <a:solidFill>
                  <a:srgbClr val="00A6D7"/>
                </a:solidFill>
                <a:latin typeface="Tahoma" charset="0"/>
                <a:ea typeface="ＭＳ Ｐゴシック" charset="0"/>
              </a:defRPr>
            </a:lvl7pPr>
            <a:lvl8pPr marL="1371600" algn="l" rtl="0" eaLnBrk="1" fontAlgn="base" hangingPunct="1">
              <a:spcBef>
                <a:spcPct val="0"/>
              </a:spcBef>
              <a:spcAft>
                <a:spcPct val="0"/>
              </a:spcAft>
              <a:defRPr sz="3200" b="1">
                <a:solidFill>
                  <a:srgbClr val="00A6D7"/>
                </a:solidFill>
                <a:latin typeface="Tahoma" charset="0"/>
                <a:ea typeface="ＭＳ Ｐゴシック" charset="0"/>
              </a:defRPr>
            </a:lvl8pPr>
            <a:lvl9pPr marL="1828800" algn="l" rtl="0" eaLnBrk="1" fontAlgn="base" hangingPunct="1">
              <a:spcBef>
                <a:spcPct val="0"/>
              </a:spcBef>
              <a:spcAft>
                <a:spcPct val="0"/>
              </a:spcAft>
              <a:defRPr sz="3200" b="1">
                <a:solidFill>
                  <a:srgbClr val="00A6D7"/>
                </a:solidFill>
                <a:latin typeface="Tahoma" charset="0"/>
                <a:ea typeface="ＭＳ Ｐゴシック" charset="0"/>
              </a:defRPr>
            </a:lvl9pPr>
          </a:lstStyle>
          <a:p>
            <a:r>
              <a:rPr lang="en-US" dirty="0">
                <a:solidFill>
                  <a:srgbClr val="002B60"/>
                </a:solidFill>
              </a:rPr>
              <a:t>So how do you start?</a:t>
            </a:r>
          </a:p>
        </p:txBody>
      </p:sp>
      <p:sp>
        <p:nvSpPr>
          <p:cNvPr id="7" name="Title 1"/>
          <p:cNvSpPr txBox="1">
            <a:spLocks/>
          </p:cNvSpPr>
          <p:nvPr/>
        </p:nvSpPr>
        <p:spPr bwMode="auto">
          <a:xfrm>
            <a:off x="4164889" y="4486991"/>
            <a:ext cx="446449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0" tIns="45720" rIns="0" bIns="45720" numCol="1" anchor="t" anchorCtr="0" compatLnSpc="1">
            <a:prstTxWarp prst="textNoShape">
              <a:avLst/>
            </a:prstTxWarp>
          </a:bodyPr>
          <a:lstStyle>
            <a:lvl1pPr algn="l" rtl="0" eaLnBrk="1" fontAlgn="base" hangingPunct="1">
              <a:spcBef>
                <a:spcPct val="0"/>
              </a:spcBef>
              <a:spcAft>
                <a:spcPct val="0"/>
              </a:spcAft>
              <a:defRPr sz="3200" b="1">
                <a:solidFill>
                  <a:srgbClr val="00A6D7"/>
                </a:solidFill>
                <a:latin typeface="+mj-lt"/>
                <a:ea typeface="+mj-ea"/>
                <a:cs typeface="+mj-cs"/>
              </a:defRPr>
            </a:lvl1pPr>
            <a:lvl2pPr algn="l" rtl="0" eaLnBrk="1" fontAlgn="base" hangingPunct="1">
              <a:spcBef>
                <a:spcPct val="0"/>
              </a:spcBef>
              <a:spcAft>
                <a:spcPct val="0"/>
              </a:spcAft>
              <a:defRPr sz="3200" b="1">
                <a:solidFill>
                  <a:srgbClr val="00A6D7"/>
                </a:solidFill>
                <a:latin typeface="Tahoma" charset="0"/>
                <a:ea typeface="ＭＳ Ｐゴシック" charset="0"/>
              </a:defRPr>
            </a:lvl2pPr>
            <a:lvl3pPr algn="l" rtl="0" eaLnBrk="1" fontAlgn="base" hangingPunct="1">
              <a:spcBef>
                <a:spcPct val="0"/>
              </a:spcBef>
              <a:spcAft>
                <a:spcPct val="0"/>
              </a:spcAft>
              <a:defRPr sz="3200" b="1">
                <a:solidFill>
                  <a:srgbClr val="00A6D7"/>
                </a:solidFill>
                <a:latin typeface="Tahoma" charset="0"/>
                <a:ea typeface="ＭＳ Ｐゴシック" charset="0"/>
              </a:defRPr>
            </a:lvl3pPr>
            <a:lvl4pPr algn="l" rtl="0" eaLnBrk="1" fontAlgn="base" hangingPunct="1">
              <a:spcBef>
                <a:spcPct val="0"/>
              </a:spcBef>
              <a:spcAft>
                <a:spcPct val="0"/>
              </a:spcAft>
              <a:defRPr sz="3200" b="1">
                <a:solidFill>
                  <a:srgbClr val="00A6D7"/>
                </a:solidFill>
                <a:latin typeface="Tahoma" charset="0"/>
                <a:ea typeface="ＭＳ Ｐゴシック" charset="0"/>
              </a:defRPr>
            </a:lvl4pPr>
            <a:lvl5pPr algn="l" rtl="0" eaLnBrk="1" fontAlgn="base" hangingPunct="1">
              <a:spcBef>
                <a:spcPct val="0"/>
              </a:spcBef>
              <a:spcAft>
                <a:spcPct val="0"/>
              </a:spcAft>
              <a:defRPr sz="3200" b="1">
                <a:solidFill>
                  <a:srgbClr val="00A6D7"/>
                </a:solidFill>
                <a:latin typeface="Tahoma" charset="0"/>
                <a:ea typeface="ＭＳ Ｐゴシック" charset="0"/>
              </a:defRPr>
            </a:lvl5pPr>
            <a:lvl6pPr marL="457200" algn="l" rtl="0" eaLnBrk="1" fontAlgn="base" hangingPunct="1">
              <a:spcBef>
                <a:spcPct val="0"/>
              </a:spcBef>
              <a:spcAft>
                <a:spcPct val="0"/>
              </a:spcAft>
              <a:defRPr sz="3200" b="1">
                <a:solidFill>
                  <a:srgbClr val="00A6D7"/>
                </a:solidFill>
                <a:latin typeface="Tahoma" charset="0"/>
                <a:ea typeface="ＭＳ Ｐゴシック" charset="0"/>
              </a:defRPr>
            </a:lvl6pPr>
            <a:lvl7pPr marL="914400" algn="l" rtl="0" eaLnBrk="1" fontAlgn="base" hangingPunct="1">
              <a:spcBef>
                <a:spcPct val="0"/>
              </a:spcBef>
              <a:spcAft>
                <a:spcPct val="0"/>
              </a:spcAft>
              <a:defRPr sz="3200" b="1">
                <a:solidFill>
                  <a:srgbClr val="00A6D7"/>
                </a:solidFill>
                <a:latin typeface="Tahoma" charset="0"/>
                <a:ea typeface="ＭＳ Ｐゴシック" charset="0"/>
              </a:defRPr>
            </a:lvl7pPr>
            <a:lvl8pPr marL="1371600" algn="l" rtl="0" eaLnBrk="1" fontAlgn="base" hangingPunct="1">
              <a:spcBef>
                <a:spcPct val="0"/>
              </a:spcBef>
              <a:spcAft>
                <a:spcPct val="0"/>
              </a:spcAft>
              <a:defRPr sz="3200" b="1">
                <a:solidFill>
                  <a:srgbClr val="00A6D7"/>
                </a:solidFill>
                <a:latin typeface="Tahoma" charset="0"/>
                <a:ea typeface="ＭＳ Ｐゴシック" charset="0"/>
              </a:defRPr>
            </a:lvl8pPr>
            <a:lvl9pPr marL="1828800" algn="l" rtl="0" eaLnBrk="1" fontAlgn="base" hangingPunct="1">
              <a:spcBef>
                <a:spcPct val="0"/>
              </a:spcBef>
              <a:spcAft>
                <a:spcPct val="0"/>
              </a:spcAft>
              <a:defRPr sz="3200" b="1">
                <a:solidFill>
                  <a:srgbClr val="00A6D7"/>
                </a:solidFill>
                <a:latin typeface="Tahoma" charset="0"/>
                <a:ea typeface="ＭＳ Ｐゴシック" charset="0"/>
              </a:defRPr>
            </a:lvl9pPr>
          </a:lstStyle>
          <a:p>
            <a:r>
              <a:rPr lang="en-US" dirty="0">
                <a:solidFill>
                  <a:srgbClr val="002B60"/>
                </a:solidFill>
              </a:rPr>
              <a:t>Beachhead market?</a:t>
            </a:r>
          </a:p>
        </p:txBody>
      </p:sp>
      <p:sp>
        <p:nvSpPr>
          <p:cNvPr id="8" name="5-Point Star 7"/>
          <p:cNvSpPr/>
          <p:nvPr/>
        </p:nvSpPr>
        <p:spPr bwMode="auto">
          <a:xfrm>
            <a:off x="9480376" y="116632"/>
            <a:ext cx="1008112" cy="936104"/>
          </a:xfrm>
          <a:prstGeom prst="star5">
            <a:avLst/>
          </a:prstGeom>
          <a:solidFill>
            <a:srgbClr val="FFFF00"/>
          </a:solidFill>
          <a:ln>
            <a:solidFill>
              <a:srgbClr val="FFFF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400">
              <a:solidFill>
                <a:schemeClr val="tx1"/>
              </a:solidFill>
              <a:latin typeface="Tahoma" charset="0"/>
              <a:ea typeface="ＭＳ Ｐゴシック" charset="0"/>
            </a:endParaRPr>
          </a:p>
        </p:txBody>
      </p:sp>
    </p:spTree>
    <p:extLst>
      <p:ext uri="{BB962C8B-B14F-4D97-AF65-F5344CB8AC3E}">
        <p14:creationId xmlns:p14="http://schemas.microsoft.com/office/powerpoint/2010/main" val="1793274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5"/>
          <p:cNvSpPr>
            <a:spLocks noGrp="1"/>
          </p:cNvSpPr>
          <p:nvPr>
            <p:ph type="sldNum" sz="quarter" idx="4294967295"/>
          </p:nvPr>
        </p:nvSpPr>
        <p:spPr>
          <a:xfrm>
            <a:off x="83058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9997F9D-5A9A-F149-8DE3-9303B58E75DC}" type="slidenum">
              <a:rPr lang="en-US" sz="1400"/>
              <a:pPr eaLnBrk="1" hangingPunct="1"/>
              <a:t>38</a:t>
            </a:fld>
            <a:endParaRPr lang="en-US" sz="1400"/>
          </a:p>
        </p:txBody>
      </p:sp>
      <p:sp>
        <p:nvSpPr>
          <p:cNvPr id="76802" name="Rectangle 2"/>
          <p:cNvSpPr>
            <a:spLocks noGrp="1" noChangeArrowheads="1"/>
          </p:cNvSpPr>
          <p:nvPr>
            <p:ph type="title"/>
          </p:nvPr>
        </p:nvSpPr>
        <p:spPr/>
        <p:txBody>
          <a:bodyPr/>
          <a:lstStyle/>
          <a:p>
            <a:pPr eaLnBrk="1" hangingPunct="1"/>
            <a:r>
              <a:rPr lang="en-US" dirty="0">
                <a:solidFill>
                  <a:srgbClr val="002B60"/>
                </a:solidFill>
                <a:latin typeface="Tahoma" charset="0"/>
                <a:ea typeface="ＭＳ Ｐゴシック" charset="0"/>
                <a:cs typeface="ＭＳ Ｐゴシック" charset="0"/>
              </a:rPr>
              <a:t>Beachhead market:</a:t>
            </a:r>
          </a:p>
        </p:txBody>
      </p:sp>
      <p:sp>
        <p:nvSpPr>
          <p:cNvPr id="76803" name="Rectangle 3"/>
          <p:cNvSpPr>
            <a:spLocks noGrp="1" noChangeArrowheads="1"/>
          </p:cNvSpPr>
          <p:nvPr>
            <p:ph type="body" idx="1"/>
          </p:nvPr>
        </p:nvSpPr>
        <p:spPr>
          <a:xfrm>
            <a:off x="700668" y="1748282"/>
            <a:ext cx="8596668" cy="3880773"/>
          </a:xfrm>
        </p:spPr>
        <p:txBody>
          <a:bodyPr/>
          <a:lstStyle/>
          <a:p>
            <a:r>
              <a:rPr lang="en-US" dirty="0"/>
              <a:t>“A beachhead market is the place where, once you gain a dominant market share, you will have the strength to attack adjacent markets with different opportunities, building a larger company with each new following,”</a:t>
            </a:r>
          </a:p>
          <a:p>
            <a:endParaRPr lang="en-US" dirty="0"/>
          </a:p>
        </p:txBody>
      </p:sp>
      <p:sp>
        <p:nvSpPr>
          <p:cNvPr id="6" name="5-Point Star 5"/>
          <p:cNvSpPr/>
          <p:nvPr/>
        </p:nvSpPr>
        <p:spPr bwMode="auto">
          <a:xfrm>
            <a:off x="9480376" y="116632"/>
            <a:ext cx="1008112" cy="936104"/>
          </a:xfrm>
          <a:prstGeom prst="star5">
            <a:avLst/>
          </a:prstGeom>
          <a:solidFill>
            <a:srgbClr val="FFFF00"/>
          </a:solidFill>
          <a:ln>
            <a:solidFill>
              <a:srgbClr val="FFFF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400">
              <a:solidFill>
                <a:schemeClr val="tx1"/>
              </a:solidFill>
              <a:latin typeface="Tahoma" charset="0"/>
              <a:ea typeface="ＭＳ Ｐゴシック" charset="0"/>
            </a:endParaRPr>
          </a:p>
        </p:txBody>
      </p:sp>
      <p:pic>
        <p:nvPicPr>
          <p:cNvPr id="2" name="Picture 1"/>
          <p:cNvPicPr>
            <a:picLocks noChangeAspect="1"/>
          </p:cNvPicPr>
          <p:nvPr/>
        </p:nvPicPr>
        <p:blipFill>
          <a:blip r:embed="rId3"/>
          <a:stretch>
            <a:fillRect/>
          </a:stretch>
        </p:blipFill>
        <p:spPr>
          <a:xfrm>
            <a:off x="2221697" y="2827720"/>
            <a:ext cx="6084103" cy="3273770"/>
          </a:xfrm>
          <a:prstGeom prst="rect">
            <a:avLst/>
          </a:prstGeom>
        </p:spPr>
      </p:pic>
    </p:spTree>
    <p:extLst>
      <p:ext uri="{BB962C8B-B14F-4D97-AF65-F5344CB8AC3E}">
        <p14:creationId xmlns:p14="http://schemas.microsoft.com/office/powerpoint/2010/main" val="39097172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B60"/>
                </a:solidFill>
              </a:rPr>
              <a:t>Your Beachhead Market:</a:t>
            </a:r>
          </a:p>
        </p:txBody>
      </p:sp>
      <p:sp>
        <p:nvSpPr>
          <p:cNvPr id="3" name="Content Placeholder 2"/>
          <p:cNvSpPr>
            <a:spLocks noGrp="1"/>
          </p:cNvSpPr>
          <p:nvPr>
            <p:ph idx="1"/>
          </p:nvPr>
        </p:nvSpPr>
        <p:spPr>
          <a:xfrm>
            <a:off x="677334" y="2166312"/>
            <a:ext cx="8596668" cy="3230679"/>
          </a:xfrm>
        </p:spPr>
        <p:txBody>
          <a:bodyPr/>
          <a:lstStyle/>
          <a:p>
            <a:r>
              <a:rPr lang="en-US" dirty="0">
                <a:solidFill>
                  <a:srgbClr val="002B60"/>
                </a:solidFill>
              </a:rPr>
              <a:t>Not the biggest market (mostly)!</a:t>
            </a:r>
          </a:p>
          <a:p>
            <a:r>
              <a:rPr lang="en-US" dirty="0">
                <a:solidFill>
                  <a:srgbClr val="002B60"/>
                </a:solidFill>
              </a:rPr>
              <a:t>Easiest for you (as entrepreneurial company) to capture</a:t>
            </a:r>
          </a:p>
          <a:p>
            <a:r>
              <a:rPr lang="en-US" dirty="0">
                <a:solidFill>
                  <a:srgbClr val="002B60"/>
                </a:solidFill>
              </a:rPr>
              <a:t>Big enough such that:</a:t>
            </a:r>
          </a:p>
          <a:p>
            <a:pPr lvl="1"/>
            <a:r>
              <a:rPr lang="en-US" dirty="0">
                <a:solidFill>
                  <a:srgbClr val="002B60"/>
                </a:solidFill>
              </a:rPr>
              <a:t>Brings enough cash flow,</a:t>
            </a:r>
          </a:p>
          <a:p>
            <a:pPr lvl="1"/>
            <a:r>
              <a:rPr lang="en-US" dirty="0">
                <a:solidFill>
                  <a:srgbClr val="002B60"/>
                </a:solidFill>
              </a:rPr>
              <a:t>Builds up enough critical mass</a:t>
            </a:r>
          </a:p>
          <a:p>
            <a:r>
              <a:rPr lang="en-US" dirty="0">
                <a:solidFill>
                  <a:srgbClr val="002B60"/>
                </a:solidFill>
              </a:rPr>
              <a:t>Strategic, brings access to other markets</a:t>
            </a:r>
          </a:p>
          <a:p>
            <a:r>
              <a:rPr lang="en-US" dirty="0">
                <a:solidFill>
                  <a:srgbClr val="002B60"/>
                </a:solidFill>
              </a:rPr>
              <a:t>Offers possibility to learn, get feedback, co-create</a:t>
            </a:r>
          </a:p>
          <a:p>
            <a:endParaRPr lang="en-US" dirty="0">
              <a:solidFill>
                <a:srgbClr val="002B60"/>
              </a:solidFill>
            </a:endParaRPr>
          </a:p>
        </p:txBody>
      </p:sp>
      <p:sp>
        <p:nvSpPr>
          <p:cNvPr id="4" name="Date Placeholder 3"/>
          <p:cNvSpPr>
            <a:spLocks noGrp="1"/>
          </p:cNvSpPr>
          <p:nvPr>
            <p:ph type="dt" sz="half" idx="10"/>
          </p:nvPr>
        </p:nvSpPr>
        <p:spPr/>
        <p:txBody>
          <a:bodyPr/>
          <a:lstStyle/>
          <a:p>
            <a:fld id="{6F68CD1F-4DBD-274B-8D9E-E70FEFA47943}" type="datetime4">
              <a:rPr lang="en-US" smtClean="0"/>
              <a:pPr/>
              <a:t>March 30, 2026</a:t>
            </a:fld>
            <a:endParaRPr lang="en-US"/>
          </a:p>
        </p:txBody>
      </p:sp>
      <p:sp>
        <p:nvSpPr>
          <p:cNvPr id="8" name="5-Point Star 7"/>
          <p:cNvSpPr/>
          <p:nvPr/>
        </p:nvSpPr>
        <p:spPr bwMode="auto">
          <a:xfrm>
            <a:off x="9480376" y="116632"/>
            <a:ext cx="1008112" cy="936104"/>
          </a:xfrm>
          <a:prstGeom prst="star5">
            <a:avLst/>
          </a:prstGeom>
          <a:solidFill>
            <a:srgbClr val="FFFF00"/>
          </a:solidFill>
          <a:ln>
            <a:solidFill>
              <a:srgbClr val="FFFF0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defTabSz="914400" eaLnBrk="0" fontAlgn="base" hangingPunct="0">
              <a:spcBef>
                <a:spcPct val="0"/>
              </a:spcBef>
              <a:spcAft>
                <a:spcPct val="0"/>
              </a:spcAft>
            </a:pPr>
            <a:endParaRPr lang="en-US" sz="2400">
              <a:solidFill>
                <a:schemeClr val="tx1"/>
              </a:solidFill>
              <a:latin typeface="Tahoma" charset="0"/>
              <a:ea typeface="ＭＳ Ｐゴシック" charset="0"/>
            </a:endParaRPr>
          </a:p>
        </p:txBody>
      </p:sp>
      <p:pic>
        <p:nvPicPr>
          <p:cNvPr id="6" name="Picture 5"/>
          <p:cNvPicPr>
            <a:picLocks noChangeAspect="1"/>
          </p:cNvPicPr>
          <p:nvPr/>
        </p:nvPicPr>
        <p:blipFill>
          <a:blip r:embed="rId2"/>
          <a:stretch>
            <a:fillRect/>
          </a:stretch>
        </p:blipFill>
        <p:spPr>
          <a:xfrm>
            <a:off x="4786009" y="4893675"/>
            <a:ext cx="7405991" cy="1653866"/>
          </a:xfrm>
          <a:prstGeom prst="rect">
            <a:avLst/>
          </a:prstGeom>
        </p:spPr>
      </p:pic>
      <p:pic>
        <p:nvPicPr>
          <p:cNvPr id="7" name="Picture 6"/>
          <p:cNvPicPr>
            <a:picLocks noChangeAspect="1"/>
          </p:cNvPicPr>
          <p:nvPr/>
        </p:nvPicPr>
        <p:blipFill>
          <a:blip r:embed="rId3"/>
          <a:stretch>
            <a:fillRect/>
          </a:stretch>
        </p:blipFill>
        <p:spPr>
          <a:xfrm>
            <a:off x="8861888" y="2403257"/>
            <a:ext cx="3006008" cy="2254506"/>
          </a:xfrm>
          <a:prstGeom prst="rect">
            <a:avLst/>
          </a:prstGeom>
        </p:spPr>
      </p:pic>
      <p:sp>
        <p:nvSpPr>
          <p:cNvPr id="9" name="Content Placeholder 2"/>
          <p:cNvSpPr txBox="1">
            <a:spLocks/>
          </p:cNvSpPr>
          <p:nvPr/>
        </p:nvSpPr>
        <p:spPr>
          <a:xfrm>
            <a:off x="677334" y="1519080"/>
            <a:ext cx="859666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err="1">
                <a:solidFill>
                  <a:srgbClr val="002B60"/>
                </a:solidFill>
              </a:rPr>
              <a:t>Nowi</a:t>
            </a:r>
            <a:r>
              <a:rPr lang="en-US" dirty="0">
                <a:solidFill>
                  <a:srgbClr val="002B60"/>
                </a:solidFill>
              </a:rPr>
              <a:t>: why they chose road monitoring to warn for icing in Amsterdam?</a:t>
            </a:r>
          </a:p>
        </p:txBody>
      </p:sp>
    </p:spTree>
    <p:extLst>
      <p:ext uri="{BB962C8B-B14F-4D97-AF65-F5344CB8AC3E}">
        <p14:creationId xmlns:p14="http://schemas.microsoft.com/office/powerpoint/2010/main" val="65444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441575" y="549276"/>
            <a:ext cx="7659688" cy="517525"/>
          </a:xfrm>
        </p:spPr>
        <p:txBody>
          <a:bodyPr>
            <a:normAutofit fontScale="90000"/>
          </a:bodyPr>
          <a:lstStyle/>
          <a:p>
            <a:r>
              <a:rPr lang="nl-NL" altLang="nl-NL" dirty="0">
                <a:solidFill>
                  <a:schemeClr val="tx1"/>
                </a:solidFill>
              </a:rPr>
              <a:t>Market </a:t>
            </a:r>
            <a:r>
              <a:rPr lang="nl-NL" altLang="nl-NL" dirty="0" err="1">
                <a:solidFill>
                  <a:schemeClr val="tx1"/>
                </a:solidFill>
              </a:rPr>
              <a:t>opportunities</a:t>
            </a:r>
            <a:endParaRPr lang="nl-NL" altLang="nl-NL" dirty="0">
              <a:solidFill>
                <a:schemeClr val="tx1"/>
              </a:solidFill>
            </a:endParaRPr>
          </a:p>
        </p:txBody>
      </p:sp>
      <p:sp>
        <p:nvSpPr>
          <p:cNvPr id="5" name="Content Placeholder 4"/>
          <p:cNvSpPr>
            <a:spLocks noGrp="1"/>
          </p:cNvSpPr>
          <p:nvPr>
            <p:ph idx="1"/>
          </p:nvPr>
        </p:nvSpPr>
        <p:spPr>
          <a:xfrm>
            <a:off x="2161962" y="1507976"/>
            <a:ext cx="7648575" cy="3505200"/>
          </a:xfrm>
        </p:spPr>
        <p:txBody>
          <a:bodyPr>
            <a:normAutofit fontScale="92500" lnSpcReduction="20000"/>
          </a:bodyPr>
          <a:lstStyle/>
          <a:p>
            <a:pPr marL="0" indent="0">
              <a:buNone/>
              <a:defRPr/>
            </a:pPr>
            <a:r>
              <a:rPr lang="en-US" dirty="0"/>
              <a:t>The development process to come from tech-idea to opportunity</a:t>
            </a:r>
          </a:p>
          <a:p>
            <a:pPr>
              <a:defRPr/>
            </a:pPr>
            <a:endParaRPr lang="en-US" dirty="0"/>
          </a:p>
          <a:p>
            <a:pPr>
              <a:defRPr/>
            </a:pPr>
            <a:r>
              <a:rPr lang="en-US" dirty="0"/>
              <a:t>Identify opportunities </a:t>
            </a:r>
          </a:p>
          <a:p>
            <a:pPr>
              <a:defRPr/>
            </a:pPr>
            <a:r>
              <a:rPr lang="en-US" dirty="0"/>
              <a:t>Opportunity discovery and evaluation</a:t>
            </a:r>
          </a:p>
          <a:p>
            <a:pPr>
              <a:defRPr/>
            </a:pPr>
            <a:r>
              <a:rPr lang="en-US" dirty="0"/>
              <a:t>Opportunity exploitation</a:t>
            </a:r>
          </a:p>
          <a:p>
            <a:pPr>
              <a:defRPr/>
            </a:pPr>
            <a:endParaRPr lang="en-US" dirty="0"/>
          </a:p>
          <a:p>
            <a:pPr>
              <a:defRPr/>
            </a:pPr>
            <a:r>
              <a:rPr lang="en-US" dirty="0"/>
              <a:t>Importance of experiential learning</a:t>
            </a:r>
          </a:p>
          <a:p>
            <a:pPr lvl="1">
              <a:defRPr/>
            </a:pPr>
            <a:r>
              <a:rPr lang="en-US" sz="1800" dirty="0"/>
              <a:t>Learning and reflection on doing (Kolb, 1984)</a:t>
            </a:r>
          </a:p>
          <a:p>
            <a:pPr lvl="1">
              <a:defRPr/>
            </a:pPr>
            <a:r>
              <a:rPr lang="nl-NL" sz="1800" dirty="0" err="1"/>
              <a:t>Adapt</a:t>
            </a:r>
            <a:r>
              <a:rPr lang="nl-NL" sz="1800" dirty="0"/>
              <a:t> </a:t>
            </a:r>
            <a:r>
              <a:rPr lang="nl-NL" sz="1800" dirty="0" err="1"/>
              <a:t>existing</a:t>
            </a:r>
            <a:r>
              <a:rPr lang="nl-NL" sz="1800" dirty="0"/>
              <a:t> </a:t>
            </a:r>
            <a:r>
              <a:rPr lang="nl-NL" sz="1800" dirty="0" err="1"/>
              <a:t>knowledge</a:t>
            </a:r>
            <a:r>
              <a:rPr lang="nl-NL" sz="1800" dirty="0"/>
              <a:t> </a:t>
            </a:r>
            <a:r>
              <a:rPr lang="nl-NL" sz="1800" dirty="0" err="1"/>
              <a:t>to</a:t>
            </a:r>
            <a:r>
              <a:rPr lang="nl-NL" sz="1800" dirty="0"/>
              <a:t> user </a:t>
            </a:r>
            <a:r>
              <a:rPr lang="nl-NL" sz="1800" dirty="0" err="1"/>
              <a:t>applications</a:t>
            </a:r>
            <a:endParaRPr lang="nl-NL" sz="1800" dirty="0"/>
          </a:p>
          <a:p>
            <a:pPr lvl="1">
              <a:defRPr/>
            </a:pPr>
            <a:r>
              <a:rPr lang="nl-NL" sz="1800" dirty="0" err="1"/>
              <a:t>Iterative</a:t>
            </a:r>
            <a:r>
              <a:rPr lang="nl-NL" sz="1800" dirty="0"/>
              <a:t> </a:t>
            </a:r>
            <a:r>
              <a:rPr lang="nl-NL" sz="1800" dirty="0" err="1"/>
              <a:t>learning</a:t>
            </a:r>
            <a:r>
              <a:rPr lang="nl-NL" sz="1800" dirty="0"/>
              <a:t>, forward and backward </a:t>
            </a:r>
            <a:r>
              <a:rPr lang="nl-NL" sz="1800" dirty="0" err="1"/>
              <a:t>adjustments</a:t>
            </a:r>
            <a:r>
              <a:rPr lang="nl-NL" sz="1800" dirty="0"/>
              <a:t> </a:t>
            </a:r>
          </a:p>
        </p:txBody>
      </p:sp>
      <p:pic>
        <p:nvPicPr>
          <p:cNvPr id="460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4381" y="2060849"/>
            <a:ext cx="1592313" cy="2126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57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705" y="5013176"/>
            <a:ext cx="2962275"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32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57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b="1" dirty="0">
                <a:solidFill>
                  <a:schemeClr val="accent2">
                    <a:lumMod val="50000"/>
                  </a:schemeClr>
                </a:solidFill>
                <a:latin typeface="Tahoma" charset="0"/>
                <a:ea typeface="ＭＳ Ｐゴシック" charset="0"/>
                <a:cs typeface="ＭＳ Ｐゴシック" charset="0"/>
              </a:rPr>
              <a:t>Last points</a:t>
            </a:r>
          </a:p>
        </p:txBody>
      </p:sp>
      <p:sp>
        <p:nvSpPr>
          <p:cNvPr id="88067" name="Rectangle 3"/>
          <p:cNvSpPr>
            <a:spLocks noGrp="1" noChangeArrowheads="1"/>
          </p:cNvSpPr>
          <p:nvPr>
            <p:ph idx="1"/>
          </p:nvPr>
        </p:nvSpPr>
        <p:spPr>
          <a:xfrm>
            <a:off x="682389" y="1488613"/>
            <a:ext cx="8596668" cy="3880773"/>
          </a:xfrm>
        </p:spPr>
        <p:txBody>
          <a:bodyPr>
            <a:normAutofit fontScale="92500" lnSpcReduction="10000"/>
          </a:bodyPr>
          <a:lstStyle/>
          <a:p>
            <a:pPr eaLnBrk="1" hangingPunct="1"/>
            <a:r>
              <a:rPr lang="en-US" sz="2000" u="sng" dirty="0">
                <a:latin typeface="Tahoma" charset="0"/>
                <a:ea typeface="ＭＳ Ｐゴシック" charset="0"/>
                <a:cs typeface="ＭＳ Ｐゴシック" charset="0"/>
              </a:rPr>
              <a:t>Evidence is key</a:t>
            </a:r>
          </a:p>
          <a:p>
            <a:pPr eaLnBrk="1" hangingPunct="1"/>
            <a:endParaRPr lang="en-US" sz="2000" dirty="0">
              <a:latin typeface="Tahoma" charset="0"/>
              <a:ea typeface="ＭＳ Ｐゴシック" charset="0"/>
              <a:cs typeface="ＭＳ Ｐゴシック" charset="0"/>
            </a:endParaRPr>
          </a:p>
          <a:p>
            <a:pPr eaLnBrk="1" hangingPunct="1"/>
            <a:r>
              <a:rPr lang="en-US" sz="2000" dirty="0">
                <a:latin typeface="Tahoma" charset="0"/>
                <a:ea typeface="ＭＳ Ｐゴシック" charset="0"/>
                <a:cs typeface="ＭＳ Ｐゴシック" charset="0"/>
              </a:rPr>
              <a:t>Customer discovery</a:t>
            </a:r>
          </a:p>
          <a:p>
            <a:pPr eaLnBrk="1" hangingPunct="1"/>
            <a:endParaRPr lang="en-US" sz="2000" dirty="0">
              <a:latin typeface="Tahoma" charset="0"/>
              <a:ea typeface="ＭＳ Ｐゴシック" charset="0"/>
              <a:cs typeface="ＭＳ Ｐゴシック" charset="0"/>
            </a:endParaRPr>
          </a:p>
          <a:p>
            <a:pPr eaLnBrk="1" hangingPunct="1"/>
            <a:r>
              <a:rPr lang="en-US" sz="2000" dirty="0">
                <a:latin typeface="Tahoma" charset="0"/>
                <a:ea typeface="ＭＳ Ｐゴシック" charset="0"/>
                <a:cs typeface="ＭＳ Ｐゴシック" charset="0"/>
              </a:rPr>
              <a:t>Lean approach to develop your idea</a:t>
            </a:r>
          </a:p>
          <a:p>
            <a:pPr eaLnBrk="1" hangingPunct="1"/>
            <a:endParaRPr lang="en-US" sz="2000" dirty="0">
              <a:latin typeface="Tahoma" charset="0"/>
              <a:ea typeface="ＭＳ Ｐゴシック" charset="0"/>
              <a:cs typeface="ＭＳ Ｐゴシック" charset="0"/>
            </a:endParaRPr>
          </a:p>
          <a:p>
            <a:pPr eaLnBrk="1" hangingPunct="1"/>
            <a:r>
              <a:rPr lang="en-US" sz="2000" dirty="0">
                <a:latin typeface="Tahoma" charset="0"/>
                <a:ea typeface="ＭＳ Ｐゴシック" charset="0"/>
                <a:cs typeface="ＭＳ Ｐゴシック" charset="0"/>
              </a:rPr>
              <a:t>Be engaged and work as a smart team</a:t>
            </a:r>
          </a:p>
          <a:p>
            <a:pPr lvl="1"/>
            <a:r>
              <a:rPr lang="en-US" sz="1800" dirty="0">
                <a:latin typeface="Tahoma" charset="0"/>
                <a:ea typeface="ＭＳ Ｐゴシック" charset="0"/>
                <a:cs typeface="ＭＳ Ｐゴシック" charset="0"/>
              </a:rPr>
              <a:t>Divide tasks but all are responsible</a:t>
            </a:r>
          </a:p>
          <a:p>
            <a:pPr lvl="1"/>
            <a:r>
              <a:rPr lang="en-US" sz="1800" dirty="0">
                <a:latin typeface="Tahoma" charset="0"/>
                <a:ea typeface="ＭＳ Ｐゴシック" charset="0"/>
                <a:cs typeface="ＭＳ Ｐゴシック" charset="0"/>
              </a:rPr>
              <a:t>Don’t wait for a response. Act, Act, Act</a:t>
            </a:r>
          </a:p>
          <a:p>
            <a:pPr lvl="1"/>
            <a:r>
              <a:rPr lang="en-US" sz="1800" dirty="0">
                <a:latin typeface="Tahoma" charset="0"/>
                <a:ea typeface="ＭＳ Ｐゴシック" charset="0"/>
                <a:cs typeface="ＭＳ Ｐゴシック" charset="0"/>
              </a:rPr>
              <a:t>Good luck</a:t>
            </a:r>
          </a:p>
        </p:txBody>
      </p:sp>
      <p:sp>
        <p:nvSpPr>
          <p:cNvPr id="88065" name="Slide Number Placeholder 5"/>
          <p:cNvSpPr>
            <a:spLocks noGrp="1"/>
          </p:cNvSpPr>
          <p:nvPr>
            <p:ph type="sldNum" sz="quarter" idx="12"/>
          </p:nvPr>
        </p:nvSpPr>
        <p:spPr>
          <a:xfrm>
            <a:off x="8305800" y="63246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FD343D87-5D8C-9542-B0F9-D4624DDE0E6A}" type="slidenum">
              <a:rPr lang="en-US" sz="1400"/>
              <a:pPr eaLnBrk="1" hangingPunct="1"/>
              <a:t>41</a:t>
            </a:fld>
            <a:endParaRPr lang="en-US" sz="1400"/>
          </a:p>
        </p:txBody>
      </p:sp>
    </p:spTree>
    <p:extLst>
      <p:ext uri="{BB962C8B-B14F-4D97-AF65-F5344CB8AC3E}">
        <p14:creationId xmlns:p14="http://schemas.microsoft.com/office/powerpoint/2010/main" val="154744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06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806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0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uiExpand="1"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Facet</Template>
  <TotalTime>5264</TotalTime>
  <Words>2285</Words>
  <Application>Microsoft Office PowerPoint</Application>
  <PresentationFormat>Widescreen</PresentationFormat>
  <Paragraphs>507</Paragraphs>
  <Slides>41</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Tahoma</vt:lpstr>
      <vt:lpstr>Times</vt:lpstr>
      <vt:lpstr>Times New Roman</vt:lpstr>
      <vt:lpstr>Trebuchet MS</vt:lpstr>
      <vt:lpstr>Wingdings</vt:lpstr>
      <vt:lpstr>Wingdings 3</vt:lpstr>
      <vt:lpstr>Facet</vt:lpstr>
      <vt:lpstr>EE3L11 Bachelor Graduation project  </vt:lpstr>
      <vt:lpstr>Workshop 1</vt:lpstr>
      <vt:lpstr>Workshop 2</vt:lpstr>
      <vt:lpstr>Course Assessment</vt:lpstr>
      <vt:lpstr>PowerPoint Presentation</vt:lpstr>
      <vt:lpstr>Why a business Plan</vt:lpstr>
      <vt:lpstr>Starting point</vt:lpstr>
      <vt:lpstr>Assessing business ideas</vt:lpstr>
      <vt:lpstr>Desirability</vt:lpstr>
      <vt:lpstr>Value Proposition Canvas</vt:lpstr>
      <vt:lpstr>Feasibility</vt:lpstr>
      <vt:lpstr>Breakdown and assessment</vt:lpstr>
      <vt:lpstr>Viability</vt:lpstr>
      <vt:lpstr>Opportunities for your technology</vt:lpstr>
      <vt:lpstr>Examples</vt:lpstr>
      <vt:lpstr>Examples</vt:lpstr>
      <vt:lpstr>Examples</vt:lpstr>
      <vt:lpstr>PowerPoint Presentation</vt:lpstr>
      <vt:lpstr>PowerPoint Presentation</vt:lpstr>
      <vt:lpstr>PowerPoint Presentation</vt:lpstr>
      <vt:lpstr>PowerPoint Presentation</vt:lpstr>
      <vt:lpstr>PowerPoint Presentation</vt:lpstr>
      <vt:lpstr>Approach: Build-Measure-Learn</vt:lpstr>
      <vt:lpstr>More than 1 customer segment</vt:lpstr>
      <vt:lpstr>Targeting and Market Segmentation</vt:lpstr>
      <vt:lpstr>Market Segmentation Process</vt:lpstr>
      <vt:lpstr> Beachhead market</vt:lpstr>
      <vt:lpstr>PowerPoint Presentation</vt:lpstr>
      <vt:lpstr>PowerPoint Presentation</vt:lpstr>
      <vt:lpstr>Mapping problems that can be targeted </vt:lpstr>
      <vt:lpstr>PowerPoint Presentation</vt:lpstr>
      <vt:lpstr>PowerPoint Presentation</vt:lpstr>
      <vt:lpstr>PowerPoint Presentation</vt:lpstr>
      <vt:lpstr>Customer discovery </vt:lpstr>
      <vt:lpstr>Key questions for the market</vt:lpstr>
      <vt:lpstr>As an Entrepreneur, you have:</vt:lpstr>
      <vt:lpstr>As an Entrepreneur, you have:</vt:lpstr>
      <vt:lpstr>Beachhead market:</vt:lpstr>
      <vt:lpstr>Your Beachhead Market:</vt:lpstr>
      <vt:lpstr>Market opportunities</vt:lpstr>
      <vt:lpstr>Last points</vt:lpstr>
    </vt:vector>
  </TitlesOfParts>
  <Company>Bikker Euro RSCG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Bikker Euro RSCG</dc:creator>
  <cp:lastModifiedBy>Victor Scholten</cp:lastModifiedBy>
  <cp:revision>49</cp:revision>
  <cp:lastPrinted>2015-03-22T02:43:25Z</cp:lastPrinted>
  <dcterms:created xsi:type="dcterms:W3CDTF">2003-10-16T11:24:07Z</dcterms:created>
  <dcterms:modified xsi:type="dcterms:W3CDTF">2026-03-30T09:43:21Z</dcterms:modified>
</cp:coreProperties>
</file>