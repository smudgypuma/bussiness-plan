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2" r:id="rId1"/>
  </p:sldMasterIdLst>
  <p:notesMasterIdLst>
    <p:notesMasterId r:id="rId34"/>
  </p:notesMasterIdLst>
  <p:handoutMasterIdLst>
    <p:handoutMasterId r:id="rId35"/>
  </p:handoutMasterIdLst>
  <p:sldIdLst>
    <p:sldId id="373" r:id="rId2"/>
    <p:sldId id="386" r:id="rId3"/>
    <p:sldId id="412" r:id="rId4"/>
    <p:sldId id="387" r:id="rId5"/>
    <p:sldId id="388" r:id="rId6"/>
    <p:sldId id="710" r:id="rId7"/>
    <p:sldId id="711" r:id="rId8"/>
    <p:sldId id="712" r:id="rId9"/>
    <p:sldId id="650" r:id="rId10"/>
    <p:sldId id="651" r:id="rId11"/>
    <p:sldId id="654" r:id="rId12"/>
    <p:sldId id="688" r:id="rId13"/>
    <p:sldId id="689" r:id="rId14"/>
    <p:sldId id="692" r:id="rId15"/>
    <p:sldId id="693" r:id="rId16"/>
    <p:sldId id="694" r:id="rId17"/>
    <p:sldId id="506" r:id="rId18"/>
    <p:sldId id="509" r:id="rId19"/>
    <p:sldId id="510" r:id="rId20"/>
    <p:sldId id="423" r:id="rId21"/>
    <p:sldId id="427" r:id="rId22"/>
    <p:sldId id="271" r:id="rId23"/>
    <p:sldId id="431" r:id="rId24"/>
    <p:sldId id="433" r:id="rId25"/>
    <p:sldId id="429" r:id="rId26"/>
    <p:sldId id="424" r:id="rId27"/>
    <p:sldId id="428" r:id="rId28"/>
    <p:sldId id="434" r:id="rId29"/>
    <p:sldId id="263" r:id="rId30"/>
    <p:sldId id="270" r:id="rId31"/>
    <p:sldId id="583" r:id="rId32"/>
    <p:sldId id="705" r:id="rId33"/>
  </p:sldIdLst>
  <p:sldSz cx="12192000" cy="6858000"/>
  <p:notesSz cx="6794500" cy="9931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9" userDrawn="1">
          <p15:clr>
            <a:srgbClr val="A4A3A4"/>
          </p15:clr>
        </p15:guide>
        <p15:guide id="2" pos="70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B60"/>
    <a:srgbClr val="D9D9D9"/>
    <a:srgbClr val="77C0D7"/>
    <a:srgbClr val="7BA0C9"/>
    <a:srgbClr val="0093AB"/>
    <a:srgbClr val="66BCAA"/>
    <a:srgbClr val="ADC610"/>
    <a:srgbClr val="00404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2" autoAdjust="0"/>
    <p:restoredTop sz="95297" autoAdjust="0"/>
  </p:normalViewPr>
  <p:slideViewPr>
    <p:cSldViewPr>
      <p:cViewPr varScale="1">
        <p:scale>
          <a:sx n="98" d="100"/>
          <a:sy n="98" d="100"/>
        </p:scale>
        <p:origin x="330" y="84"/>
      </p:cViewPr>
      <p:guideLst>
        <p:guide orient="horz" pos="4069"/>
        <p:guide pos="70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90" y="-84"/>
      </p:cViewPr>
      <p:guideLst>
        <p:guide orient="horz" pos="3127"/>
        <p:guide pos="2140"/>
      </p:guideLst>
    </p:cSldViewPr>
  </p:notesViewPr>
  <p:gridSpacing cx="60128" cy="6012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50FB32-DF63-4469-ABE3-8AE535FB3360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L"/>
        </a:p>
      </dgm:t>
    </dgm:pt>
    <dgm:pt modelId="{93B9AE27-ABFC-4783-85BA-2CAECFEBAB82}">
      <dgm:prSet phldrT="[Text]" phldr="0"/>
      <dgm:spPr/>
      <dgm:t>
        <a:bodyPr/>
        <a:lstStyle/>
        <a:p>
          <a:r>
            <a:rPr lang="en-US" dirty="0"/>
            <a:t>Know about the solution</a:t>
          </a:r>
          <a:endParaRPr lang="en-NL" dirty="0"/>
        </a:p>
      </dgm:t>
    </dgm:pt>
    <dgm:pt modelId="{808D4986-8225-45D0-9E60-186A7C41A4E3}" type="parTrans" cxnId="{D9928E30-7605-49DE-BBDF-717F712AE093}">
      <dgm:prSet/>
      <dgm:spPr/>
      <dgm:t>
        <a:bodyPr/>
        <a:lstStyle/>
        <a:p>
          <a:endParaRPr lang="en-NL"/>
        </a:p>
      </dgm:t>
    </dgm:pt>
    <dgm:pt modelId="{DB79C9DF-ED23-4D44-B692-BE317CBF09C5}" type="sibTrans" cxnId="{D9928E30-7605-49DE-BBDF-717F712AE093}">
      <dgm:prSet/>
      <dgm:spPr/>
      <dgm:t>
        <a:bodyPr/>
        <a:lstStyle/>
        <a:p>
          <a:endParaRPr lang="en-NL"/>
        </a:p>
      </dgm:t>
    </dgm:pt>
    <dgm:pt modelId="{F9D9EBD8-5A9C-4580-AF1A-4B6CFB6CEC95}">
      <dgm:prSet phldrT="[Text]" phldr="0"/>
      <dgm:spPr/>
      <dgm:t>
        <a:bodyPr/>
        <a:lstStyle/>
        <a:p>
          <a:r>
            <a:rPr lang="en-US" dirty="0"/>
            <a:t>Evaluate the solution</a:t>
          </a:r>
          <a:endParaRPr lang="en-NL" dirty="0"/>
        </a:p>
      </dgm:t>
    </dgm:pt>
    <dgm:pt modelId="{362F748F-0F15-42AB-8D45-234DE7CB46D2}" type="parTrans" cxnId="{599876FA-5A08-4394-BF43-92396E378881}">
      <dgm:prSet/>
      <dgm:spPr/>
      <dgm:t>
        <a:bodyPr/>
        <a:lstStyle/>
        <a:p>
          <a:endParaRPr lang="en-NL"/>
        </a:p>
      </dgm:t>
    </dgm:pt>
    <dgm:pt modelId="{AC3A401E-DD8E-493B-9980-1957C37FAB85}" type="sibTrans" cxnId="{599876FA-5A08-4394-BF43-92396E378881}">
      <dgm:prSet/>
      <dgm:spPr/>
      <dgm:t>
        <a:bodyPr/>
        <a:lstStyle/>
        <a:p>
          <a:endParaRPr lang="en-NL"/>
        </a:p>
      </dgm:t>
    </dgm:pt>
    <dgm:pt modelId="{446D2344-9654-407C-8AAE-CA7041A6EBD3}">
      <dgm:prSet phldrT="[Text]" phldr="0"/>
      <dgm:spPr/>
      <dgm:t>
        <a:bodyPr/>
        <a:lstStyle/>
        <a:p>
          <a:r>
            <a:rPr lang="en-US" dirty="0"/>
            <a:t>Install the solution</a:t>
          </a:r>
          <a:endParaRPr lang="en-NL" dirty="0"/>
        </a:p>
      </dgm:t>
    </dgm:pt>
    <dgm:pt modelId="{40D56141-8DE1-4971-8EA2-ED5AA4A695BF}" type="parTrans" cxnId="{9351A176-F50A-4515-BFFA-7AF3686F587F}">
      <dgm:prSet/>
      <dgm:spPr/>
      <dgm:t>
        <a:bodyPr/>
        <a:lstStyle/>
        <a:p>
          <a:endParaRPr lang="en-NL"/>
        </a:p>
      </dgm:t>
    </dgm:pt>
    <dgm:pt modelId="{79D9B9FE-E876-4613-BBEE-7136C412E080}" type="sibTrans" cxnId="{9351A176-F50A-4515-BFFA-7AF3686F587F}">
      <dgm:prSet/>
      <dgm:spPr/>
      <dgm:t>
        <a:bodyPr/>
        <a:lstStyle/>
        <a:p>
          <a:endParaRPr lang="en-NL"/>
        </a:p>
      </dgm:t>
    </dgm:pt>
    <dgm:pt modelId="{9C2844EC-8578-41C8-BC5D-4DD1FF0489E9}">
      <dgm:prSet phldrT="[Text]" phldr="0"/>
      <dgm:spPr/>
      <dgm:t>
        <a:bodyPr/>
        <a:lstStyle/>
        <a:p>
          <a:r>
            <a:rPr lang="en-US" dirty="0"/>
            <a:t>Use the solution</a:t>
          </a:r>
          <a:endParaRPr lang="en-NL" dirty="0"/>
        </a:p>
      </dgm:t>
    </dgm:pt>
    <dgm:pt modelId="{EE9380C0-840F-4695-83FA-E293EF432411}" type="parTrans" cxnId="{F4670C78-87F6-4A22-9902-9D99492C21E5}">
      <dgm:prSet/>
      <dgm:spPr/>
      <dgm:t>
        <a:bodyPr/>
        <a:lstStyle/>
        <a:p>
          <a:endParaRPr lang="en-NL"/>
        </a:p>
      </dgm:t>
    </dgm:pt>
    <dgm:pt modelId="{4415AE3C-E18A-4732-AF1E-33DB9A6C71C8}" type="sibTrans" cxnId="{F4670C78-87F6-4A22-9902-9D99492C21E5}">
      <dgm:prSet/>
      <dgm:spPr/>
      <dgm:t>
        <a:bodyPr/>
        <a:lstStyle/>
        <a:p>
          <a:endParaRPr lang="en-NL"/>
        </a:p>
      </dgm:t>
    </dgm:pt>
    <dgm:pt modelId="{987A78CB-A39B-4396-9236-5537F37E8C72}">
      <dgm:prSet phldrT="[Text]" phldr="0"/>
      <dgm:spPr/>
      <dgm:t>
        <a:bodyPr/>
        <a:lstStyle/>
        <a:p>
          <a:r>
            <a:rPr lang="en-US" dirty="0"/>
            <a:t>Spread the word</a:t>
          </a:r>
          <a:endParaRPr lang="en-NL" dirty="0"/>
        </a:p>
      </dgm:t>
    </dgm:pt>
    <dgm:pt modelId="{90BB0B77-B027-4140-B568-1E1279AEB441}" type="parTrans" cxnId="{BC2A092A-9F6B-4256-835B-97C3EBEA7EFE}">
      <dgm:prSet/>
      <dgm:spPr/>
      <dgm:t>
        <a:bodyPr/>
        <a:lstStyle/>
        <a:p>
          <a:endParaRPr lang="en-NL"/>
        </a:p>
      </dgm:t>
    </dgm:pt>
    <dgm:pt modelId="{7DA1E92F-C26F-4C42-8DFE-6EE180A3B93D}" type="sibTrans" cxnId="{BC2A092A-9F6B-4256-835B-97C3EBEA7EFE}">
      <dgm:prSet/>
      <dgm:spPr/>
      <dgm:t>
        <a:bodyPr/>
        <a:lstStyle/>
        <a:p>
          <a:endParaRPr lang="en-NL"/>
        </a:p>
      </dgm:t>
    </dgm:pt>
    <dgm:pt modelId="{ED485540-6E59-4E15-8742-BC3F9251D616}" type="pres">
      <dgm:prSet presAssocID="{B750FB32-DF63-4469-ABE3-8AE535FB3360}" presName="cycle" presStyleCnt="0">
        <dgm:presLayoutVars>
          <dgm:dir/>
          <dgm:resizeHandles val="exact"/>
        </dgm:presLayoutVars>
      </dgm:prSet>
      <dgm:spPr/>
    </dgm:pt>
    <dgm:pt modelId="{8C404D89-5DA9-4854-A38B-1E45C3D0F3BC}" type="pres">
      <dgm:prSet presAssocID="{93B9AE27-ABFC-4783-85BA-2CAECFEBAB82}" presName="dummy" presStyleCnt="0"/>
      <dgm:spPr/>
    </dgm:pt>
    <dgm:pt modelId="{ED7F6E45-7E33-4D97-AA2C-DC6718EB724E}" type="pres">
      <dgm:prSet presAssocID="{93B9AE27-ABFC-4783-85BA-2CAECFEBAB82}" presName="node" presStyleLbl="revTx" presStyleIdx="0" presStyleCnt="5">
        <dgm:presLayoutVars>
          <dgm:bulletEnabled val="1"/>
        </dgm:presLayoutVars>
      </dgm:prSet>
      <dgm:spPr/>
    </dgm:pt>
    <dgm:pt modelId="{96B81C03-E451-4836-BFF0-3557C0AB1155}" type="pres">
      <dgm:prSet presAssocID="{DB79C9DF-ED23-4D44-B692-BE317CBF09C5}" presName="sibTrans" presStyleLbl="node1" presStyleIdx="0" presStyleCnt="5"/>
      <dgm:spPr/>
    </dgm:pt>
    <dgm:pt modelId="{A1A41B82-EA8A-4874-BEAF-BC2A9B0DCBAF}" type="pres">
      <dgm:prSet presAssocID="{F9D9EBD8-5A9C-4580-AF1A-4B6CFB6CEC95}" presName="dummy" presStyleCnt="0"/>
      <dgm:spPr/>
    </dgm:pt>
    <dgm:pt modelId="{B99D0283-88F7-480B-B24E-8352388125F3}" type="pres">
      <dgm:prSet presAssocID="{F9D9EBD8-5A9C-4580-AF1A-4B6CFB6CEC95}" presName="node" presStyleLbl="revTx" presStyleIdx="1" presStyleCnt="5">
        <dgm:presLayoutVars>
          <dgm:bulletEnabled val="1"/>
        </dgm:presLayoutVars>
      </dgm:prSet>
      <dgm:spPr/>
    </dgm:pt>
    <dgm:pt modelId="{7C6D951B-AF30-4CF2-84CC-30DE685B9032}" type="pres">
      <dgm:prSet presAssocID="{AC3A401E-DD8E-493B-9980-1957C37FAB85}" presName="sibTrans" presStyleLbl="node1" presStyleIdx="1" presStyleCnt="5"/>
      <dgm:spPr/>
    </dgm:pt>
    <dgm:pt modelId="{ADF441D6-6377-4C86-A643-5B78D8764E7D}" type="pres">
      <dgm:prSet presAssocID="{446D2344-9654-407C-8AAE-CA7041A6EBD3}" presName="dummy" presStyleCnt="0"/>
      <dgm:spPr/>
    </dgm:pt>
    <dgm:pt modelId="{244B5805-485E-4936-A0F2-948B3BBD6900}" type="pres">
      <dgm:prSet presAssocID="{446D2344-9654-407C-8AAE-CA7041A6EBD3}" presName="node" presStyleLbl="revTx" presStyleIdx="2" presStyleCnt="5">
        <dgm:presLayoutVars>
          <dgm:bulletEnabled val="1"/>
        </dgm:presLayoutVars>
      </dgm:prSet>
      <dgm:spPr/>
    </dgm:pt>
    <dgm:pt modelId="{5238E7FC-DF11-45D6-A950-2AD1987C7F62}" type="pres">
      <dgm:prSet presAssocID="{79D9B9FE-E876-4613-BBEE-7136C412E080}" presName="sibTrans" presStyleLbl="node1" presStyleIdx="2" presStyleCnt="5"/>
      <dgm:spPr/>
    </dgm:pt>
    <dgm:pt modelId="{A7424ACD-38A0-45BA-B2ED-C5DABEDAC039}" type="pres">
      <dgm:prSet presAssocID="{9C2844EC-8578-41C8-BC5D-4DD1FF0489E9}" presName="dummy" presStyleCnt="0"/>
      <dgm:spPr/>
    </dgm:pt>
    <dgm:pt modelId="{23C607A5-5EF8-4E14-A76C-924808098FBE}" type="pres">
      <dgm:prSet presAssocID="{9C2844EC-8578-41C8-BC5D-4DD1FF0489E9}" presName="node" presStyleLbl="revTx" presStyleIdx="3" presStyleCnt="5">
        <dgm:presLayoutVars>
          <dgm:bulletEnabled val="1"/>
        </dgm:presLayoutVars>
      </dgm:prSet>
      <dgm:spPr/>
    </dgm:pt>
    <dgm:pt modelId="{21C7AD9E-03A0-4CB0-8B50-862F3A4B1D80}" type="pres">
      <dgm:prSet presAssocID="{4415AE3C-E18A-4732-AF1E-33DB9A6C71C8}" presName="sibTrans" presStyleLbl="node1" presStyleIdx="3" presStyleCnt="5"/>
      <dgm:spPr/>
    </dgm:pt>
    <dgm:pt modelId="{7D3C6D08-18E9-453D-8CE2-74B469E95311}" type="pres">
      <dgm:prSet presAssocID="{987A78CB-A39B-4396-9236-5537F37E8C72}" presName="dummy" presStyleCnt="0"/>
      <dgm:spPr/>
    </dgm:pt>
    <dgm:pt modelId="{B71729D3-417C-47EF-B883-9831EBB9A8BE}" type="pres">
      <dgm:prSet presAssocID="{987A78CB-A39B-4396-9236-5537F37E8C72}" presName="node" presStyleLbl="revTx" presStyleIdx="4" presStyleCnt="5">
        <dgm:presLayoutVars>
          <dgm:bulletEnabled val="1"/>
        </dgm:presLayoutVars>
      </dgm:prSet>
      <dgm:spPr/>
    </dgm:pt>
    <dgm:pt modelId="{C3073514-D10C-427E-A986-EBB46E0C2FBA}" type="pres">
      <dgm:prSet presAssocID="{7DA1E92F-C26F-4C42-8DFE-6EE180A3B93D}" presName="sibTrans" presStyleLbl="node1" presStyleIdx="4" presStyleCnt="5"/>
      <dgm:spPr/>
    </dgm:pt>
  </dgm:ptLst>
  <dgm:cxnLst>
    <dgm:cxn modelId="{4C1D1717-5525-4433-B216-72C18F5A6C19}" type="presOf" srcId="{446D2344-9654-407C-8AAE-CA7041A6EBD3}" destId="{244B5805-485E-4936-A0F2-948B3BBD6900}" srcOrd="0" destOrd="0" presId="urn:microsoft.com/office/officeart/2005/8/layout/cycle1"/>
    <dgm:cxn modelId="{EFDEB618-535A-4E47-A70F-92F818144C15}" type="presOf" srcId="{9C2844EC-8578-41C8-BC5D-4DD1FF0489E9}" destId="{23C607A5-5EF8-4E14-A76C-924808098FBE}" srcOrd="0" destOrd="0" presId="urn:microsoft.com/office/officeart/2005/8/layout/cycle1"/>
    <dgm:cxn modelId="{B66F561E-EB77-4FC5-BD3E-D53B086D0BC1}" type="presOf" srcId="{987A78CB-A39B-4396-9236-5537F37E8C72}" destId="{B71729D3-417C-47EF-B883-9831EBB9A8BE}" srcOrd="0" destOrd="0" presId="urn:microsoft.com/office/officeart/2005/8/layout/cycle1"/>
    <dgm:cxn modelId="{BC2A092A-9F6B-4256-835B-97C3EBEA7EFE}" srcId="{B750FB32-DF63-4469-ABE3-8AE535FB3360}" destId="{987A78CB-A39B-4396-9236-5537F37E8C72}" srcOrd="4" destOrd="0" parTransId="{90BB0B77-B027-4140-B568-1E1279AEB441}" sibTransId="{7DA1E92F-C26F-4C42-8DFE-6EE180A3B93D}"/>
    <dgm:cxn modelId="{D9928E30-7605-49DE-BBDF-717F712AE093}" srcId="{B750FB32-DF63-4469-ABE3-8AE535FB3360}" destId="{93B9AE27-ABFC-4783-85BA-2CAECFEBAB82}" srcOrd="0" destOrd="0" parTransId="{808D4986-8225-45D0-9E60-186A7C41A4E3}" sibTransId="{DB79C9DF-ED23-4D44-B692-BE317CBF09C5}"/>
    <dgm:cxn modelId="{A551B030-B4EF-49B4-935C-B1B2458416EB}" type="presOf" srcId="{F9D9EBD8-5A9C-4580-AF1A-4B6CFB6CEC95}" destId="{B99D0283-88F7-480B-B24E-8352388125F3}" srcOrd="0" destOrd="0" presId="urn:microsoft.com/office/officeart/2005/8/layout/cycle1"/>
    <dgm:cxn modelId="{49690E44-2772-4E6C-B050-8DBB5BF82670}" type="presOf" srcId="{AC3A401E-DD8E-493B-9980-1957C37FAB85}" destId="{7C6D951B-AF30-4CF2-84CC-30DE685B9032}" srcOrd="0" destOrd="0" presId="urn:microsoft.com/office/officeart/2005/8/layout/cycle1"/>
    <dgm:cxn modelId="{CBC1746C-434E-4A14-8980-A0A1FD86967A}" type="presOf" srcId="{7DA1E92F-C26F-4C42-8DFE-6EE180A3B93D}" destId="{C3073514-D10C-427E-A986-EBB46E0C2FBA}" srcOrd="0" destOrd="0" presId="urn:microsoft.com/office/officeart/2005/8/layout/cycle1"/>
    <dgm:cxn modelId="{1DCBEB4F-F3BC-465B-AEA5-2E4CE096D054}" type="presOf" srcId="{93B9AE27-ABFC-4783-85BA-2CAECFEBAB82}" destId="{ED7F6E45-7E33-4D97-AA2C-DC6718EB724E}" srcOrd="0" destOrd="0" presId="urn:microsoft.com/office/officeart/2005/8/layout/cycle1"/>
    <dgm:cxn modelId="{47868171-C6C5-43F8-A894-506CDF86D115}" type="presOf" srcId="{DB79C9DF-ED23-4D44-B692-BE317CBF09C5}" destId="{96B81C03-E451-4836-BFF0-3557C0AB1155}" srcOrd="0" destOrd="0" presId="urn:microsoft.com/office/officeart/2005/8/layout/cycle1"/>
    <dgm:cxn modelId="{9351A176-F50A-4515-BFFA-7AF3686F587F}" srcId="{B750FB32-DF63-4469-ABE3-8AE535FB3360}" destId="{446D2344-9654-407C-8AAE-CA7041A6EBD3}" srcOrd="2" destOrd="0" parTransId="{40D56141-8DE1-4971-8EA2-ED5AA4A695BF}" sibTransId="{79D9B9FE-E876-4613-BBEE-7136C412E080}"/>
    <dgm:cxn modelId="{F4670C78-87F6-4A22-9902-9D99492C21E5}" srcId="{B750FB32-DF63-4469-ABE3-8AE535FB3360}" destId="{9C2844EC-8578-41C8-BC5D-4DD1FF0489E9}" srcOrd="3" destOrd="0" parTransId="{EE9380C0-840F-4695-83FA-E293EF432411}" sibTransId="{4415AE3C-E18A-4732-AF1E-33DB9A6C71C8}"/>
    <dgm:cxn modelId="{0EC2FFA9-EED3-4B72-954C-F867CB6B8028}" type="presOf" srcId="{4415AE3C-E18A-4732-AF1E-33DB9A6C71C8}" destId="{21C7AD9E-03A0-4CB0-8B50-862F3A4B1D80}" srcOrd="0" destOrd="0" presId="urn:microsoft.com/office/officeart/2005/8/layout/cycle1"/>
    <dgm:cxn modelId="{7C22A0D8-2805-4D41-8F25-8FBBA008F6A3}" type="presOf" srcId="{B750FB32-DF63-4469-ABE3-8AE535FB3360}" destId="{ED485540-6E59-4E15-8742-BC3F9251D616}" srcOrd="0" destOrd="0" presId="urn:microsoft.com/office/officeart/2005/8/layout/cycle1"/>
    <dgm:cxn modelId="{599876FA-5A08-4394-BF43-92396E378881}" srcId="{B750FB32-DF63-4469-ABE3-8AE535FB3360}" destId="{F9D9EBD8-5A9C-4580-AF1A-4B6CFB6CEC95}" srcOrd="1" destOrd="0" parTransId="{362F748F-0F15-42AB-8D45-234DE7CB46D2}" sibTransId="{AC3A401E-DD8E-493B-9980-1957C37FAB85}"/>
    <dgm:cxn modelId="{DDDA02FD-C6D0-4509-B6F0-06BFDCE97A00}" type="presOf" srcId="{79D9B9FE-E876-4613-BBEE-7136C412E080}" destId="{5238E7FC-DF11-45D6-A950-2AD1987C7F62}" srcOrd="0" destOrd="0" presId="urn:microsoft.com/office/officeart/2005/8/layout/cycle1"/>
    <dgm:cxn modelId="{856BC687-E4D2-4C92-A3DC-1ECF080CE274}" type="presParOf" srcId="{ED485540-6E59-4E15-8742-BC3F9251D616}" destId="{8C404D89-5DA9-4854-A38B-1E45C3D0F3BC}" srcOrd="0" destOrd="0" presId="urn:microsoft.com/office/officeart/2005/8/layout/cycle1"/>
    <dgm:cxn modelId="{252F2C46-8DFB-4077-A36F-91CE1FF0F733}" type="presParOf" srcId="{ED485540-6E59-4E15-8742-BC3F9251D616}" destId="{ED7F6E45-7E33-4D97-AA2C-DC6718EB724E}" srcOrd="1" destOrd="0" presId="urn:microsoft.com/office/officeart/2005/8/layout/cycle1"/>
    <dgm:cxn modelId="{A6EB90FC-BC46-4336-B969-882C26558D36}" type="presParOf" srcId="{ED485540-6E59-4E15-8742-BC3F9251D616}" destId="{96B81C03-E451-4836-BFF0-3557C0AB1155}" srcOrd="2" destOrd="0" presId="urn:microsoft.com/office/officeart/2005/8/layout/cycle1"/>
    <dgm:cxn modelId="{111A413B-3B8C-4A5D-825E-E5B1FAF7EDFD}" type="presParOf" srcId="{ED485540-6E59-4E15-8742-BC3F9251D616}" destId="{A1A41B82-EA8A-4874-BEAF-BC2A9B0DCBAF}" srcOrd="3" destOrd="0" presId="urn:microsoft.com/office/officeart/2005/8/layout/cycle1"/>
    <dgm:cxn modelId="{62CC3D5A-632B-4A69-AD9C-10746B7D22D5}" type="presParOf" srcId="{ED485540-6E59-4E15-8742-BC3F9251D616}" destId="{B99D0283-88F7-480B-B24E-8352388125F3}" srcOrd="4" destOrd="0" presId="urn:microsoft.com/office/officeart/2005/8/layout/cycle1"/>
    <dgm:cxn modelId="{321CF3F6-B5E3-4AC5-AC71-C3C3301778DE}" type="presParOf" srcId="{ED485540-6E59-4E15-8742-BC3F9251D616}" destId="{7C6D951B-AF30-4CF2-84CC-30DE685B9032}" srcOrd="5" destOrd="0" presId="urn:microsoft.com/office/officeart/2005/8/layout/cycle1"/>
    <dgm:cxn modelId="{949D1A9C-7B2F-4433-9F34-56F4D6FA5857}" type="presParOf" srcId="{ED485540-6E59-4E15-8742-BC3F9251D616}" destId="{ADF441D6-6377-4C86-A643-5B78D8764E7D}" srcOrd="6" destOrd="0" presId="urn:microsoft.com/office/officeart/2005/8/layout/cycle1"/>
    <dgm:cxn modelId="{DDC98CCB-854F-4FF2-9A29-81E98211D0F2}" type="presParOf" srcId="{ED485540-6E59-4E15-8742-BC3F9251D616}" destId="{244B5805-485E-4936-A0F2-948B3BBD6900}" srcOrd="7" destOrd="0" presId="urn:microsoft.com/office/officeart/2005/8/layout/cycle1"/>
    <dgm:cxn modelId="{37BE451C-758F-4287-A531-0AEB3D569D17}" type="presParOf" srcId="{ED485540-6E59-4E15-8742-BC3F9251D616}" destId="{5238E7FC-DF11-45D6-A950-2AD1987C7F62}" srcOrd="8" destOrd="0" presId="urn:microsoft.com/office/officeart/2005/8/layout/cycle1"/>
    <dgm:cxn modelId="{FAC9AAEB-9729-44D8-9679-11FA5E0AA059}" type="presParOf" srcId="{ED485540-6E59-4E15-8742-BC3F9251D616}" destId="{A7424ACD-38A0-45BA-B2ED-C5DABEDAC039}" srcOrd="9" destOrd="0" presId="urn:microsoft.com/office/officeart/2005/8/layout/cycle1"/>
    <dgm:cxn modelId="{6950101E-62F1-4900-B073-5A502ED85F5B}" type="presParOf" srcId="{ED485540-6E59-4E15-8742-BC3F9251D616}" destId="{23C607A5-5EF8-4E14-A76C-924808098FBE}" srcOrd="10" destOrd="0" presId="urn:microsoft.com/office/officeart/2005/8/layout/cycle1"/>
    <dgm:cxn modelId="{F4288DEF-818A-44C5-ACDD-AB953AF50926}" type="presParOf" srcId="{ED485540-6E59-4E15-8742-BC3F9251D616}" destId="{21C7AD9E-03A0-4CB0-8B50-862F3A4B1D80}" srcOrd="11" destOrd="0" presId="urn:microsoft.com/office/officeart/2005/8/layout/cycle1"/>
    <dgm:cxn modelId="{2289FE92-F281-4D28-AF86-1629DD1DE35C}" type="presParOf" srcId="{ED485540-6E59-4E15-8742-BC3F9251D616}" destId="{7D3C6D08-18E9-453D-8CE2-74B469E95311}" srcOrd="12" destOrd="0" presId="urn:microsoft.com/office/officeart/2005/8/layout/cycle1"/>
    <dgm:cxn modelId="{36DB2B66-7408-4572-BF80-A5F726F15E39}" type="presParOf" srcId="{ED485540-6E59-4E15-8742-BC3F9251D616}" destId="{B71729D3-417C-47EF-B883-9831EBB9A8BE}" srcOrd="13" destOrd="0" presId="urn:microsoft.com/office/officeart/2005/8/layout/cycle1"/>
    <dgm:cxn modelId="{7C4D380A-D560-453D-8BFE-DD6852C462B1}" type="presParOf" srcId="{ED485540-6E59-4E15-8742-BC3F9251D616}" destId="{C3073514-D10C-427E-A986-EBB46E0C2FBA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C9ECED-66B3-474A-952D-4E0F67114BF3}" type="doc">
      <dgm:prSet loTypeId="urn:microsoft.com/office/officeart/2005/8/layout/list1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CF590E5-7028-4570-9D03-E0C8B8681CE3}">
      <dgm:prSet/>
      <dgm:spPr/>
      <dgm:t>
        <a:bodyPr/>
        <a:lstStyle/>
        <a:p>
          <a:r>
            <a:rPr lang="en-US"/>
            <a:t>Main steps</a:t>
          </a:r>
        </a:p>
      </dgm:t>
    </dgm:pt>
    <dgm:pt modelId="{62E83A23-CA0A-455D-A1A9-0459EF2D515A}" type="parTrans" cxnId="{252722FF-4BA5-43D0-9521-015017B08829}">
      <dgm:prSet/>
      <dgm:spPr/>
      <dgm:t>
        <a:bodyPr/>
        <a:lstStyle/>
        <a:p>
          <a:endParaRPr lang="en-US"/>
        </a:p>
      </dgm:t>
    </dgm:pt>
    <dgm:pt modelId="{AB1CFB55-F8D7-42B4-A9F3-44F769E48F92}" type="sibTrans" cxnId="{252722FF-4BA5-43D0-9521-015017B08829}">
      <dgm:prSet/>
      <dgm:spPr/>
      <dgm:t>
        <a:bodyPr/>
        <a:lstStyle/>
        <a:p>
          <a:endParaRPr lang="en-US"/>
        </a:p>
      </dgm:t>
    </dgm:pt>
    <dgm:pt modelId="{5A0A1F8D-F947-4CA1-9E8C-63F4C1DFA5C0}">
      <dgm:prSet/>
      <dgm:spPr/>
      <dgm:t>
        <a:bodyPr/>
        <a:lstStyle/>
        <a:p>
          <a:r>
            <a:rPr lang="en-US"/>
            <a:t>Define your common goals</a:t>
          </a:r>
        </a:p>
      </dgm:t>
    </dgm:pt>
    <dgm:pt modelId="{033851D3-90FD-4F94-93D2-F29ED3A25F56}" type="parTrans" cxnId="{C07D520E-8577-49E4-86A3-2093BE8DEF49}">
      <dgm:prSet/>
      <dgm:spPr/>
      <dgm:t>
        <a:bodyPr/>
        <a:lstStyle/>
        <a:p>
          <a:endParaRPr lang="en-US"/>
        </a:p>
      </dgm:t>
    </dgm:pt>
    <dgm:pt modelId="{1139282C-DE29-4FED-851D-82D1AAEE7A26}" type="sibTrans" cxnId="{C07D520E-8577-49E4-86A3-2093BE8DEF49}">
      <dgm:prSet/>
      <dgm:spPr/>
      <dgm:t>
        <a:bodyPr/>
        <a:lstStyle/>
        <a:p>
          <a:endParaRPr lang="en-US"/>
        </a:p>
      </dgm:t>
    </dgm:pt>
    <dgm:pt modelId="{0BF6F16A-4994-417C-B2C8-8CE6BA00411E}">
      <dgm:prSet/>
      <dgm:spPr/>
      <dgm:t>
        <a:bodyPr/>
        <a:lstStyle/>
        <a:p>
          <a:r>
            <a:rPr lang="en-US"/>
            <a:t>what are the main elements you want to stick with your user/ audience? </a:t>
          </a:r>
        </a:p>
      </dgm:t>
    </dgm:pt>
    <dgm:pt modelId="{E948983B-35FF-4664-AEC4-078CAD6DA340}" type="parTrans" cxnId="{13ADEFB4-31DB-44DD-9F47-28A6B7DFE9E3}">
      <dgm:prSet/>
      <dgm:spPr/>
      <dgm:t>
        <a:bodyPr/>
        <a:lstStyle/>
        <a:p>
          <a:endParaRPr lang="en-US"/>
        </a:p>
      </dgm:t>
    </dgm:pt>
    <dgm:pt modelId="{E7986CE6-F0F1-431C-8F16-4225763E619F}" type="sibTrans" cxnId="{13ADEFB4-31DB-44DD-9F47-28A6B7DFE9E3}">
      <dgm:prSet/>
      <dgm:spPr/>
      <dgm:t>
        <a:bodyPr/>
        <a:lstStyle/>
        <a:p>
          <a:endParaRPr lang="en-US"/>
        </a:p>
      </dgm:t>
    </dgm:pt>
    <dgm:pt modelId="{F7353251-FF2E-46B8-A6BB-954BE80EFCC8}">
      <dgm:prSet/>
      <dgm:spPr/>
      <dgm:t>
        <a:bodyPr/>
        <a:lstStyle/>
        <a:p>
          <a:r>
            <a:rPr lang="en-US"/>
            <a:t>What is the value you create for them?</a:t>
          </a:r>
        </a:p>
      </dgm:t>
    </dgm:pt>
    <dgm:pt modelId="{59036E13-539F-44A3-8591-4D2C48400590}" type="parTrans" cxnId="{1653AC38-C51A-4325-99B6-EE4A95A73AC2}">
      <dgm:prSet/>
      <dgm:spPr/>
      <dgm:t>
        <a:bodyPr/>
        <a:lstStyle/>
        <a:p>
          <a:endParaRPr lang="en-US"/>
        </a:p>
      </dgm:t>
    </dgm:pt>
    <dgm:pt modelId="{D276483B-8C2D-47F0-BD93-E6F49D5FDBCB}" type="sibTrans" cxnId="{1653AC38-C51A-4325-99B6-EE4A95A73AC2}">
      <dgm:prSet/>
      <dgm:spPr/>
      <dgm:t>
        <a:bodyPr/>
        <a:lstStyle/>
        <a:p>
          <a:endParaRPr lang="en-US"/>
        </a:p>
      </dgm:t>
    </dgm:pt>
    <dgm:pt modelId="{C32AF718-6435-4329-A037-1314324DFCB3}">
      <dgm:prSet/>
      <dgm:spPr/>
      <dgm:t>
        <a:bodyPr/>
        <a:lstStyle/>
        <a:p>
          <a:r>
            <a:rPr lang="en-US"/>
            <a:t>Identify your targe audience</a:t>
          </a:r>
        </a:p>
      </dgm:t>
    </dgm:pt>
    <dgm:pt modelId="{7FF07E45-F169-4B93-9412-BD011949CF5C}" type="parTrans" cxnId="{0C137020-3731-48B0-990A-9B1A06CFF565}">
      <dgm:prSet/>
      <dgm:spPr/>
      <dgm:t>
        <a:bodyPr/>
        <a:lstStyle/>
        <a:p>
          <a:endParaRPr lang="en-US"/>
        </a:p>
      </dgm:t>
    </dgm:pt>
    <dgm:pt modelId="{4166F3AD-5E05-4E84-A07E-228732FE9673}" type="sibTrans" cxnId="{0C137020-3731-48B0-990A-9B1A06CFF565}">
      <dgm:prSet/>
      <dgm:spPr/>
      <dgm:t>
        <a:bodyPr/>
        <a:lstStyle/>
        <a:p>
          <a:endParaRPr lang="en-US"/>
        </a:p>
      </dgm:t>
    </dgm:pt>
    <dgm:pt modelId="{4947491F-FFDE-411A-9CE3-B8F8BD797628}">
      <dgm:prSet/>
      <dgm:spPr/>
      <dgm:t>
        <a:bodyPr/>
        <a:lstStyle/>
        <a:p>
          <a:r>
            <a:rPr lang="en-US"/>
            <a:t>Who are the main stakeholders that have interest in what you do</a:t>
          </a:r>
        </a:p>
      </dgm:t>
    </dgm:pt>
    <dgm:pt modelId="{218DCC14-7257-4C37-8B31-7E591F8540EE}" type="parTrans" cxnId="{4D42A548-273A-4008-A93C-BD25F65CD1BA}">
      <dgm:prSet/>
      <dgm:spPr/>
      <dgm:t>
        <a:bodyPr/>
        <a:lstStyle/>
        <a:p>
          <a:endParaRPr lang="en-US"/>
        </a:p>
      </dgm:t>
    </dgm:pt>
    <dgm:pt modelId="{9A143337-4F43-4EAA-8BE6-AC364B6F18A3}" type="sibTrans" cxnId="{4D42A548-273A-4008-A93C-BD25F65CD1BA}">
      <dgm:prSet/>
      <dgm:spPr/>
      <dgm:t>
        <a:bodyPr/>
        <a:lstStyle/>
        <a:p>
          <a:endParaRPr lang="en-US"/>
        </a:p>
      </dgm:t>
    </dgm:pt>
    <dgm:pt modelId="{C1E2B3A2-5507-4D11-8232-2920DFE28BCC}">
      <dgm:prSet/>
      <dgm:spPr/>
      <dgm:t>
        <a:bodyPr/>
        <a:lstStyle/>
        <a:p>
          <a:r>
            <a:rPr lang="en-US" dirty="0"/>
            <a:t>Craft the core message</a:t>
          </a:r>
        </a:p>
      </dgm:t>
    </dgm:pt>
    <dgm:pt modelId="{874A931F-775E-4C73-80C5-8B885A62C11A}" type="parTrans" cxnId="{6A14E477-E1B2-4275-9797-656C2A5DA200}">
      <dgm:prSet/>
      <dgm:spPr/>
      <dgm:t>
        <a:bodyPr/>
        <a:lstStyle/>
        <a:p>
          <a:endParaRPr lang="en-US"/>
        </a:p>
      </dgm:t>
    </dgm:pt>
    <dgm:pt modelId="{319D979C-06FD-4169-8A10-FB64F4DB9B0B}" type="sibTrans" cxnId="{6A14E477-E1B2-4275-9797-656C2A5DA200}">
      <dgm:prSet/>
      <dgm:spPr/>
      <dgm:t>
        <a:bodyPr/>
        <a:lstStyle/>
        <a:p>
          <a:endParaRPr lang="en-US"/>
        </a:p>
      </dgm:t>
    </dgm:pt>
    <dgm:pt modelId="{E565EC42-0B4C-4420-BE33-7C7168D05077}">
      <dgm:prSet/>
      <dgm:spPr/>
      <dgm:t>
        <a:bodyPr/>
        <a:lstStyle/>
        <a:p>
          <a:r>
            <a:rPr lang="en-US"/>
            <a:t>Choose the communication channel</a:t>
          </a:r>
        </a:p>
      </dgm:t>
    </dgm:pt>
    <dgm:pt modelId="{451EF1EB-338F-4393-A539-4FBFDAAB79F1}" type="parTrans" cxnId="{604AF747-4882-43C0-91D1-84448E43AF38}">
      <dgm:prSet/>
      <dgm:spPr/>
      <dgm:t>
        <a:bodyPr/>
        <a:lstStyle/>
        <a:p>
          <a:endParaRPr lang="en-US"/>
        </a:p>
      </dgm:t>
    </dgm:pt>
    <dgm:pt modelId="{8697566C-2951-41FC-B6D4-BFC92E9BCCBD}" type="sibTrans" cxnId="{604AF747-4882-43C0-91D1-84448E43AF38}">
      <dgm:prSet/>
      <dgm:spPr/>
      <dgm:t>
        <a:bodyPr/>
        <a:lstStyle/>
        <a:p>
          <a:endParaRPr lang="en-US"/>
        </a:p>
      </dgm:t>
    </dgm:pt>
    <dgm:pt modelId="{7D52E6ED-8050-4F63-BFD7-76075D37E797}">
      <dgm:prSet/>
      <dgm:spPr/>
      <dgm:t>
        <a:bodyPr/>
        <a:lstStyle/>
        <a:p>
          <a:r>
            <a:rPr lang="en-US"/>
            <a:t>What content do you need</a:t>
          </a:r>
        </a:p>
      </dgm:t>
    </dgm:pt>
    <dgm:pt modelId="{5AFD1D32-0D3B-45B7-B916-473C52433068}" type="parTrans" cxnId="{131E2F46-71AB-47F5-B25A-979C9542C2ED}">
      <dgm:prSet/>
      <dgm:spPr/>
      <dgm:t>
        <a:bodyPr/>
        <a:lstStyle/>
        <a:p>
          <a:endParaRPr lang="en-US"/>
        </a:p>
      </dgm:t>
    </dgm:pt>
    <dgm:pt modelId="{88FD6C33-E532-4CE4-AA8A-CFB94E5871D0}" type="sibTrans" cxnId="{131E2F46-71AB-47F5-B25A-979C9542C2ED}">
      <dgm:prSet/>
      <dgm:spPr/>
      <dgm:t>
        <a:bodyPr/>
        <a:lstStyle/>
        <a:p>
          <a:endParaRPr lang="en-US"/>
        </a:p>
      </dgm:t>
    </dgm:pt>
    <dgm:pt modelId="{D49E5093-1F1D-41CC-AF3A-9D248A681AB3}">
      <dgm:prSet/>
      <dgm:spPr/>
      <dgm:t>
        <a:bodyPr/>
        <a:lstStyle/>
        <a:p>
          <a:r>
            <a:rPr lang="en-US" dirty="0"/>
            <a:t>Engage </a:t>
          </a:r>
          <a:r>
            <a:rPr lang="en-US"/>
            <a:t>and build </a:t>
          </a:r>
          <a:r>
            <a:rPr lang="en-US" dirty="0"/>
            <a:t>the relationship</a:t>
          </a:r>
        </a:p>
      </dgm:t>
    </dgm:pt>
    <dgm:pt modelId="{8B32583B-6A57-4F0E-B9C5-705DEAE83C8A}" type="parTrans" cxnId="{07E6F185-A09D-43B5-A221-0621C30E1CEE}">
      <dgm:prSet/>
      <dgm:spPr/>
      <dgm:t>
        <a:bodyPr/>
        <a:lstStyle/>
        <a:p>
          <a:endParaRPr lang="en-US"/>
        </a:p>
      </dgm:t>
    </dgm:pt>
    <dgm:pt modelId="{9157DF6A-B935-40E2-B974-05053C89ADB9}" type="sibTrans" cxnId="{07E6F185-A09D-43B5-A221-0621C30E1CEE}">
      <dgm:prSet/>
      <dgm:spPr/>
      <dgm:t>
        <a:bodyPr/>
        <a:lstStyle/>
        <a:p>
          <a:endParaRPr lang="en-US"/>
        </a:p>
      </dgm:t>
    </dgm:pt>
    <dgm:pt modelId="{243AAE78-C103-425C-B41A-1B4934E0ECE3}" type="pres">
      <dgm:prSet presAssocID="{C3C9ECED-66B3-474A-952D-4E0F67114BF3}" presName="linear" presStyleCnt="0">
        <dgm:presLayoutVars>
          <dgm:dir/>
          <dgm:animLvl val="lvl"/>
          <dgm:resizeHandles val="exact"/>
        </dgm:presLayoutVars>
      </dgm:prSet>
      <dgm:spPr/>
    </dgm:pt>
    <dgm:pt modelId="{557B88B6-8D50-422E-8CFF-3F43E462C021}" type="pres">
      <dgm:prSet presAssocID="{8CF590E5-7028-4570-9D03-E0C8B8681CE3}" presName="parentLin" presStyleCnt="0"/>
      <dgm:spPr/>
    </dgm:pt>
    <dgm:pt modelId="{C56598C4-5F12-4892-A3A2-360D76524A7C}" type="pres">
      <dgm:prSet presAssocID="{8CF590E5-7028-4570-9D03-E0C8B8681CE3}" presName="parentLeftMargin" presStyleLbl="node1" presStyleIdx="0" presStyleCnt="5"/>
      <dgm:spPr/>
    </dgm:pt>
    <dgm:pt modelId="{DA1C63C6-06BB-45EB-85F8-B151B513A927}" type="pres">
      <dgm:prSet presAssocID="{8CF590E5-7028-4570-9D03-E0C8B8681CE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7422EFB-5DF7-40D5-BF0F-45EFB84E7A18}" type="pres">
      <dgm:prSet presAssocID="{8CF590E5-7028-4570-9D03-E0C8B8681CE3}" presName="negativeSpace" presStyleCnt="0"/>
      <dgm:spPr/>
    </dgm:pt>
    <dgm:pt modelId="{045575A3-27D7-49E1-8127-82C601999E6B}" type="pres">
      <dgm:prSet presAssocID="{8CF590E5-7028-4570-9D03-E0C8B8681CE3}" presName="childText" presStyleLbl="conFgAcc1" presStyleIdx="0" presStyleCnt="5">
        <dgm:presLayoutVars>
          <dgm:bulletEnabled val="1"/>
        </dgm:presLayoutVars>
      </dgm:prSet>
      <dgm:spPr/>
    </dgm:pt>
    <dgm:pt modelId="{13D6C911-3814-4BDC-B729-036F3BCCF8E2}" type="pres">
      <dgm:prSet presAssocID="{AB1CFB55-F8D7-42B4-A9F3-44F769E48F92}" presName="spaceBetweenRectangles" presStyleCnt="0"/>
      <dgm:spPr/>
    </dgm:pt>
    <dgm:pt modelId="{7A5F6BE7-81A9-417D-915F-F5B0A2D197D7}" type="pres">
      <dgm:prSet presAssocID="{C1E2B3A2-5507-4D11-8232-2920DFE28BCC}" presName="parentLin" presStyleCnt="0"/>
      <dgm:spPr/>
    </dgm:pt>
    <dgm:pt modelId="{2DCBFFAF-2152-437C-BD52-83CF719F7401}" type="pres">
      <dgm:prSet presAssocID="{C1E2B3A2-5507-4D11-8232-2920DFE28BCC}" presName="parentLeftMargin" presStyleLbl="node1" presStyleIdx="0" presStyleCnt="5"/>
      <dgm:spPr/>
    </dgm:pt>
    <dgm:pt modelId="{35CAA33F-4C5B-40FA-A277-CA8C4E3D352B}" type="pres">
      <dgm:prSet presAssocID="{C1E2B3A2-5507-4D11-8232-2920DFE28BC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9749DBA-E4E8-4807-AA3E-67E6D7DC343C}" type="pres">
      <dgm:prSet presAssocID="{C1E2B3A2-5507-4D11-8232-2920DFE28BCC}" presName="negativeSpace" presStyleCnt="0"/>
      <dgm:spPr/>
    </dgm:pt>
    <dgm:pt modelId="{6398FBE3-50C2-41F8-B7D9-51F2DBF00FDC}" type="pres">
      <dgm:prSet presAssocID="{C1E2B3A2-5507-4D11-8232-2920DFE28BCC}" presName="childText" presStyleLbl="conFgAcc1" presStyleIdx="1" presStyleCnt="5">
        <dgm:presLayoutVars>
          <dgm:bulletEnabled val="1"/>
        </dgm:presLayoutVars>
      </dgm:prSet>
      <dgm:spPr/>
    </dgm:pt>
    <dgm:pt modelId="{EAF3669A-9717-4311-BB85-6CD3BB51C7D8}" type="pres">
      <dgm:prSet presAssocID="{319D979C-06FD-4169-8A10-FB64F4DB9B0B}" presName="spaceBetweenRectangles" presStyleCnt="0"/>
      <dgm:spPr/>
    </dgm:pt>
    <dgm:pt modelId="{EFD4173F-3CEC-4499-A74D-6CE6FB261ED7}" type="pres">
      <dgm:prSet presAssocID="{E565EC42-0B4C-4420-BE33-7C7168D05077}" presName="parentLin" presStyleCnt="0"/>
      <dgm:spPr/>
    </dgm:pt>
    <dgm:pt modelId="{4345D3CB-DE2C-4275-9E91-3C1B16A4F55A}" type="pres">
      <dgm:prSet presAssocID="{E565EC42-0B4C-4420-BE33-7C7168D05077}" presName="parentLeftMargin" presStyleLbl="node1" presStyleIdx="1" presStyleCnt="5"/>
      <dgm:spPr/>
    </dgm:pt>
    <dgm:pt modelId="{8E9C0933-4DEA-4DB9-AC1D-4629C19AF5C3}" type="pres">
      <dgm:prSet presAssocID="{E565EC42-0B4C-4420-BE33-7C7168D0507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719855C-FFA9-4F07-8C58-37093C661F2C}" type="pres">
      <dgm:prSet presAssocID="{E565EC42-0B4C-4420-BE33-7C7168D05077}" presName="negativeSpace" presStyleCnt="0"/>
      <dgm:spPr/>
    </dgm:pt>
    <dgm:pt modelId="{C2187578-5EDB-48F3-9DEC-DB71D91EA185}" type="pres">
      <dgm:prSet presAssocID="{E565EC42-0B4C-4420-BE33-7C7168D05077}" presName="childText" presStyleLbl="conFgAcc1" presStyleIdx="2" presStyleCnt="5">
        <dgm:presLayoutVars>
          <dgm:bulletEnabled val="1"/>
        </dgm:presLayoutVars>
      </dgm:prSet>
      <dgm:spPr/>
    </dgm:pt>
    <dgm:pt modelId="{FB9027DD-95CA-4EB3-9D01-955294E0E20A}" type="pres">
      <dgm:prSet presAssocID="{8697566C-2951-41FC-B6D4-BFC92E9BCCBD}" presName="spaceBetweenRectangles" presStyleCnt="0"/>
      <dgm:spPr/>
    </dgm:pt>
    <dgm:pt modelId="{6D5BACFC-A025-4B0B-86B7-7E1F31900F98}" type="pres">
      <dgm:prSet presAssocID="{7D52E6ED-8050-4F63-BFD7-76075D37E797}" presName="parentLin" presStyleCnt="0"/>
      <dgm:spPr/>
    </dgm:pt>
    <dgm:pt modelId="{BA66FF1F-F4B3-4E95-A815-13BF942D5910}" type="pres">
      <dgm:prSet presAssocID="{7D52E6ED-8050-4F63-BFD7-76075D37E797}" presName="parentLeftMargin" presStyleLbl="node1" presStyleIdx="2" presStyleCnt="5"/>
      <dgm:spPr/>
    </dgm:pt>
    <dgm:pt modelId="{723C2367-7DB9-412D-87A3-F576144823A3}" type="pres">
      <dgm:prSet presAssocID="{7D52E6ED-8050-4F63-BFD7-76075D37E79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784F8A3-47AA-4191-8D1F-3804FEA24834}" type="pres">
      <dgm:prSet presAssocID="{7D52E6ED-8050-4F63-BFD7-76075D37E797}" presName="negativeSpace" presStyleCnt="0"/>
      <dgm:spPr/>
    </dgm:pt>
    <dgm:pt modelId="{A3C88161-401C-47BA-8965-CEF37321C8B8}" type="pres">
      <dgm:prSet presAssocID="{7D52E6ED-8050-4F63-BFD7-76075D37E797}" presName="childText" presStyleLbl="conFgAcc1" presStyleIdx="3" presStyleCnt="5">
        <dgm:presLayoutVars>
          <dgm:bulletEnabled val="1"/>
        </dgm:presLayoutVars>
      </dgm:prSet>
      <dgm:spPr/>
    </dgm:pt>
    <dgm:pt modelId="{8B08D872-46EC-4A18-BE85-F194B31B517F}" type="pres">
      <dgm:prSet presAssocID="{88FD6C33-E532-4CE4-AA8A-CFB94E5871D0}" presName="spaceBetweenRectangles" presStyleCnt="0"/>
      <dgm:spPr/>
    </dgm:pt>
    <dgm:pt modelId="{F07D81DF-2AC7-46CC-A8CC-A20B83DA2694}" type="pres">
      <dgm:prSet presAssocID="{D49E5093-1F1D-41CC-AF3A-9D248A681AB3}" presName="parentLin" presStyleCnt="0"/>
      <dgm:spPr/>
    </dgm:pt>
    <dgm:pt modelId="{E637D22B-D3FB-45E7-8232-54FA7DA50275}" type="pres">
      <dgm:prSet presAssocID="{D49E5093-1F1D-41CC-AF3A-9D248A681AB3}" presName="parentLeftMargin" presStyleLbl="node1" presStyleIdx="3" presStyleCnt="5"/>
      <dgm:spPr/>
    </dgm:pt>
    <dgm:pt modelId="{3371846E-3EA1-4314-8AD3-5B3C38093FF3}" type="pres">
      <dgm:prSet presAssocID="{D49E5093-1F1D-41CC-AF3A-9D248A681AB3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2F84ED78-F07C-40B5-9A12-086B1D336AC2}" type="pres">
      <dgm:prSet presAssocID="{D49E5093-1F1D-41CC-AF3A-9D248A681AB3}" presName="negativeSpace" presStyleCnt="0"/>
      <dgm:spPr/>
    </dgm:pt>
    <dgm:pt modelId="{B241865D-8054-472D-BBF7-F56B54D1C2B2}" type="pres">
      <dgm:prSet presAssocID="{D49E5093-1F1D-41CC-AF3A-9D248A681AB3}" presName="childText" presStyleLbl="conFgAcc1" presStyleIdx="4" presStyleCnt="5" custLinFactNeighborX="-19483" custLinFactNeighborY="47258">
        <dgm:presLayoutVars>
          <dgm:bulletEnabled val="1"/>
        </dgm:presLayoutVars>
      </dgm:prSet>
      <dgm:spPr/>
    </dgm:pt>
  </dgm:ptLst>
  <dgm:cxnLst>
    <dgm:cxn modelId="{8BBFF900-B0DE-44BF-B34A-2A9AD525FB18}" type="presOf" srcId="{0BF6F16A-4994-417C-B2C8-8CE6BA00411E}" destId="{045575A3-27D7-49E1-8127-82C601999E6B}" srcOrd="0" destOrd="1" presId="urn:microsoft.com/office/officeart/2005/8/layout/list1"/>
    <dgm:cxn modelId="{C07D520E-8577-49E4-86A3-2093BE8DEF49}" srcId="{8CF590E5-7028-4570-9D03-E0C8B8681CE3}" destId="{5A0A1F8D-F947-4CA1-9E8C-63F4C1DFA5C0}" srcOrd="0" destOrd="0" parTransId="{033851D3-90FD-4F94-93D2-F29ED3A25F56}" sibTransId="{1139282C-DE29-4FED-851D-82D1AAEE7A26}"/>
    <dgm:cxn modelId="{0C137020-3731-48B0-990A-9B1A06CFF565}" srcId="{8CF590E5-7028-4570-9D03-E0C8B8681CE3}" destId="{C32AF718-6435-4329-A037-1314324DFCB3}" srcOrd="1" destOrd="0" parTransId="{7FF07E45-F169-4B93-9412-BD011949CF5C}" sibTransId="{4166F3AD-5E05-4E84-A07E-228732FE9673}"/>
    <dgm:cxn modelId="{1653AC38-C51A-4325-99B6-EE4A95A73AC2}" srcId="{5A0A1F8D-F947-4CA1-9E8C-63F4C1DFA5C0}" destId="{F7353251-FF2E-46B8-A6BB-954BE80EFCC8}" srcOrd="1" destOrd="0" parTransId="{59036E13-539F-44A3-8591-4D2C48400590}" sibTransId="{D276483B-8C2D-47F0-BD93-E6F49D5FDBCB}"/>
    <dgm:cxn modelId="{F75B7A42-DA43-45AD-8DA3-773294D261A9}" type="presOf" srcId="{C1E2B3A2-5507-4D11-8232-2920DFE28BCC}" destId="{35CAA33F-4C5B-40FA-A277-CA8C4E3D352B}" srcOrd="1" destOrd="0" presId="urn:microsoft.com/office/officeart/2005/8/layout/list1"/>
    <dgm:cxn modelId="{131E2F46-71AB-47F5-B25A-979C9542C2ED}" srcId="{C3C9ECED-66B3-474A-952D-4E0F67114BF3}" destId="{7D52E6ED-8050-4F63-BFD7-76075D37E797}" srcOrd="3" destOrd="0" parTransId="{5AFD1D32-0D3B-45B7-B916-473C52433068}" sibTransId="{88FD6C33-E532-4CE4-AA8A-CFB94E5871D0}"/>
    <dgm:cxn modelId="{604AF747-4882-43C0-91D1-84448E43AF38}" srcId="{C3C9ECED-66B3-474A-952D-4E0F67114BF3}" destId="{E565EC42-0B4C-4420-BE33-7C7168D05077}" srcOrd="2" destOrd="0" parTransId="{451EF1EB-338F-4393-A539-4FBFDAAB79F1}" sibTransId="{8697566C-2951-41FC-B6D4-BFC92E9BCCBD}"/>
    <dgm:cxn modelId="{4D42A548-273A-4008-A93C-BD25F65CD1BA}" srcId="{C32AF718-6435-4329-A037-1314324DFCB3}" destId="{4947491F-FFDE-411A-9CE3-B8F8BD797628}" srcOrd="0" destOrd="0" parTransId="{218DCC14-7257-4C37-8B31-7E591F8540EE}" sibTransId="{9A143337-4F43-4EAA-8BE6-AC364B6F18A3}"/>
    <dgm:cxn modelId="{8E48F355-84FC-4F74-AFA6-7D7D0FC562BF}" type="presOf" srcId="{7D52E6ED-8050-4F63-BFD7-76075D37E797}" destId="{BA66FF1F-F4B3-4E95-A815-13BF942D5910}" srcOrd="0" destOrd="0" presId="urn:microsoft.com/office/officeart/2005/8/layout/list1"/>
    <dgm:cxn modelId="{6A14E477-E1B2-4275-9797-656C2A5DA200}" srcId="{C3C9ECED-66B3-474A-952D-4E0F67114BF3}" destId="{C1E2B3A2-5507-4D11-8232-2920DFE28BCC}" srcOrd="1" destOrd="0" parTransId="{874A931F-775E-4C73-80C5-8B885A62C11A}" sibTransId="{319D979C-06FD-4169-8A10-FB64F4DB9B0B}"/>
    <dgm:cxn modelId="{54A0367A-BDA6-44CC-A309-548F6F0C0732}" type="presOf" srcId="{C1E2B3A2-5507-4D11-8232-2920DFE28BCC}" destId="{2DCBFFAF-2152-437C-BD52-83CF719F7401}" srcOrd="0" destOrd="0" presId="urn:microsoft.com/office/officeart/2005/8/layout/list1"/>
    <dgm:cxn modelId="{D7EB407B-A19F-4E61-82FA-E8EC167FF9FF}" type="presOf" srcId="{F7353251-FF2E-46B8-A6BB-954BE80EFCC8}" destId="{045575A3-27D7-49E1-8127-82C601999E6B}" srcOrd="0" destOrd="2" presId="urn:microsoft.com/office/officeart/2005/8/layout/list1"/>
    <dgm:cxn modelId="{F8FA367D-7563-41AA-A9F9-FD53AAB933DC}" type="presOf" srcId="{D49E5093-1F1D-41CC-AF3A-9D248A681AB3}" destId="{3371846E-3EA1-4314-8AD3-5B3C38093FF3}" srcOrd="1" destOrd="0" presId="urn:microsoft.com/office/officeart/2005/8/layout/list1"/>
    <dgm:cxn modelId="{07E6F185-A09D-43B5-A221-0621C30E1CEE}" srcId="{C3C9ECED-66B3-474A-952D-4E0F67114BF3}" destId="{D49E5093-1F1D-41CC-AF3A-9D248A681AB3}" srcOrd="4" destOrd="0" parTransId="{8B32583B-6A57-4F0E-B9C5-705DEAE83C8A}" sibTransId="{9157DF6A-B935-40E2-B974-05053C89ADB9}"/>
    <dgm:cxn modelId="{584FBC90-D00D-4B59-AF52-F4295FE09A5B}" type="presOf" srcId="{C3C9ECED-66B3-474A-952D-4E0F67114BF3}" destId="{243AAE78-C103-425C-B41A-1B4934E0ECE3}" srcOrd="0" destOrd="0" presId="urn:microsoft.com/office/officeart/2005/8/layout/list1"/>
    <dgm:cxn modelId="{CBFC9E96-CBBC-432F-A62F-5025B1D7775D}" type="presOf" srcId="{4947491F-FFDE-411A-9CE3-B8F8BD797628}" destId="{045575A3-27D7-49E1-8127-82C601999E6B}" srcOrd="0" destOrd="4" presId="urn:microsoft.com/office/officeart/2005/8/layout/list1"/>
    <dgm:cxn modelId="{13ADEFB4-31DB-44DD-9F47-28A6B7DFE9E3}" srcId="{5A0A1F8D-F947-4CA1-9E8C-63F4C1DFA5C0}" destId="{0BF6F16A-4994-417C-B2C8-8CE6BA00411E}" srcOrd="0" destOrd="0" parTransId="{E948983B-35FF-4664-AEC4-078CAD6DA340}" sibTransId="{E7986CE6-F0F1-431C-8F16-4225763E619F}"/>
    <dgm:cxn modelId="{BAC297B8-52CE-442D-A7A0-1E4EFCDEC0EC}" type="presOf" srcId="{C32AF718-6435-4329-A037-1314324DFCB3}" destId="{045575A3-27D7-49E1-8127-82C601999E6B}" srcOrd="0" destOrd="3" presId="urn:microsoft.com/office/officeart/2005/8/layout/list1"/>
    <dgm:cxn modelId="{F6C55EC3-247C-422D-A5C0-8FA68F3899D2}" type="presOf" srcId="{E565EC42-0B4C-4420-BE33-7C7168D05077}" destId="{4345D3CB-DE2C-4275-9E91-3C1B16A4F55A}" srcOrd="0" destOrd="0" presId="urn:microsoft.com/office/officeart/2005/8/layout/list1"/>
    <dgm:cxn modelId="{2F45B7C7-F1DB-461C-BBBC-3F8EC11E7DB8}" type="presOf" srcId="{8CF590E5-7028-4570-9D03-E0C8B8681CE3}" destId="{DA1C63C6-06BB-45EB-85F8-B151B513A927}" srcOrd="1" destOrd="0" presId="urn:microsoft.com/office/officeart/2005/8/layout/list1"/>
    <dgm:cxn modelId="{2845BDD2-3617-4F7B-8BCB-E8C0401623A6}" type="presOf" srcId="{5A0A1F8D-F947-4CA1-9E8C-63F4C1DFA5C0}" destId="{045575A3-27D7-49E1-8127-82C601999E6B}" srcOrd="0" destOrd="0" presId="urn:microsoft.com/office/officeart/2005/8/layout/list1"/>
    <dgm:cxn modelId="{1316FFDF-0680-41C0-8BC5-60B4C2EAC2EF}" type="presOf" srcId="{7D52E6ED-8050-4F63-BFD7-76075D37E797}" destId="{723C2367-7DB9-412D-87A3-F576144823A3}" srcOrd="1" destOrd="0" presId="urn:microsoft.com/office/officeart/2005/8/layout/list1"/>
    <dgm:cxn modelId="{27ED81E4-D101-4068-9043-2A2C922F72A7}" type="presOf" srcId="{E565EC42-0B4C-4420-BE33-7C7168D05077}" destId="{8E9C0933-4DEA-4DB9-AC1D-4629C19AF5C3}" srcOrd="1" destOrd="0" presId="urn:microsoft.com/office/officeart/2005/8/layout/list1"/>
    <dgm:cxn modelId="{C91EE5F0-FD01-431B-A4F6-4C56500F52A3}" type="presOf" srcId="{8CF590E5-7028-4570-9D03-E0C8B8681CE3}" destId="{C56598C4-5F12-4892-A3A2-360D76524A7C}" srcOrd="0" destOrd="0" presId="urn:microsoft.com/office/officeart/2005/8/layout/list1"/>
    <dgm:cxn modelId="{F231F7FA-C4D6-43A2-A45A-2BACF7A49F3C}" type="presOf" srcId="{D49E5093-1F1D-41CC-AF3A-9D248A681AB3}" destId="{E637D22B-D3FB-45E7-8232-54FA7DA50275}" srcOrd="0" destOrd="0" presId="urn:microsoft.com/office/officeart/2005/8/layout/list1"/>
    <dgm:cxn modelId="{252722FF-4BA5-43D0-9521-015017B08829}" srcId="{C3C9ECED-66B3-474A-952D-4E0F67114BF3}" destId="{8CF590E5-7028-4570-9D03-E0C8B8681CE3}" srcOrd="0" destOrd="0" parTransId="{62E83A23-CA0A-455D-A1A9-0459EF2D515A}" sibTransId="{AB1CFB55-F8D7-42B4-A9F3-44F769E48F92}"/>
    <dgm:cxn modelId="{82FF38BF-FBFF-41E3-BD4E-84C139B02F7E}" type="presParOf" srcId="{243AAE78-C103-425C-B41A-1B4934E0ECE3}" destId="{557B88B6-8D50-422E-8CFF-3F43E462C021}" srcOrd="0" destOrd="0" presId="urn:microsoft.com/office/officeart/2005/8/layout/list1"/>
    <dgm:cxn modelId="{9F80596E-BF9F-431F-A7A6-990CAC41CA98}" type="presParOf" srcId="{557B88B6-8D50-422E-8CFF-3F43E462C021}" destId="{C56598C4-5F12-4892-A3A2-360D76524A7C}" srcOrd="0" destOrd="0" presId="urn:microsoft.com/office/officeart/2005/8/layout/list1"/>
    <dgm:cxn modelId="{DA09A91C-13BC-420D-842E-8653DABD1791}" type="presParOf" srcId="{557B88B6-8D50-422E-8CFF-3F43E462C021}" destId="{DA1C63C6-06BB-45EB-85F8-B151B513A927}" srcOrd="1" destOrd="0" presId="urn:microsoft.com/office/officeart/2005/8/layout/list1"/>
    <dgm:cxn modelId="{EF811E76-9082-4194-9C04-8ADB25AC64CF}" type="presParOf" srcId="{243AAE78-C103-425C-B41A-1B4934E0ECE3}" destId="{67422EFB-5DF7-40D5-BF0F-45EFB84E7A18}" srcOrd="1" destOrd="0" presId="urn:microsoft.com/office/officeart/2005/8/layout/list1"/>
    <dgm:cxn modelId="{D14126E1-4DD9-4685-8452-59F10DB4666F}" type="presParOf" srcId="{243AAE78-C103-425C-B41A-1B4934E0ECE3}" destId="{045575A3-27D7-49E1-8127-82C601999E6B}" srcOrd="2" destOrd="0" presId="urn:microsoft.com/office/officeart/2005/8/layout/list1"/>
    <dgm:cxn modelId="{0FD651C9-890C-4A1D-BCAD-533B88D34632}" type="presParOf" srcId="{243AAE78-C103-425C-B41A-1B4934E0ECE3}" destId="{13D6C911-3814-4BDC-B729-036F3BCCF8E2}" srcOrd="3" destOrd="0" presId="urn:microsoft.com/office/officeart/2005/8/layout/list1"/>
    <dgm:cxn modelId="{79AC3D80-BC61-4D60-B05B-B0F2A944DB59}" type="presParOf" srcId="{243AAE78-C103-425C-B41A-1B4934E0ECE3}" destId="{7A5F6BE7-81A9-417D-915F-F5B0A2D197D7}" srcOrd="4" destOrd="0" presId="urn:microsoft.com/office/officeart/2005/8/layout/list1"/>
    <dgm:cxn modelId="{1AC6E5C8-4ADE-42E4-A2C3-27A9D73726E9}" type="presParOf" srcId="{7A5F6BE7-81A9-417D-915F-F5B0A2D197D7}" destId="{2DCBFFAF-2152-437C-BD52-83CF719F7401}" srcOrd="0" destOrd="0" presId="urn:microsoft.com/office/officeart/2005/8/layout/list1"/>
    <dgm:cxn modelId="{A202C585-E648-4B85-990F-A75659D0D2E8}" type="presParOf" srcId="{7A5F6BE7-81A9-417D-915F-F5B0A2D197D7}" destId="{35CAA33F-4C5B-40FA-A277-CA8C4E3D352B}" srcOrd="1" destOrd="0" presId="urn:microsoft.com/office/officeart/2005/8/layout/list1"/>
    <dgm:cxn modelId="{47B3B182-96BF-4059-A585-DD0133CFB075}" type="presParOf" srcId="{243AAE78-C103-425C-B41A-1B4934E0ECE3}" destId="{69749DBA-E4E8-4807-AA3E-67E6D7DC343C}" srcOrd="5" destOrd="0" presId="urn:microsoft.com/office/officeart/2005/8/layout/list1"/>
    <dgm:cxn modelId="{123FA8D4-FDDD-4891-A803-3C8CDF711E92}" type="presParOf" srcId="{243AAE78-C103-425C-B41A-1B4934E0ECE3}" destId="{6398FBE3-50C2-41F8-B7D9-51F2DBF00FDC}" srcOrd="6" destOrd="0" presId="urn:microsoft.com/office/officeart/2005/8/layout/list1"/>
    <dgm:cxn modelId="{534C532F-DCE5-4D11-AE7F-228E41976D32}" type="presParOf" srcId="{243AAE78-C103-425C-B41A-1B4934E0ECE3}" destId="{EAF3669A-9717-4311-BB85-6CD3BB51C7D8}" srcOrd="7" destOrd="0" presId="urn:microsoft.com/office/officeart/2005/8/layout/list1"/>
    <dgm:cxn modelId="{78EED638-5191-43E2-A20B-AE9B1BFA6547}" type="presParOf" srcId="{243AAE78-C103-425C-B41A-1B4934E0ECE3}" destId="{EFD4173F-3CEC-4499-A74D-6CE6FB261ED7}" srcOrd="8" destOrd="0" presId="urn:microsoft.com/office/officeart/2005/8/layout/list1"/>
    <dgm:cxn modelId="{416488C2-B6DB-41C3-BDC5-F2684F0BF82B}" type="presParOf" srcId="{EFD4173F-3CEC-4499-A74D-6CE6FB261ED7}" destId="{4345D3CB-DE2C-4275-9E91-3C1B16A4F55A}" srcOrd="0" destOrd="0" presId="urn:microsoft.com/office/officeart/2005/8/layout/list1"/>
    <dgm:cxn modelId="{586C3DF4-CD0E-4497-9BA9-DD57E86D503A}" type="presParOf" srcId="{EFD4173F-3CEC-4499-A74D-6CE6FB261ED7}" destId="{8E9C0933-4DEA-4DB9-AC1D-4629C19AF5C3}" srcOrd="1" destOrd="0" presId="urn:microsoft.com/office/officeart/2005/8/layout/list1"/>
    <dgm:cxn modelId="{0C65CA56-5E26-43AE-BC3B-1B60E80FC7D0}" type="presParOf" srcId="{243AAE78-C103-425C-B41A-1B4934E0ECE3}" destId="{F719855C-FFA9-4F07-8C58-37093C661F2C}" srcOrd="9" destOrd="0" presId="urn:microsoft.com/office/officeart/2005/8/layout/list1"/>
    <dgm:cxn modelId="{9FD6C16A-F370-4F00-9D4B-D49FDDAC0AD2}" type="presParOf" srcId="{243AAE78-C103-425C-B41A-1B4934E0ECE3}" destId="{C2187578-5EDB-48F3-9DEC-DB71D91EA185}" srcOrd="10" destOrd="0" presId="urn:microsoft.com/office/officeart/2005/8/layout/list1"/>
    <dgm:cxn modelId="{7229620E-4DC7-41FA-9C85-91759E53BAF9}" type="presParOf" srcId="{243AAE78-C103-425C-B41A-1B4934E0ECE3}" destId="{FB9027DD-95CA-4EB3-9D01-955294E0E20A}" srcOrd="11" destOrd="0" presId="urn:microsoft.com/office/officeart/2005/8/layout/list1"/>
    <dgm:cxn modelId="{E1977DA9-7D29-49B2-A7A6-DE2EB3376362}" type="presParOf" srcId="{243AAE78-C103-425C-B41A-1B4934E0ECE3}" destId="{6D5BACFC-A025-4B0B-86B7-7E1F31900F98}" srcOrd="12" destOrd="0" presId="urn:microsoft.com/office/officeart/2005/8/layout/list1"/>
    <dgm:cxn modelId="{88A01BE3-4C23-4F02-BF37-5F44E73ED409}" type="presParOf" srcId="{6D5BACFC-A025-4B0B-86B7-7E1F31900F98}" destId="{BA66FF1F-F4B3-4E95-A815-13BF942D5910}" srcOrd="0" destOrd="0" presId="urn:microsoft.com/office/officeart/2005/8/layout/list1"/>
    <dgm:cxn modelId="{318D2E2E-32D5-4F56-B65B-29365A0ACF48}" type="presParOf" srcId="{6D5BACFC-A025-4B0B-86B7-7E1F31900F98}" destId="{723C2367-7DB9-412D-87A3-F576144823A3}" srcOrd="1" destOrd="0" presId="urn:microsoft.com/office/officeart/2005/8/layout/list1"/>
    <dgm:cxn modelId="{735640A2-E908-46FC-8D10-433A2BE62942}" type="presParOf" srcId="{243AAE78-C103-425C-B41A-1B4934E0ECE3}" destId="{5784F8A3-47AA-4191-8D1F-3804FEA24834}" srcOrd="13" destOrd="0" presId="urn:microsoft.com/office/officeart/2005/8/layout/list1"/>
    <dgm:cxn modelId="{C014B5CE-482A-4B3D-83CE-13DC510D55DB}" type="presParOf" srcId="{243AAE78-C103-425C-B41A-1B4934E0ECE3}" destId="{A3C88161-401C-47BA-8965-CEF37321C8B8}" srcOrd="14" destOrd="0" presId="urn:microsoft.com/office/officeart/2005/8/layout/list1"/>
    <dgm:cxn modelId="{56D4CF49-0A49-4061-BF1C-1FFD35C45C6E}" type="presParOf" srcId="{243AAE78-C103-425C-B41A-1B4934E0ECE3}" destId="{8B08D872-46EC-4A18-BE85-F194B31B517F}" srcOrd="15" destOrd="0" presId="urn:microsoft.com/office/officeart/2005/8/layout/list1"/>
    <dgm:cxn modelId="{CEEBB673-B6B9-4631-90CC-9609DE7E4AC1}" type="presParOf" srcId="{243AAE78-C103-425C-B41A-1B4934E0ECE3}" destId="{F07D81DF-2AC7-46CC-A8CC-A20B83DA2694}" srcOrd="16" destOrd="0" presId="urn:microsoft.com/office/officeart/2005/8/layout/list1"/>
    <dgm:cxn modelId="{837A2989-C947-4A80-8EDA-B24364CD4742}" type="presParOf" srcId="{F07D81DF-2AC7-46CC-A8CC-A20B83DA2694}" destId="{E637D22B-D3FB-45E7-8232-54FA7DA50275}" srcOrd="0" destOrd="0" presId="urn:microsoft.com/office/officeart/2005/8/layout/list1"/>
    <dgm:cxn modelId="{C77C5D58-2643-43E6-8C24-51DD78F8DDC9}" type="presParOf" srcId="{F07D81DF-2AC7-46CC-A8CC-A20B83DA2694}" destId="{3371846E-3EA1-4314-8AD3-5B3C38093FF3}" srcOrd="1" destOrd="0" presId="urn:microsoft.com/office/officeart/2005/8/layout/list1"/>
    <dgm:cxn modelId="{3BBB8883-A329-4DF5-8E59-EBA4B2794144}" type="presParOf" srcId="{243AAE78-C103-425C-B41A-1B4934E0ECE3}" destId="{2F84ED78-F07C-40B5-9A12-086B1D336AC2}" srcOrd="17" destOrd="0" presId="urn:microsoft.com/office/officeart/2005/8/layout/list1"/>
    <dgm:cxn modelId="{7D70376C-A2F6-4393-9114-972AB2D65835}" type="presParOf" srcId="{243AAE78-C103-425C-B41A-1B4934E0ECE3}" destId="{B241865D-8054-472D-BBF7-F56B54D1C2B2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7F6E45-7E33-4D97-AA2C-DC6718EB724E}">
      <dsp:nvSpPr>
        <dsp:cNvPr id="0" name=""/>
        <dsp:cNvSpPr/>
      </dsp:nvSpPr>
      <dsp:spPr>
        <a:xfrm>
          <a:off x="2704798" y="20411"/>
          <a:ext cx="715271" cy="715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Know about the solution</a:t>
          </a:r>
          <a:endParaRPr lang="en-NL" sz="1200" kern="1200" dirty="0"/>
        </a:p>
      </dsp:txBody>
      <dsp:txXfrm>
        <a:off x="2704798" y="20411"/>
        <a:ext cx="715271" cy="715271"/>
      </dsp:txXfrm>
    </dsp:sp>
    <dsp:sp modelId="{96B81C03-E451-4836-BFF0-3557C0AB1155}">
      <dsp:nvSpPr>
        <dsp:cNvPr id="0" name=""/>
        <dsp:cNvSpPr/>
      </dsp:nvSpPr>
      <dsp:spPr>
        <a:xfrm>
          <a:off x="1021150" y="-409"/>
          <a:ext cx="2683107" cy="2683107"/>
        </a:xfrm>
        <a:prstGeom prst="circularArrow">
          <a:avLst>
            <a:gd name="adj1" fmla="val 5198"/>
            <a:gd name="adj2" fmla="val 335783"/>
            <a:gd name="adj3" fmla="val 21293771"/>
            <a:gd name="adj4" fmla="val 19765775"/>
            <a:gd name="adj5" fmla="val 606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9D0283-88F7-480B-B24E-8352388125F3}">
      <dsp:nvSpPr>
        <dsp:cNvPr id="0" name=""/>
        <dsp:cNvSpPr/>
      </dsp:nvSpPr>
      <dsp:spPr>
        <a:xfrm>
          <a:off x="3137255" y="1351378"/>
          <a:ext cx="715271" cy="715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Evaluate the solution</a:t>
          </a:r>
          <a:endParaRPr lang="en-NL" sz="1200" kern="1200" dirty="0"/>
        </a:p>
      </dsp:txBody>
      <dsp:txXfrm>
        <a:off x="3137255" y="1351378"/>
        <a:ext cx="715271" cy="715271"/>
      </dsp:txXfrm>
    </dsp:sp>
    <dsp:sp modelId="{7C6D951B-AF30-4CF2-84CC-30DE685B9032}">
      <dsp:nvSpPr>
        <dsp:cNvPr id="0" name=""/>
        <dsp:cNvSpPr/>
      </dsp:nvSpPr>
      <dsp:spPr>
        <a:xfrm>
          <a:off x="1021150" y="-409"/>
          <a:ext cx="2683107" cy="2683107"/>
        </a:xfrm>
        <a:prstGeom prst="circularArrow">
          <a:avLst>
            <a:gd name="adj1" fmla="val 5198"/>
            <a:gd name="adj2" fmla="val 335783"/>
            <a:gd name="adj3" fmla="val 4015247"/>
            <a:gd name="adj4" fmla="val 2252929"/>
            <a:gd name="adj5" fmla="val 606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4B5805-485E-4936-A0F2-948B3BBD6900}">
      <dsp:nvSpPr>
        <dsp:cNvPr id="0" name=""/>
        <dsp:cNvSpPr/>
      </dsp:nvSpPr>
      <dsp:spPr>
        <a:xfrm>
          <a:off x="2005068" y="2173960"/>
          <a:ext cx="715271" cy="715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Install the solution</a:t>
          </a:r>
          <a:endParaRPr lang="en-NL" sz="1200" kern="1200" dirty="0"/>
        </a:p>
      </dsp:txBody>
      <dsp:txXfrm>
        <a:off x="2005068" y="2173960"/>
        <a:ext cx="715271" cy="715271"/>
      </dsp:txXfrm>
    </dsp:sp>
    <dsp:sp modelId="{5238E7FC-DF11-45D6-A950-2AD1987C7F62}">
      <dsp:nvSpPr>
        <dsp:cNvPr id="0" name=""/>
        <dsp:cNvSpPr/>
      </dsp:nvSpPr>
      <dsp:spPr>
        <a:xfrm>
          <a:off x="1021150" y="-409"/>
          <a:ext cx="2683107" cy="2683107"/>
        </a:xfrm>
        <a:prstGeom prst="circularArrow">
          <a:avLst>
            <a:gd name="adj1" fmla="val 5198"/>
            <a:gd name="adj2" fmla="val 335783"/>
            <a:gd name="adj3" fmla="val 8211288"/>
            <a:gd name="adj4" fmla="val 6448970"/>
            <a:gd name="adj5" fmla="val 606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607A5-5EF8-4E14-A76C-924808098FBE}">
      <dsp:nvSpPr>
        <dsp:cNvPr id="0" name=""/>
        <dsp:cNvSpPr/>
      </dsp:nvSpPr>
      <dsp:spPr>
        <a:xfrm>
          <a:off x="872880" y="1351378"/>
          <a:ext cx="715271" cy="715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Use the solution</a:t>
          </a:r>
          <a:endParaRPr lang="en-NL" sz="1200" kern="1200" dirty="0"/>
        </a:p>
      </dsp:txBody>
      <dsp:txXfrm>
        <a:off x="872880" y="1351378"/>
        <a:ext cx="715271" cy="715271"/>
      </dsp:txXfrm>
    </dsp:sp>
    <dsp:sp modelId="{21C7AD9E-03A0-4CB0-8B50-862F3A4B1D80}">
      <dsp:nvSpPr>
        <dsp:cNvPr id="0" name=""/>
        <dsp:cNvSpPr/>
      </dsp:nvSpPr>
      <dsp:spPr>
        <a:xfrm>
          <a:off x="1021150" y="-409"/>
          <a:ext cx="2683107" cy="2683107"/>
        </a:xfrm>
        <a:prstGeom prst="circularArrow">
          <a:avLst>
            <a:gd name="adj1" fmla="val 5198"/>
            <a:gd name="adj2" fmla="val 335783"/>
            <a:gd name="adj3" fmla="val 12298442"/>
            <a:gd name="adj4" fmla="val 10770446"/>
            <a:gd name="adj5" fmla="val 606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729D3-417C-47EF-B883-9831EBB9A8BE}">
      <dsp:nvSpPr>
        <dsp:cNvPr id="0" name=""/>
        <dsp:cNvSpPr/>
      </dsp:nvSpPr>
      <dsp:spPr>
        <a:xfrm>
          <a:off x="1305337" y="20411"/>
          <a:ext cx="715271" cy="715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Spread the word</a:t>
          </a:r>
          <a:endParaRPr lang="en-NL" sz="1200" kern="1200" dirty="0"/>
        </a:p>
      </dsp:txBody>
      <dsp:txXfrm>
        <a:off x="1305337" y="20411"/>
        <a:ext cx="715271" cy="715271"/>
      </dsp:txXfrm>
    </dsp:sp>
    <dsp:sp modelId="{C3073514-D10C-427E-A986-EBB46E0C2FBA}">
      <dsp:nvSpPr>
        <dsp:cNvPr id="0" name=""/>
        <dsp:cNvSpPr/>
      </dsp:nvSpPr>
      <dsp:spPr>
        <a:xfrm>
          <a:off x="1021150" y="-409"/>
          <a:ext cx="2683107" cy="2683107"/>
        </a:xfrm>
        <a:prstGeom prst="circularArrow">
          <a:avLst>
            <a:gd name="adj1" fmla="val 5198"/>
            <a:gd name="adj2" fmla="val 335783"/>
            <a:gd name="adj3" fmla="val 16866234"/>
            <a:gd name="adj4" fmla="val 15197983"/>
            <a:gd name="adj5" fmla="val 606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5575A3-27D7-49E1-8127-82C601999E6B}">
      <dsp:nvSpPr>
        <dsp:cNvPr id="0" name=""/>
        <dsp:cNvSpPr/>
      </dsp:nvSpPr>
      <dsp:spPr>
        <a:xfrm>
          <a:off x="0" y="343952"/>
          <a:ext cx="6172199" cy="1852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9031" tIns="291592" rIns="479031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Define your common goals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what are the main elements you want to stick with your user/ audience? 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What is the value you create for them?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Identify your targe audience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Who are the main stakeholders that have interest in what you do</a:t>
          </a:r>
        </a:p>
      </dsp:txBody>
      <dsp:txXfrm>
        <a:off x="0" y="343952"/>
        <a:ext cx="6172199" cy="1852200"/>
      </dsp:txXfrm>
    </dsp:sp>
    <dsp:sp modelId="{DA1C63C6-06BB-45EB-85F8-B151B513A927}">
      <dsp:nvSpPr>
        <dsp:cNvPr id="0" name=""/>
        <dsp:cNvSpPr/>
      </dsp:nvSpPr>
      <dsp:spPr>
        <a:xfrm>
          <a:off x="308610" y="137312"/>
          <a:ext cx="4320540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Main steps</a:t>
          </a:r>
        </a:p>
      </dsp:txBody>
      <dsp:txXfrm>
        <a:off x="328785" y="157487"/>
        <a:ext cx="4280190" cy="372930"/>
      </dsp:txXfrm>
    </dsp:sp>
    <dsp:sp modelId="{6398FBE3-50C2-41F8-B7D9-51F2DBF00FDC}">
      <dsp:nvSpPr>
        <dsp:cNvPr id="0" name=""/>
        <dsp:cNvSpPr/>
      </dsp:nvSpPr>
      <dsp:spPr>
        <a:xfrm>
          <a:off x="0" y="2478392"/>
          <a:ext cx="6172199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CAA33F-4C5B-40FA-A277-CA8C4E3D352B}">
      <dsp:nvSpPr>
        <dsp:cNvPr id="0" name=""/>
        <dsp:cNvSpPr/>
      </dsp:nvSpPr>
      <dsp:spPr>
        <a:xfrm>
          <a:off x="308610" y="2271752"/>
          <a:ext cx="4320540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Craft the core message</a:t>
          </a:r>
        </a:p>
      </dsp:txBody>
      <dsp:txXfrm>
        <a:off x="328785" y="2291927"/>
        <a:ext cx="4280190" cy="372930"/>
      </dsp:txXfrm>
    </dsp:sp>
    <dsp:sp modelId="{C2187578-5EDB-48F3-9DEC-DB71D91EA185}">
      <dsp:nvSpPr>
        <dsp:cNvPr id="0" name=""/>
        <dsp:cNvSpPr/>
      </dsp:nvSpPr>
      <dsp:spPr>
        <a:xfrm>
          <a:off x="0" y="3113432"/>
          <a:ext cx="6172199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9C0933-4DEA-4DB9-AC1D-4629C19AF5C3}">
      <dsp:nvSpPr>
        <dsp:cNvPr id="0" name=""/>
        <dsp:cNvSpPr/>
      </dsp:nvSpPr>
      <dsp:spPr>
        <a:xfrm>
          <a:off x="308610" y="2906792"/>
          <a:ext cx="4320540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Choose the communication channel</a:t>
          </a:r>
        </a:p>
      </dsp:txBody>
      <dsp:txXfrm>
        <a:off x="328785" y="2926967"/>
        <a:ext cx="4280190" cy="372930"/>
      </dsp:txXfrm>
    </dsp:sp>
    <dsp:sp modelId="{A3C88161-401C-47BA-8965-CEF37321C8B8}">
      <dsp:nvSpPr>
        <dsp:cNvPr id="0" name=""/>
        <dsp:cNvSpPr/>
      </dsp:nvSpPr>
      <dsp:spPr>
        <a:xfrm>
          <a:off x="0" y="3748472"/>
          <a:ext cx="6172199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3C2367-7DB9-412D-87A3-F576144823A3}">
      <dsp:nvSpPr>
        <dsp:cNvPr id="0" name=""/>
        <dsp:cNvSpPr/>
      </dsp:nvSpPr>
      <dsp:spPr>
        <a:xfrm>
          <a:off x="308610" y="3541832"/>
          <a:ext cx="4320540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What content do you need</a:t>
          </a:r>
        </a:p>
      </dsp:txBody>
      <dsp:txXfrm>
        <a:off x="328785" y="3562007"/>
        <a:ext cx="4280190" cy="372930"/>
      </dsp:txXfrm>
    </dsp:sp>
    <dsp:sp modelId="{B241865D-8054-472D-BBF7-F56B54D1C2B2}">
      <dsp:nvSpPr>
        <dsp:cNvPr id="0" name=""/>
        <dsp:cNvSpPr/>
      </dsp:nvSpPr>
      <dsp:spPr>
        <a:xfrm>
          <a:off x="0" y="4481166"/>
          <a:ext cx="6172199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71846E-3EA1-4314-8AD3-5B3C38093FF3}">
      <dsp:nvSpPr>
        <dsp:cNvPr id="0" name=""/>
        <dsp:cNvSpPr/>
      </dsp:nvSpPr>
      <dsp:spPr>
        <a:xfrm>
          <a:off x="308610" y="4176872"/>
          <a:ext cx="4320540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Engage </a:t>
          </a:r>
          <a:r>
            <a:rPr lang="en-US" sz="1400" kern="1200"/>
            <a:t>and build </a:t>
          </a:r>
          <a:r>
            <a:rPr lang="en-US" sz="1400" kern="1200" dirty="0"/>
            <a:t>the relationship</a:t>
          </a:r>
        </a:p>
      </dsp:txBody>
      <dsp:txXfrm>
        <a:off x="328785" y="4197047"/>
        <a:ext cx="4280190" cy="372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451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34513"/>
            <a:ext cx="2944812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" pitchFamily="18" charset="0"/>
              </a:defRPr>
            </a:lvl1pPr>
          </a:lstStyle>
          <a:p>
            <a:pPr>
              <a:defRPr/>
            </a:pPr>
            <a:fld id="{5A054D70-ABBD-4F0D-A3F4-5B3CBCAC42D7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11967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3" y="744538"/>
            <a:ext cx="6619875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1575" cy="447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451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34513"/>
            <a:ext cx="2944812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" pitchFamily="18" charset="0"/>
              </a:defRPr>
            </a:lvl1pPr>
          </a:lstStyle>
          <a:p>
            <a:pPr>
              <a:defRPr/>
            </a:pPr>
            <a:fld id="{E85B1AB0-261E-4E60-9346-52ED149DF6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91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4538"/>
            <a:ext cx="6619875" cy="3724275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1575" cy="44688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508" y="4344608"/>
            <a:ext cx="5028986" cy="411355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nl-NL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623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31D99F12-ED4C-4F39-930F-FCD39BD3B9D2}" type="slidenum">
              <a:rPr lang="en-US" altLang="nl-NL" smtClean="0"/>
              <a:pPr algn="r">
                <a:spcBef>
                  <a:spcPct val="0"/>
                </a:spcBef>
              </a:pPr>
              <a:t>13</a:t>
            </a:fld>
            <a:endParaRPr lang="en-US" altLang="nl-NL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50888"/>
            <a:ext cx="6597650" cy="3711575"/>
          </a:xfrm>
          <a:ln w="12700" cap="flat">
            <a:solidFill>
              <a:schemeClr val="tx1"/>
            </a:solidFill>
          </a:ln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551853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31D99F12-ED4C-4F39-930F-FCD39BD3B9D2}" type="slidenum">
              <a:rPr lang="en-US" altLang="nl-NL" smtClean="0"/>
              <a:pPr algn="r">
                <a:spcBef>
                  <a:spcPct val="0"/>
                </a:spcBef>
              </a:pPr>
              <a:t>14</a:t>
            </a:fld>
            <a:endParaRPr lang="en-US" altLang="nl-NL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50888"/>
            <a:ext cx="6597650" cy="3711575"/>
          </a:xfrm>
          <a:ln w="12700" cap="flat">
            <a:solidFill>
              <a:schemeClr val="tx1"/>
            </a:solidFill>
          </a:ln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endParaRPr lang="nl-NL" altLang="nl-NL" dirty="0"/>
          </a:p>
        </p:txBody>
      </p:sp>
    </p:spTree>
    <p:extLst>
      <p:ext uri="{BB962C8B-B14F-4D97-AF65-F5344CB8AC3E}">
        <p14:creationId xmlns:p14="http://schemas.microsoft.com/office/powerpoint/2010/main" val="3491115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8BCB589-D229-46CA-B4EB-09DBB8A3A80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406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0CDE27-108B-4548-9A7E-4F3128F2104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13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754117-B54D-4BC3-855C-6728D1139650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31D99F12-ED4C-4F39-930F-FCD39BD3B9D2}" type="slidenum">
              <a:rPr lang="en-US" altLang="nl-NL" smtClean="0"/>
              <a:pPr algn="r">
                <a:spcBef>
                  <a:spcPct val="0"/>
                </a:spcBef>
              </a:pPr>
              <a:t>18</a:t>
            </a:fld>
            <a:endParaRPr lang="en-US" altLang="nl-NL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50888"/>
            <a:ext cx="6597650" cy="3711575"/>
          </a:xfrm>
          <a:ln w="12700" cap="flat">
            <a:solidFill>
              <a:schemeClr val="tx1"/>
            </a:solidFill>
          </a:ln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endParaRPr lang="nl-NL" altLang="nl-N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31D99F12-ED4C-4F39-930F-FCD39BD3B9D2}" type="slidenum">
              <a:rPr lang="en-US" altLang="nl-NL" smtClean="0"/>
              <a:pPr algn="r">
                <a:spcBef>
                  <a:spcPct val="0"/>
                </a:spcBef>
              </a:pPr>
              <a:t>19</a:t>
            </a:fld>
            <a:endParaRPr lang="en-US" altLang="nl-NL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50888"/>
            <a:ext cx="6597650" cy="3711575"/>
          </a:xfrm>
          <a:ln w="12700" cap="flat">
            <a:solidFill>
              <a:schemeClr val="tx1"/>
            </a:solidFill>
          </a:ln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endParaRPr lang="nl-NL" altLang="nl-N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219B96-DF94-4118-89EE-7882E5C2946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36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FFF1A7B1-BB7C-42EA-B5B4-5BBD2318672D}" type="slidenum">
              <a:rPr lang="en-US" altLang="nl-NL" sz="1200" smtClean="0">
                <a:solidFill>
                  <a:srgbClr val="000000"/>
                </a:solidFill>
                <a:latin typeface="Times" pitchFamily="18" charset="0"/>
              </a:rPr>
              <a:pPr/>
              <a:t>26</a:t>
            </a:fld>
            <a:endParaRPr lang="en-US" altLang="nl-NL" sz="1200">
              <a:solidFill>
                <a:srgbClr val="000000"/>
              </a:solidFill>
              <a:latin typeface="Times" pitchFamily="18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nl-NL" altLang="nl-NL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038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a61987af95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6125"/>
            <a:ext cx="6627813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a61987af95_0_79:notes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https://blog.hubspot.com/marketing/write-value-proposition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r>
              <a:rPr lang="en-US" altLang="en-US" sz="1100" dirty="0">
                <a:solidFill>
                  <a:srgbClr val="168CD1"/>
                </a:solidFill>
              </a:rPr>
              <a:t>For university research labs that are testing solar PV panels. </a:t>
            </a:r>
          </a:p>
          <a:p>
            <a:r>
              <a:rPr lang="en-US" altLang="en-US" sz="1100" dirty="0">
                <a:solidFill>
                  <a:srgbClr val="168CD1"/>
                </a:solidFill>
              </a:rPr>
              <a:t>Who need testing equipment that accurately simulates solar spectrum</a:t>
            </a:r>
          </a:p>
          <a:p>
            <a:r>
              <a:rPr lang="en-US" altLang="en-US" sz="1100" dirty="0">
                <a:solidFill>
                  <a:srgbClr val="168CD1"/>
                </a:solidFill>
              </a:rPr>
              <a:t>Our climate chamber</a:t>
            </a:r>
          </a:p>
          <a:p>
            <a:r>
              <a:rPr lang="en-US" altLang="en-US" sz="1100" dirty="0">
                <a:solidFill>
                  <a:srgbClr val="168CD1"/>
                </a:solidFill>
              </a:rPr>
              <a:t>Is solar simulator</a:t>
            </a:r>
          </a:p>
          <a:p>
            <a:r>
              <a:rPr lang="en-US" altLang="en-US" sz="1100" dirty="0">
                <a:solidFill>
                  <a:srgbClr val="168CD1"/>
                </a:solidFill>
              </a:rPr>
              <a:t>That provide unrivaled accuracy</a:t>
            </a:r>
          </a:p>
          <a:p>
            <a:r>
              <a:rPr lang="en-US" altLang="en-US" sz="1100" dirty="0">
                <a:solidFill>
                  <a:srgbClr val="168CD1"/>
                </a:solidFill>
              </a:rPr>
              <a:t>Unlike all existing alternatives on the market </a:t>
            </a:r>
          </a:p>
          <a:p>
            <a:r>
              <a:rPr lang="en-US" altLang="en-US" sz="1100" dirty="0">
                <a:solidFill>
                  <a:srgbClr val="168CD1"/>
                </a:solidFill>
              </a:rPr>
              <a:t>Our product uses steady-state sunlight with AAA-class accuracy</a:t>
            </a:r>
          </a:p>
          <a:p>
            <a:r>
              <a:rPr lang="en-US" altLang="en-US" sz="1100" dirty="0">
                <a:solidFill>
                  <a:srgbClr val="168CD1"/>
                </a:solidFill>
              </a:rPr>
              <a:t>Inside climate chamber with integrated computer controlled system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97c40029f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6125"/>
            <a:ext cx="6627813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g197c40029fb_0_15:notes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9846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7014A-9A92-4B08-8314-92F449AA83A0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865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77734-C281-4279-A819-75F294FFDA4E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429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FB9E4-8DD1-448C-96CB-17A595811BF0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7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8E195-B333-423D-9D36-005B9AE6ADE3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092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7CA7-164B-4204-AAFB-4B7753EFBFDE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059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140C-FD95-4ADB-A14A-23B6B9A6B6D5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772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67811-09B2-4096-B9F9-8AB267749012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04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A775-11A8-4DFB-8D9F-1AF83398295A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780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22897-8666-45B7-9DF1-CD565A7D50D3}" type="datetime1">
              <a:rPr lang="en-US" smtClean="0"/>
              <a:t>4/8/2026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379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26C5E-F075-49CA-9A44-096280CB44F4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370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8404-0EE0-40FB-9C6D-B9BCC12C65AB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14958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A0F2-435F-4A31-AE10-AE509D5A3E2B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124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689F-12DC-46A7-989A-24BB47B279B9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3071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CD05-FF1A-4697-8A30-6386FD324BFC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8342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7EAF2-577E-4620-A41F-1B9ACA2EE142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0634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70B97-C560-4F55-8FA3-B44106E594E4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30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3721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358775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16000" y="1828800"/>
            <a:ext cx="5080000" cy="3778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0" y="1828800"/>
            <a:ext cx="5080000" cy="3778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DOT 2007</a:t>
            </a:r>
            <a:endParaRPr lang="en-US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360C15-832D-4AD1-B7FA-8C1EE5079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1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C2961-2656-485A-A229-C0FE1572E57A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3"/>
          <p:cNvSpPr>
            <a:spLocks noChangeArrowheads="1"/>
          </p:cNvSpPr>
          <p:nvPr userDrawn="1"/>
        </p:nvSpPr>
        <p:spPr bwMode="auto">
          <a:xfrm>
            <a:off x="0" y="6132514"/>
            <a:ext cx="12192000" cy="7254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nl-NL" sz="2200"/>
          </a:p>
        </p:txBody>
      </p:sp>
      <p:sp>
        <p:nvSpPr>
          <p:cNvPr id="29" name="Rectangle 19"/>
          <p:cNvSpPr>
            <a:spLocks noChangeArrowheads="1"/>
          </p:cNvSpPr>
          <p:nvPr userDrawn="1"/>
        </p:nvSpPr>
        <p:spPr bwMode="auto">
          <a:xfrm>
            <a:off x="0" y="6584950"/>
            <a:ext cx="12192000" cy="27305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nl-NL" sz="2200"/>
          </a:p>
        </p:txBody>
      </p:sp>
      <p:sp>
        <p:nvSpPr>
          <p:cNvPr id="30" name="Line 20"/>
          <p:cNvSpPr>
            <a:spLocks noChangeShapeType="1"/>
          </p:cNvSpPr>
          <p:nvPr userDrawn="1"/>
        </p:nvSpPr>
        <p:spPr bwMode="auto">
          <a:xfrm>
            <a:off x="0" y="6781800"/>
            <a:ext cx="12192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nl-NL" sz="2200"/>
          </a:p>
        </p:txBody>
      </p:sp>
      <p:pic>
        <p:nvPicPr>
          <p:cNvPr id="31" name="Picture 21" descr="TU_Delft_2.png                                                 00095E43Smidswater Server              C1CD65DB:"/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1" y="6184900"/>
            <a:ext cx="118321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Line 22"/>
          <p:cNvSpPr>
            <a:spLocks noChangeShapeType="1"/>
          </p:cNvSpPr>
          <p:nvPr userDrawn="1"/>
        </p:nvSpPr>
        <p:spPr bwMode="auto">
          <a:xfrm>
            <a:off x="0" y="6134100"/>
            <a:ext cx="1219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nl-NL" sz="2200"/>
          </a:p>
        </p:txBody>
      </p:sp>
      <p:sp>
        <p:nvSpPr>
          <p:cNvPr id="33" name="Rectangle 28"/>
          <p:cNvSpPr>
            <a:spLocks noChangeArrowheads="1"/>
          </p:cNvSpPr>
          <p:nvPr userDrawn="1"/>
        </p:nvSpPr>
        <p:spPr bwMode="auto">
          <a:xfrm>
            <a:off x="0" y="0"/>
            <a:ext cx="626533" cy="20574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nl-NL" sz="2200"/>
          </a:p>
        </p:txBody>
      </p:sp>
    </p:spTree>
    <p:extLst>
      <p:ext uri="{BB962C8B-B14F-4D97-AF65-F5344CB8AC3E}">
        <p14:creationId xmlns:p14="http://schemas.microsoft.com/office/powerpoint/2010/main" val="2816739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21" r:id="rId17"/>
    <p:sldLayoutId id="2147483722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delft.nl/dce/educati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3.png"/><Relationship Id="rId3" Type="http://schemas.openxmlformats.org/officeDocument/2006/relationships/image" Target="../media/image24.png"/><Relationship Id="rId7" Type="http://schemas.openxmlformats.org/officeDocument/2006/relationships/image" Target="../media/image28.jpe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jpeg"/><Relationship Id="rId5" Type="http://schemas.openxmlformats.org/officeDocument/2006/relationships/image" Target="../media/image26.png"/><Relationship Id="rId10" Type="http://schemas.openxmlformats.org/officeDocument/2006/relationships/image" Target="../media/image31.jpe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1285760" y="903624"/>
            <a:ext cx="721536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3200" dirty="0">
                <a:solidFill>
                  <a:schemeClr val="accent2">
                    <a:lumMod val="50000"/>
                  </a:schemeClr>
                </a:solidFill>
              </a:rPr>
              <a:t>Go to market and cost drivers</a:t>
            </a:r>
          </a:p>
          <a:p>
            <a:pPr algn="ctr" eaLnBrk="1" hangingPunct="1">
              <a:defRPr/>
            </a:pPr>
            <a:endParaRPr lang="en-US" sz="3200" dirty="0">
              <a:solidFill>
                <a:schemeClr val="accent2">
                  <a:lumMod val="50000"/>
                </a:schemeClr>
              </a:solidFill>
            </a:endParaRPr>
          </a:p>
          <a:p>
            <a:pPr algn="ctr" eaLnBrk="1" hangingPunct="1">
              <a:defRPr/>
            </a:pPr>
            <a:r>
              <a:rPr lang="en-GB" sz="2000" dirty="0">
                <a:solidFill>
                  <a:schemeClr val="accent2">
                    <a:lumMod val="50000"/>
                  </a:schemeClr>
                </a:solidFill>
              </a:rPr>
              <a:t>EE3L11 – Workshop 2</a:t>
            </a:r>
          </a:p>
          <a:p>
            <a:pPr algn="ctr" eaLnBrk="1" hangingPunct="1">
              <a:defRPr/>
            </a:pPr>
            <a:endParaRPr lang="en-GB" sz="2000" dirty="0">
              <a:solidFill>
                <a:schemeClr val="accent2">
                  <a:lumMod val="50000"/>
                </a:schemeClr>
              </a:solidFill>
            </a:endParaRPr>
          </a:p>
          <a:p>
            <a:pPr algn="ctr" eaLnBrk="1" hangingPunct="1">
              <a:defRPr/>
            </a:pPr>
            <a:endParaRPr lang="en-GB" sz="2000" dirty="0">
              <a:solidFill>
                <a:schemeClr val="accent2">
                  <a:lumMod val="50000"/>
                </a:schemeClr>
              </a:solidFill>
            </a:endParaRPr>
          </a:p>
          <a:p>
            <a:pPr algn="ctr" eaLnBrk="1" hangingPunct="1">
              <a:defRPr/>
            </a:pPr>
            <a:endParaRPr lang="en-GB" sz="2000" dirty="0">
              <a:solidFill>
                <a:schemeClr val="accent2">
                  <a:lumMod val="50000"/>
                </a:schemeClr>
              </a:solidFill>
            </a:endParaRPr>
          </a:p>
          <a:p>
            <a:pPr algn="ctr" eaLnBrk="1" hangingPunct="1">
              <a:defRPr/>
            </a:pPr>
            <a:r>
              <a:rPr lang="en-GB" sz="2000" dirty="0">
                <a:solidFill>
                  <a:schemeClr val="accent2">
                    <a:lumMod val="50000"/>
                  </a:schemeClr>
                </a:solidFill>
              </a:rPr>
              <a:t>Delft Centre for Entrepreneurship</a:t>
            </a:r>
          </a:p>
          <a:p>
            <a:pPr algn="ctr" eaLnBrk="1" hangingPunct="1">
              <a:defRPr/>
            </a:pPr>
            <a:r>
              <a:rPr lang="en-GB" sz="1800" i="1" dirty="0">
                <a:solidFill>
                  <a:schemeClr val="accent2">
                    <a:lumMod val="50000"/>
                  </a:schemeClr>
                </a:solidFill>
                <a:hlinkClick r:id="rId3"/>
              </a:rPr>
              <a:t>www.tudelft.nl/dce/education</a:t>
            </a:r>
            <a:endParaRPr lang="en-GB" sz="1800" i="1" dirty="0">
              <a:solidFill>
                <a:schemeClr val="accent2">
                  <a:lumMod val="50000"/>
                </a:schemeClr>
              </a:solidFill>
            </a:endParaRPr>
          </a:p>
          <a:p>
            <a:pPr algn="ctr" eaLnBrk="1" hangingPunct="1">
              <a:defRPr/>
            </a:pPr>
            <a:endParaRPr lang="en-GB" sz="1800" i="1" dirty="0">
              <a:solidFill>
                <a:schemeClr val="accent2">
                  <a:lumMod val="50000"/>
                </a:schemeClr>
              </a:solidFill>
            </a:endParaRPr>
          </a:p>
          <a:p>
            <a:pPr algn="ctr" eaLnBrk="1" hangingPunct="1">
              <a:defRPr/>
            </a:pPr>
            <a:endParaRPr lang="en-GB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048"/>
          <a:stretch/>
        </p:blipFill>
        <p:spPr>
          <a:xfrm>
            <a:off x="476414" y="6014504"/>
            <a:ext cx="2099715" cy="5411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64186" y="0"/>
            <a:ext cx="9144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lnSpc>
                <a:spcPts val="2500"/>
              </a:lnSpc>
              <a:buClr>
                <a:schemeClr val="bg2"/>
              </a:buClr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l" eaLnBrk="0" hangingPunct="0">
              <a:lnSpc>
                <a:spcPts val="2500"/>
              </a:lnSpc>
              <a:buClr>
                <a:schemeClr val="bg2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l" eaLnBrk="0" hangingPunct="0">
              <a:lnSpc>
                <a:spcPts val="2500"/>
              </a:lnSpc>
              <a:buClr>
                <a:schemeClr val="bg2"/>
              </a:buClr>
              <a:buFont typeface="Times" pitchFamily="18" charset="0"/>
              <a:buChar char="•"/>
              <a:defRPr sz="16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l" eaLnBrk="0" hangingPunct="0">
              <a:lnSpc>
                <a:spcPts val="2500"/>
              </a:lnSpc>
              <a:buClr>
                <a:schemeClr val="bg2"/>
              </a:buClr>
              <a:buFont typeface="Times" pitchFamily="18" charset="0"/>
              <a:buChar char="•"/>
              <a:defRPr sz="1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l" eaLnBrk="0" hangingPunct="0">
              <a:lnSpc>
                <a:spcPts val="2500"/>
              </a:lnSpc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lang="en-US" altLang="nl-NL" sz="3600" dirty="0">
                <a:solidFill>
                  <a:srgbClr val="108BD9"/>
                </a:solidFill>
                <a:latin typeface="Arial" charset="0"/>
              </a:rPr>
              <a:t>Lean Business Model Canvas</a:t>
            </a:r>
          </a:p>
        </p:txBody>
      </p:sp>
      <p:sp>
        <p:nvSpPr>
          <p:cNvPr id="6" name="5-Point Star 5"/>
          <p:cNvSpPr/>
          <p:nvPr/>
        </p:nvSpPr>
        <p:spPr bwMode="auto">
          <a:xfrm>
            <a:off x="9480376" y="116632"/>
            <a:ext cx="1008112" cy="936104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latin typeface="Tahoma" charset="0"/>
              <a:ea typeface="ＭＳ Ｐゴシック" charset="0"/>
            </a:endParaRPr>
          </a:p>
        </p:txBody>
      </p:sp>
      <p:pic>
        <p:nvPicPr>
          <p:cNvPr id="2" name="Picture 2" descr="https://blog.leanstack.com/content/images/max/800/1-_nn9Y4-HZmcOx_aNPH_l6w.png">
            <a:extLst>
              <a:ext uri="{FF2B5EF4-FFF2-40B4-BE49-F238E27FC236}">
                <a16:creationId xmlns:a16="http://schemas.microsoft.com/office/drawing/2014/main" id="{D31C2385-E38E-D9DC-ACFE-8630A5683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144" y="838200"/>
            <a:ext cx="7240307" cy="5086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2966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64186" y="0"/>
            <a:ext cx="9144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lnSpc>
                <a:spcPts val="2500"/>
              </a:lnSpc>
              <a:buClr>
                <a:schemeClr val="bg2"/>
              </a:buClr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l" eaLnBrk="0" hangingPunct="0">
              <a:lnSpc>
                <a:spcPts val="2500"/>
              </a:lnSpc>
              <a:buClr>
                <a:schemeClr val="bg2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l" eaLnBrk="0" hangingPunct="0">
              <a:lnSpc>
                <a:spcPts val="2500"/>
              </a:lnSpc>
              <a:buClr>
                <a:schemeClr val="bg2"/>
              </a:buClr>
              <a:buFont typeface="Times" pitchFamily="18" charset="0"/>
              <a:buChar char="•"/>
              <a:defRPr sz="16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l" eaLnBrk="0" hangingPunct="0">
              <a:lnSpc>
                <a:spcPts val="2500"/>
              </a:lnSpc>
              <a:buClr>
                <a:schemeClr val="bg2"/>
              </a:buClr>
              <a:buFont typeface="Times" pitchFamily="18" charset="0"/>
              <a:buChar char="•"/>
              <a:defRPr sz="1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l" eaLnBrk="0" hangingPunct="0">
              <a:lnSpc>
                <a:spcPts val="2500"/>
              </a:lnSpc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lang="en-US" altLang="nl-NL" sz="3600" dirty="0">
                <a:solidFill>
                  <a:srgbClr val="108BD9"/>
                </a:solidFill>
                <a:latin typeface="Arial" charset="0"/>
              </a:rPr>
              <a:t>Lean Business Model Canvas</a:t>
            </a:r>
          </a:p>
        </p:txBody>
      </p:sp>
      <p:sp>
        <p:nvSpPr>
          <p:cNvPr id="6" name="5-Point Star 5"/>
          <p:cNvSpPr/>
          <p:nvPr/>
        </p:nvSpPr>
        <p:spPr bwMode="auto">
          <a:xfrm>
            <a:off x="9480376" y="116632"/>
            <a:ext cx="1008112" cy="936104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latin typeface="Tahoma" charset="0"/>
              <a:ea typeface="ＭＳ Ｐゴシック" charset="0"/>
            </a:endParaRPr>
          </a:p>
        </p:txBody>
      </p:sp>
      <p:pic>
        <p:nvPicPr>
          <p:cNvPr id="2" name="Picture 2" descr="https://blog.leanstack.com/content/images/max/800/1-_nn9Y4-HZmcOx_aNPH_l6w.png">
            <a:extLst>
              <a:ext uri="{FF2B5EF4-FFF2-40B4-BE49-F238E27FC236}">
                <a16:creationId xmlns:a16="http://schemas.microsoft.com/office/drawing/2014/main" id="{A6E3DEFA-81C8-427B-245E-D7E1BA9AF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032" y="885841"/>
            <a:ext cx="7240307" cy="5086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0029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2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06291" y="4140572"/>
            <a:ext cx="2606675" cy="203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8653" y="4043904"/>
            <a:ext cx="3600400" cy="184100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105376" y="487446"/>
            <a:ext cx="9144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lnSpc>
                <a:spcPts val="2500"/>
              </a:lnSpc>
              <a:buClr>
                <a:schemeClr val="bg2"/>
              </a:buClr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l" eaLnBrk="0" hangingPunct="0">
              <a:lnSpc>
                <a:spcPts val="2500"/>
              </a:lnSpc>
              <a:buClr>
                <a:schemeClr val="bg2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l" eaLnBrk="0" hangingPunct="0">
              <a:lnSpc>
                <a:spcPts val="2500"/>
              </a:lnSpc>
              <a:buClr>
                <a:schemeClr val="bg2"/>
              </a:buClr>
              <a:buFont typeface="Times" pitchFamily="18" charset="0"/>
              <a:buChar char="•"/>
              <a:defRPr sz="16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l" eaLnBrk="0" hangingPunct="0">
              <a:lnSpc>
                <a:spcPts val="2500"/>
              </a:lnSpc>
              <a:buClr>
                <a:schemeClr val="bg2"/>
              </a:buClr>
              <a:buFont typeface="Times" pitchFamily="18" charset="0"/>
              <a:buChar char="•"/>
              <a:defRPr sz="1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l" eaLnBrk="0" hangingPunct="0">
              <a:lnSpc>
                <a:spcPts val="2500"/>
              </a:lnSpc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lang="en-US" altLang="nl-NL" sz="3600" dirty="0">
                <a:solidFill>
                  <a:srgbClr val="002B60"/>
                </a:solidFill>
                <a:latin typeface="Arial" charset="0"/>
              </a:rPr>
              <a:t>Value Proposition Canvas</a:t>
            </a:r>
          </a:p>
        </p:txBody>
      </p:sp>
      <p:sp>
        <p:nvSpPr>
          <p:cNvPr id="12" name="5-Point Star 11"/>
          <p:cNvSpPr/>
          <p:nvPr/>
        </p:nvSpPr>
        <p:spPr bwMode="auto">
          <a:xfrm>
            <a:off x="9480376" y="116632"/>
            <a:ext cx="1008112" cy="936104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latin typeface="Tahoma" charset="0"/>
              <a:ea typeface="ＭＳ Ｐゴシック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5440" y="1352626"/>
            <a:ext cx="4785421" cy="2808730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 bwMode="auto">
          <a:xfrm>
            <a:off x="3690880" y="2106184"/>
            <a:ext cx="3547773" cy="2465248"/>
          </a:xfrm>
          <a:prstGeom prst="straightConnector1">
            <a:avLst/>
          </a:prstGeom>
          <a:solidFill>
            <a:schemeClr val="accent1"/>
          </a:solidFill>
          <a:ln w="412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/>
          <p:cNvCxnSpPr/>
          <p:nvPr/>
        </p:nvCxnSpPr>
        <p:spPr bwMode="auto">
          <a:xfrm>
            <a:off x="6757408" y="1925800"/>
            <a:ext cx="2722968" cy="2044352"/>
          </a:xfrm>
          <a:prstGeom prst="straightConnector1">
            <a:avLst/>
          </a:prstGeom>
          <a:solidFill>
            <a:schemeClr val="accent1"/>
          </a:solidFill>
          <a:ln w="412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358855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350976" y="1472240"/>
            <a:ext cx="3662720" cy="432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Osaka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Osak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Osak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Osak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Osak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en-US" kern="0" dirty="0">
                <a:solidFill>
                  <a:srgbClr val="357723"/>
                </a:solidFill>
              </a:rPr>
              <a:t>Technology / solution </a:t>
            </a:r>
            <a:endParaRPr lang="nl-NL" kern="0" dirty="0">
              <a:solidFill>
                <a:srgbClr val="357723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014060" y="1472240"/>
            <a:ext cx="2753740" cy="432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Osaka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Osak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Osak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Osak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Osak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en-US" kern="0" dirty="0">
                <a:solidFill>
                  <a:srgbClr val="FF9999"/>
                </a:solidFill>
              </a:rPr>
              <a:t>Users / customers</a:t>
            </a:r>
            <a:endParaRPr lang="nl-NL" kern="0" dirty="0">
              <a:solidFill>
                <a:srgbClr val="FF9999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51"/>
          <a:stretch/>
        </p:blipFill>
        <p:spPr bwMode="auto">
          <a:xfrm>
            <a:off x="4811825" y="1895504"/>
            <a:ext cx="4009839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995400" y="1895504"/>
            <a:ext cx="3919790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383840" y="482728"/>
            <a:ext cx="9144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lnSpc>
                <a:spcPts val="2500"/>
              </a:lnSpc>
              <a:buClr>
                <a:schemeClr val="bg2"/>
              </a:buClr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l" eaLnBrk="0" hangingPunct="0">
              <a:lnSpc>
                <a:spcPts val="2500"/>
              </a:lnSpc>
              <a:buClr>
                <a:schemeClr val="bg2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l" eaLnBrk="0" hangingPunct="0">
              <a:lnSpc>
                <a:spcPts val="2500"/>
              </a:lnSpc>
              <a:buClr>
                <a:schemeClr val="bg2"/>
              </a:buClr>
              <a:buFont typeface="Times" pitchFamily="18" charset="0"/>
              <a:buChar char="•"/>
              <a:defRPr sz="16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l" eaLnBrk="0" hangingPunct="0">
              <a:lnSpc>
                <a:spcPts val="2500"/>
              </a:lnSpc>
              <a:buClr>
                <a:schemeClr val="bg2"/>
              </a:buClr>
              <a:buFont typeface="Times" pitchFamily="18" charset="0"/>
              <a:buChar char="•"/>
              <a:defRPr sz="1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l" eaLnBrk="0" hangingPunct="0">
              <a:lnSpc>
                <a:spcPts val="2500"/>
              </a:lnSpc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lang="en-US" altLang="nl-NL" sz="3600" dirty="0">
                <a:solidFill>
                  <a:srgbClr val="002B60"/>
                </a:solidFill>
                <a:latin typeface="Arial" charset="0"/>
              </a:rPr>
              <a:t>Value Proposition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972616" y="48691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878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B7759-B741-201E-09BB-4120C5C29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2AAA658-6A29-AC3C-ED24-518E990AE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186" y="0"/>
            <a:ext cx="9144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lnSpc>
                <a:spcPts val="2500"/>
              </a:lnSpc>
              <a:buClr>
                <a:schemeClr val="bg2"/>
              </a:buClr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l" eaLnBrk="0" hangingPunct="0">
              <a:lnSpc>
                <a:spcPts val="2500"/>
              </a:lnSpc>
              <a:buClr>
                <a:schemeClr val="bg2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l" eaLnBrk="0" hangingPunct="0">
              <a:lnSpc>
                <a:spcPts val="2500"/>
              </a:lnSpc>
              <a:buClr>
                <a:schemeClr val="bg2"/>
              </a:buClr>
              <a:buFont typeface="Times" pitchFamily="18" charset="0"/>
              <a:buChar char="•"/>
              <a:defRPr sz="16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l" eaLnBrk="0" hangingPunct="0">
              <a:lnSpc>
                <a:spcPts val="2500"/>
              </a:lnSpc>
              <a:buClr>
                <a:schemeClr val="bg2"/>
              </a:buClr>
              <a:buFont typeface="Times" pitchFamily="18" charset="0"/>
              <a:buChar char="•"/>
              <a:defRPr sz="1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l" eaLnBrk="0" hangingPunct="0">
              <a:lnSpc>
                <a:spcPts val="2500"/>
              </a:lnSpc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lang="en-US" altLang="nl-NL" sz="3600" dirty="0">
                <a:solidFill>
                  <a:srgbClr val="108BD9"/>
                </a:solidFill>
                <a:latin typeface="Arial" charset="0"/>
              </a:rPr>
              <a:t>Lean Business Model Canvas</a:t>
            </a:r>
          </a:p>
        </p:txBody>
      </p:sp>
      <p:sp>
        <p:nvSpPr>
          <p:cNvPr id="6" name="5-Point Star 5">
            <a:extLst>
              <a:ext uri="{FF2B5EF4-FFF2-40B4-BE49-F238E27FC236}">
                <a16:creationId xmlns:a16="http://schemas.microsoft.com/office/drawing/2014/main" id="{CD00F33D-EBC2-659E-23A4-AFE708B451B1}"/>
              </a:ext>
            </a:extLst>
          </p:cNvPr>
          <p:cNvSpPr/>
          <p:nvPr/>
        </p:nvSpPr>
        <p:spPr bwMode="auto">
          <a:xfrm>
            <a:off x="9480376" y="116632"/>
            <a:ext cx="1008112" cy="936104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latin typeface="Tahoma" charset="0"/>
              <a:ea typeface="ＭＳ Ｐゴシック" charset="0"/>
            </a:endParaRPr>
          </a:p>
        </p:txBody>
      </p:sp>
      <p:pic>
        <p:nvPicPr>
          <p:cNvPr id="2" name="Picture 2" descr="https://blog.leanstack.com/content/images/max/800/1-_nn9Y4-HZmcOx_aNPH_l6w.png">
            <a:extLst>
              <a:ext uri="{FF2B5EF4-FFF2-40B4-BE49-F238E27FC236}">
                <a16:creationId xmlns:a16="http://schemas.microsoft.com/office/drawing/2014/main" id="{91777BC9-6099-21C8-BEEC-0FC3FF339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016" y="885841"/>
            <a:ext cx="7240307" cy="5086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3FF943A-586D-D8D9-35D4-96BE670BEC0C}"/>
              </a:ext>
            </a:extLst>
          </p:cNvPr>
          <p:cNvSpPr/>
          <p:nvPr/>
        </p:nvSpPr>
        <p:spPr>
          <a:xfrm>
            <a:off x="1225632" y="783368"/>
            <a:ext cx="4509600" cy="5231136"/>
          </a:xfrm>
          <a:prstGeom prst="rect">
            <a:avLst/>
          </a:prstGeom>
          <a:solidFill>
            <a:schemeClr val="bg2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CF1B69-4DB1-9E8D-4A33-F502FD76D0D8}"/>
              </a:ext>
            </a:extLst>
          </p:cNvPr>
          <p:cNvSpPr/>
          <p:nvPr/>
        </p:nvSpPr>
        <p:spPr>
          <a:xfrm>
            <a:off x="5735232" y="4210664"/>
            <a:ext cx="3246912" cy="1803840"/>
          </a:xfrm>
          <a:prstGeom prst="rect">
            <a:avLst/>
          </a:prstGeom>
          <a:solidFill>
            <a:schemeClr val="bg2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6EDDDF-ED55-8008-3449-68A5661AA710}"/>
              </a:ext>
            </a:extLst>
          </p:cNvPr>
          <p:cNvSpPr/>
          <p:nvPr/>
        </p:nvSpPr>
        <p:spPr>
          <a:xfrm>
            <a:off x="7178304" y="783368"/>
            <a:ext cx="1803840" cy="3427296"/>
          </a:xfrm>
          <a:prstGeom prst="rect">
            <a:avLst/>
          </a:prstGeom>
          <a:solidFill>
            <a:schemeClr val="bg2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F1535E-4A58-C1B7-9148-6281DBA9FF6F}"/>
              </a:ext>
            </a:extLst>
          </p:cNvPr>
          <p:cNvSpPr/>
          <p:nvPr/>
        </p:nvSpPr>
        <p:spPr>
          <a:xfrm>
            <a:off x="5735232" y="783368"/>
            <a:ext cx="1443072" cy="1803840"/>
          </a:xfrm>
          <a:prstGeom prst="rect">
            <a:avLst/>
          </a:prstGeom>
          <a:solidFill>
            <a:schemeClr val="bg2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9232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70D89-BB05-165F-E166-51DD5BA2E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C852B-4082-8634-DDEF-5E7D5B3D2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78" y="1565032"/>
            <a:ext cx="8953729" cy="4088704"/>
          </a:xfrm>
        </p:spPr>
        <p:txBody>
          <a:bodyPr>
            <a:normAutofit/>
          </a:bodyPr>
          <a:lstStyle/>
          <a:p>
            <a:r>
              <a:rPr lang="en-GB" sz="1800" dirty="0">
                <a:solidFill>
                  <a:srgbClr val="002B60"/>
                </a:solidFill>
              </a:rPr>
              <a:t>Go to market plan 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GB" sz="1800" dirty="0">
                <a:solidFill>
                  <a:srgbClr val="002B60"/>
                </a:solidFill>
                <a:sym typeface="Wingdings" panose="05000000000000000000" pitchFamily="2" charset="2"/>
              </a:rPr>
              <a:t>get in touch with my main user</a:t>
            </a:r>
          </a:p>
          <a:p>
            <a:pPr lvl="1">
              <a:buFont typeface="Wingdings" panose="05000000000000000000" pitchFamily="2" charset="2"/>
              <a:buChar char="è"/>
            </a:pPr>
            <a:endParaRPr lang="en-GB" sz="1800" dirty="0">
              <a:solidFill>
                <a:srgbClr val="002B60"/>
              </a:solidFill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è"/>
            </a:pPr>
            <a:r>
              <a:rPr lang="en-GB" sz="1800" dirty="0">
                <a:solidFill>
                  <a:srgbClr val="002B60"/>
                </a:solidFill>
                <a:sym typeface="Wingdings" panose="05000000000000000000" pitchFamily="2" charset="2"/>
              </a:rPr>
              <a:t>For an entrepreneur, to get in contact with customers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GB" sz="1800" dirty="0">
                <a:solidFill>
                  <a:srgbClr val="002B60"/>
                </a:solidFill>
                <a:sym typeface="Wingdings" panose="05000000000000000000" pitchFamily="2" charset="2"/>
              </a:rPr>
              <a:t>For a researcher, to get in contact with research groups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GB" sz="1800" dirty="0">
                <a:solidFill>
                  <a:srgbClr val="002B60"/>
                </a:solidFill>
                <a:sym typeface="Wingdings" panose="05000000000000000000" pitchFamily="2" charset="2"/>
              </a:rPr>
              <a:t>For a consultant to advice policy, to get in contact with a policymaker</a:t>
            </a:r>
          </a:p>
          <a:p>
            <a:pPr lvl="1">
              <a:buFont typeface="Wingdings" panose="05000000000000000000" pitchFamily="2" charset="2"/>
              <a:buChar char="è"/>
            </a:pPr>
            <a:endParaRPr lang="en-GB" sz="1800" dirty="0">
              <a:solidFill>
                <a:srgbClr val="002B60"/>
              </a:solidFill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è"/>
            </a:pPr>
            <a:r>
              <a:rPr lang="en-GB" sz="1800" dirty="0">
                <a:solidFill>
                  <a:srgbClr val="002B60"/>
                </a:solidFill>
                <a:sym typeface="Wingdings" panose="05000000000000000000" pitchFamily="2" charset="2"/>
              </a:rPr>
              <a:t>Get to know your persona, what is important to them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GB" sz="1800" dirty="0">
                <a:solidFill>
                  <a:srgbClr val="002B60"/>
                </a:solidFill>
                <a:sym typeface="Wingdings" panose="05000000000000000000" pitchFamily="2" charset="2"/>
              </a:rPr>
              <a:t>How do they make decision to use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GB" sz="1800" dirty="0">
                <a:solidFill>
                  <a:srgbClr val="002B60"/>
                </a:solidFill>
                <a:sym typeface="Wingdings" panose="05000000000000000000" pitchFamily="2" charset="2"/>
              </a:rPr>
              <a:t>And who is involved in making that decision?</a:t>
            </a:r>
            <a:endParaRPr lang="en-GB" sz="1800" dirty="0">
              <a:solidFill>
                <a:srgbClr val="002B6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90B9178-A9E5-350B-3D8E-88ED1EB96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376" y="363257"/>
            <a:ext cx="7772400" cy="780879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  <a:t>Channels</a:t>
            </a:r>
          </a:p>
        </p:txBody>
      </p:sp>
    </p:spTree>
    <p:extLst>
      <p:ext uri="{BB962C8B-B14F-4D97-AF65-F5344CB8AC3E}">
        <p14:creationId xmlns:p14="http://schemas.microsoft.com/office/powerpoint/2010/main" val="22627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C5326-2382-4949-9875-FE91105DE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81526-AC9F-A0F2-83E8-3159C8C8B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78" y="1565032"/>
            <a:ext cx="8953729" cy="4088704"/>
          </a:xfrm>
        </p:spPr>
        <p:txBody>
          <a:bodyPr>
            <a:normAutofit/>
          </a:bodyPr>
          <a:lstStyle/>
          <a:p>
            <a:r>
              <a:rPr lang="en-GB" sz="1800" dirty="0">
                <a:solidFill>
                  <a:srgbClr val="002B60"/>
                </a:solidFill>
              </a:rPr>
              <a:t>Go to market plan 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GB" sz="1800" dirty="0">
                <a:solidFill>
                  <a:srgbClr val="002B60"/>
                </a:solidFill>
                <a:sym typeface="Wingdings" panose="05000000000000000000" pitchFamily="2" charset="2"/>
              </a:rPr>
              <a:t>Get to know your persona</a:t>
            </a:r>
          </a:p>
          <a:p>
            <a:pPr lvl="1">
              <a:buFont typeface="Wingdings" panose="05000000000000000000" pitchFamily="2" charset="2"/>
              <a:buChar char="è"/>
            </a:pPr>
            <a:endParaRPr lang="en-GB" sz="1800" dirty="0">
              <a:solidFill>
                <a:srgbClr val="002B60"/>
              </a:solidFill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è"/>
            </a:pPr>
            <a:r>
              <a:rPr lang="en-GB" sz="1800" dirty="0">
                <a:solidFill>
                  <a:srgbClr val="002B60"/>
                </a:solidFill>
                <a:sym typeface="Wingdings" panose="05000000000000000000" pitchFamily="2" charset="2"/>
              </a:rPr>
              <a:t>How do they use the product, the solution, the technology</a:t>
            </a:r>
            <a:endParaRPr lang="en-GB" sz="1800" dirty="0">
              <a:solidFill>
                <a:srgbClr val="002B6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DDBDC0E-6584-E6AD-15FB-8B7F054F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376" y="363257"/>
            <a:ext cx="7772400" cy="780879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  <a:t>Channels </a:t>
            </a: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sym typeface="Wingdings" panose="05000000000000000000" pitchFamily="2" charset="2"/>
              </a:rPr>
              <a:t> plan to go to market</a:t>
            </a:r>
            <a:endParaRPr lang="en-US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149CC0-5A98-7C99-DE33-2F3E95431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48" y="4150536"/>
            <a:ext cx="1695693" cy="1644152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DE2E61F-38FD-971E-0017-9FADB4E422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1395849"/>
              </p:ext>
            </p:extLst>
          </p:nvPr>
        </p:nvGraphicFramePr>
        <p:xfrm>
          <a:off x="2032000" y="3248616"/>
          <a:ext cx="4725408" cy="28897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06837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D7F6E45-7E33-4D97-AA2C-DC6718EB72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6B81C03-E451-4836-BFF0-3557C0AB11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99D0283-88F7-480B-B24E-8352388125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6D951B-AF30-4CF2-84CC-30DE685B90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44B5805-485E-4936-A0F2-948B3BBD69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238E7FC-DF11-45D6-A950-2AD1987C7F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3C607A5-5EF8-4E14-A76C-924808098F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1C7AD9E-03A0-4CB0-8B50-862F3A4B1D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1729D3-417C-47EF-B883-9831EBB9A8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3073514-D10C-427E-A986-EBB46E0C2F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0079" y="1565032"/>
            <a:ext cx="7772400" cy="3345979"/>
          </a:xfrm>
        </p:spPr>
        <p:txBody>
          <a:bodyPr>
            <a:normAutofit fontScale="92500" lnSpcReduction="20000"/>
          </a:bodyPr>
          <a:lstStyle/>
          <a:p>
            <a:r>
              <a:rPr lang="en-GB" dirty="0">
                <a:solidFill>
                  <a:srgbClr val="002B60"/>
                </a:solidFill>
              </a:rPr>
              <a:t>To understand your persona</a:t>
            </a:r>
          </a:p>
          <a:p>
            <a:r>
              <a:rPr lang="en-GB" dirty="0">
                <a:solidFill>
                  <a:srgbClr val="002B60"/>
                </a:solidFill>
              </a:rPr>
              <a:t>What can we do for the persona</a:t>
            </a:r>
          </a:p>
          <a:p>
            <a:r>
              <a:rPr lang="en-GB" dirty="0">
                <a:solidFill>
                  <a:srgbClr val="002B60"/>
                </a:solidFill>
              </a:rPr>
              <a:t>It is about </a:t>
            </a:r>
            <a:r>
              <a:rPr lang="en-GB" b="1" dirty="0">
                <a:solidFill>
                  <a:srgbClr val="002B60"/>
                </a:solidFill>
              </a:rPr>
              <a:t>activating</a:t>
            </a:r>
            <a:r>
              <a:rPr lang="en-GB" dirty="0">
                <a:solidFill>
                  <a:srgbClr val="002B60"/>
                </a:solidFill>
              </a:rPr>
              <a:t> your persona</a:t>
            </a:r>
          </a:p>
          <a:p>
            <a:endParaRPr lang="en-GB" dirty="0">
              <a:solidFill>
                <a:srgbClr val="002B60"/>
              </a:solidFill>
            </a:endParaRPr>
          </a:p>
          <a:p>
            <a:r>
              <a:rPr lang="en-GB" dirty="0">
                <a:solidFill>
                  <a:srgbClr val="002B60"/>
                </a:solidFill>
              </a:rPr>
              <a:t>Full Cycle Use Cases describe customer’s</a:t>
            </a:r>
          </a:p>
          <a:p>
            <a:pPr lvl="1"/>
            <a:r>
              <a:rPr lang="en-GB" sz="1800" dirty="0">
                <a:solidFill>
                  <a:srgbClr val="002B60"/>
                </a:solidFill>
              </a:rPr>
              <a:t>How do customers know that they want it</a:t>
            </a:r>
          </a:p>
          <a:p>
            <a:pPr lvl="1"/>
            <a:r>
              <a:rPr lang="en-GB" sz="1800" dirty="0">
                <a:solidFill>
                  <a:srgbClr val="002B60"/>
                </a:solidFill>
              </a:rPr>
              <a:t>How do they know where to get it</a:t>
            </a:r>
          </a:p>
          <a:p>
            <a:pPr lvl="1"/>
            <a:r>
              <a:rPr lang="en-GB" sz="1800" dirty="0">
                <a:solidFill>
                  <a:srgbClr val="002B60"/>
                </a:solidFill>
              </a:rPr>
              <a:t>How do they decide to use it </a:t>
            </a:r>
          </a:p>
          <a:p>
            <a:pPr lvl="1"/>
            <a:r>
              <a:rPr lang="en-GB" sz="1800" dirty="0">
                <a:solidFill>
                  <a:srgbClr val="002B60"/>
                </a:solidFill>
              </a:rPr>
              <a:t>How do they pay for it</a:t>
            </a:r>
          </a:p>
          <a:p>
            <a:pPr lvl="1"/>
            <a:r>
              <a:rPr lang="en-GB" sz="1800" dirty="0">
                <a:solidFill>
                  <a:srgbClr val="002B60"/>
                </a:solidFill>
              </a:rPr>
              <a:t>How do they tell others, it is great</a:t>
            </a: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256" y="1410289"/>
            <a:ext cx="4750112" cy="4256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105376" y="363257"/>
            <a:ext cx="7772400" cy="780879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  <a:t>For all: Full customer life cycle</a:t>
            </a:r>
          </a:p>
        </p:txBody>
      </p:sp>
    </p:spTree>
    <p:extLst>
      <p:ext uri="{BB962C8B-B14F-4D97-AF65-F5344CB8AC3E}">
        <p14:creationId xmlns:p14="http://schemas.microsoft.com/office/powerpoint/2010/main" val="74869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9261" y="1384648"/>
            <a:ext cx="9259712" cy="3778250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002B60"/>
                </a:solidFill>
              </a:rPr>
              <a:t>Describe in detail how the user knows about your product, gets value from it, pays for it and tells others about it. </a:t>
            </a:r>
          </a:p>
          <a:p>
            <a:pPr marL="0" indent="0">
              <a:buNone/>
              <a:defRPr/>
            </a:pPr>
            <a:r>
              <a:rPr lang="en-US" sz="1600" dirty="0">
                <a:solidFill>
                  <a:srgbClr val="002B60"/>
                </a:solidFill>
              </a:rPr>
              <a:t>The following factors are all essential parts of the Full Life Cycle Use Case:</a:t>
            </a:r>
          </a:p>
          <a:p>
            <a:pPr marL="0" indent="0">
              <a:buNone/>
              <a:defRPr/>
            </a:pPr>
            <a:endParaRPr lang="en-US" sz="1600" dirty="0">
              <a:solidFill>
                <a:srgbClr val="002B60"/>
              </a:solidFill>
            </a:endParaRPr>
          </a:p>
          <a:p>
            <a:pPr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2B60"/>
                </a:solidFill>
              </a:rPr>
              <a:t>How end users will determine their need and/or opportunity to do something different.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2B60"/>
                </a:solidFill>
              </a:rPr>
              <a:t>How they will find out about your product.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2B60"/>
                </a:solidFill>
              </a:rPr>
              <a:t>How they will analyze your product.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2B60"/>
                </a:solidFill>
              </a:rPr>
              <a:t>How they will acquire your product.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2B60"/>
                </a:solidFill>
              </a:rPr>
              <a:t>How they will install your product.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2B60"/>
                </a:solidFill>
              </a:rPr>
              <a:t>How they will use your product.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2B60"/>
                </a:solidFill>
              </a:rPr>
              <a:t>How they will determine the value gained from your product.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2B60"/>
                </a:solidFill>
              </a:rPr>
              <a:t>How they will pay for your product.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2B60"/>
                </a:solidFill>
              </a:rPr>
              <a:t>How they will receive support for your product.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2B60"/>
                </a:solidFill>
              </a:rPr>
              <a:t>How they will buy more product and/or spread awareness (hopefully positive) about your product.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105376" y="363257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  <a:t>Full customer life cycle</a:t>
            </a:r>
          </a:p>
        </p:txBody>
      </p:sp>
    </p:spTree>
    <p:extLst>
      <p:ext uri="{BB962C8B-B14F-4D97-AF65-F5344CB8AC3E}">
        <p14:creationId xmlns:p14="http://schemas.microsoft.com/office/powerpoint/2010/main" val="4192998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992" y="1187450"/>
            <a:ext cx="7772400" cy="377825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168CD1"/>
                </a:solidFill>
              </a:rPr>
              <a:t>The Full Life Cycle Use Case should be visual, using diagrams, flowcharts, or other methods that show sequence.</a:t>
            </a: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680" y="1685288"/>
            <a:ext cx="7155232" cy="4486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05376" y="363257"/>
            <a:ext cx="7772400" cy="780879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  <a:t>Full customer life cycle</a:t>
            </a:r>
          </a:p>
        </p:txBody>
      </p:sp>
    </p:spTree>
    <p:extLst>
      <p:ext uri="{BB962C8B-B14F-4D97-AF65-F5344CB8AC3E}">
        <p14:creationId xmlns:p14="http://schemas.microsoft.com/office/powerpoint/2010/main" val="3998033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992" y="1187450"/>
            <a:ext cx="7772400" cy="377825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168CD1"/>
                </a:solidFill>
              </a:rPr>
              <a:t>The Full Life Cycle Use Case should be visual, using diagrams, flowcharts, or other methods that show sequence.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15" y="1818418"/>
            <a:ext cx="6587284" cy="31905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r="10721"/>
          <a:stretch/>
        </p:blipFill>
        <p:spPr>
          <a:xfrm>
            <a:off x="2608576" y="4150536"/>
            <a:ext cx="5231136" cy="21930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816" y="2226440"/>
            <a:ext cx="4389344" cy="2436832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105376" y="363257"/>
            <a:ext cx="7772400" cy="780879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  <a:t>Full customer life cycle</a:t>
            </a:r>
          </a:p>
        </p:txBody>
      </p:sp>
    </p:spTree>
    <p:extLst>
      <p:ext uri="{BB962C8B-B14F-4D97-AF65-F5344CB8AC3E}">
        <p14:creationId xmlns:p14="http://schemas.microsoft.com/office/powerpoint/2010/main" val="3597781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8209" y="2420888"/>
            <a:ext cx="2549083" cy="1084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2996953"/>
            <a:ext cx="1611111" cy="1205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1340768"/>
            <a:ext cx="1083000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12" y="1772817"/>
            <a:ext cx="792088" cy="1221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41666">
            <a:off x="4739978" y="1258485"/>
            <a:ext cx="1853143" cy="1496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936" y="3429000"/>
            <a:ext cx="1702008" cy="1707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136" y="1340768"/>
            <a:ext cx="1705372" cy="909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79" t="28848" r="2708" b="13099"/>
          <a:stretch/>
        </p:blipFill>
        <p:spPr bwMode="auto">
          <a:xfrm>
            <a:off x="7176120" y="4869160"/>
            <a:ext cx="2583180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930" b="14667"/>
          <a:stretch/>
        </p:blipFill>
        <p:spPr bwMode="auto">
          <a:xfrm>
            <a:off x="8256241" y="3645024"/>
            <a:ext cx="2148041" cy="1184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9" y="4437112"/>
            <a:ext cx="1632181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5577514"/>
            <a:ext cx="1872208" cy="105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Rechte verbindingslijn met pijl 2"/>
          <p:cNvCxnSpPr/>
          <p:nvPr/>
        </p:nvCxnSpPr>
        <p:spPr bwMode="auto">
          <a:xfrm flipV="1">
            <a:off x="2351584" y="2420888"/>
            <a:ext cx="864096" cy="5040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Rechte verbindingslijn met pijl 15"/>
          <p:cNvCxnSpPr/>
          <p:nvPr/>
        </p:nvCxnSpPr>
        <p:spPr bwMode="auto">
          <a:xfrm flipV="1">
            <a:off x="3647728" y="1412776"/>
            <a:ext cx="1008112" cy="2160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Rechte verbindingslijn met pijl 17"/>
          <p:cNvCxnSpPr/>
          <p:nvPr/>
        </p:nvCxnSpPr>
        <p:spPr bwMode="auto">
          <a:xfrm>
            <a:off x="6528048" y="1556792"/>
            <a:ext cx="72008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Rechte verbindingslijn met pijl 19"/>
          <p:cNvCxnSpPr/>
          <p:nvPr/>
        </p:nvCxnSpPr>
        <p:spPr bwMode="auto">
          <a:xfrm>
            <a:off x="9048328" y="1772816"/>
            <a:ext cx="648072" cy="5040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Rechte verbindingslijn met pijl 21"/>
          <p:cNvCxnSpPr/>
          <p:nvPr/>
        </p:nvCxnSpPr>
        <p:spPr bwMode="auto">
          <a:xfrm flipH="1" flipV="1">
            <a:off x="6528048" y="4797152"/>
            <a:ext cx="648072" cy="2880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Rechte verbindingslijn met pijl 24"/>
          <p:cNvCxnSpPr/>
          <p:nvPr/>
        </p:nvCxnSpPr>
        <p:spPr bwMode="auto">
          <a:xfrm flipH="1">
            <a:off x="5375920" y="4797152"/>
            <a:ext cx="504056" cy="2880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Rechte verbindingslijn met pijl 26"/>
          <p:cNvCxnSpPr/>
          <p:nvPr/>
        </p:nvCxnSpPr>
        <p:spPr bwMode="auto">
          <a:xfrm flipH="1">
            <a:off x="3071664" y="5157192"/>
            <a:ext cx="504056" cy="2880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Rechte verbindingslijn met pijl 27"/>
          <p:cNvCxnSpPr/>
          <p:nvPr/>
        </p:nvCxnSpPr>
        <p:spPr bwMode="auto">
          <a:xfrm flipH="1" flipV="1">
            <a:off x="3431704" y="3861048"/>
            <a:ext cx="576064" cy="4320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1105376" y="363257"/>
            <a:ext cx="7772400" cy="780879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  <a:t>Full customer life cycle</a:t>
            </a:r>
          </a:p>
        </p:txBody>
      </p:sp>
    </p:spTree>
    <p:extLst>
      <p:ext uri="{BB962C8B-B14F-4D97-AF65-F5344CB8AC3E}">
        <p14:creationId xmlns:p14="http://schemas.microsoft.com/office/powerpoint/2010/main" val="1608092778"/>
      </p:ext>
    </p:extLst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4992" y="1384648"/>
            <a:ext cx="8723188" cy="4104456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 marL="0" indent="0">
              <a:spcBef>
                <a:spcPct val="15000"/>
              </a:spcBef>
              <a:spcAft>
                <a:spcPct val="5000"/>
              </a:spcAft>
              <a:buNone/>
            </a:pPr>
            <a:r>
              <a:rPr lang="en-US" altLang="nl-NL" sz="2200" dirty="0"/>
              <a:t>Now that you know the use life cycle, we focus on where we can improve and add value </a:t>
            </a:r>
            <a:r>
              <a:rPr lang="en-US" altLang="nl-NL" sz="2200" dirty="0">
                <a:sym typeface="Wingdings" panose="05000000000000000000" pitchFamily="2" charset="2"/>
              </a:rPr>
              <a:t> search the touchpoints</a:t>
            </a:r>
            <a:endParaRPr lang="en-US" altLang="nl-NL" dirty="0"/>
          </a:p>
          <a:p>
            <a:pPr lvl="1">
              <a:spcBef>
                <a:spcPct val="15000"/>
              </a:spcBef>
              <a:spcAft>
                <a:spcPct val="5000"/>
              </a:spcAft>
              <a:buFontTx/>
              <a:buChar char="-"/>
            </a:pPr>
            <a:endParaRPr lang="en-US" altLang="nl-NL" sz="1800" dirty="0"/>
          </a:p>
        </p:txBody>
      </p:sp>
      <p:sp>
        <p:nvSpPr>
          <p:cNvPr id="2" name="Vijfhoek 1"/>
          <p:cNvSpPr/>
          <p:nvPr/>
        </p:nvSpPr>
        <p:spPr bwMode="auto">
          <a:xfrm>
            <a:off x="791196" y="3383011"/>
            <a:ext cx="1080120" cy="648072"/>
          </a:xfrm>
          <a:prstGeom prst="homePlat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Tahoma" charset="0"/>
            </a:endParaRPr>
          </a:p>
        </p:txBody>
      </p:sp>
      <p:sp>
        <p:nvSpPr>
          <p:cNvPr id="3" name="Punthaak 2"/>
          <p:cNvSpPr/>
          <p:nvPr/>
        </p:nvSpPr>
        <p:spPr bwMode="auto">
          <a:xfrm>
            <a:off x="1799308" y="3383011"/>
            <a:ext cx="864096" cy="648072"/>
          </a:xfrm>
          <a:prstGeom prst="chevr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Tahoma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91" y="2662932"/>
            <a:ext cx="903806" cy="672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304" y="2734939"/>
            <a:ext cx="510899" cy="543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44" y="2734939"/>
            <a:ext cx="373663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383" y="2446908"/>
            <a:ext cx="1006372" cy="885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68" t="8849" r="26016"/>
          <a:stretch/>
        </p:blipFill>
        <p:spPr bwMode="auto">
          <a:xfrm>
            <a:off x="4463605" y="2518915"/>
            <a:ext cx="984109" cy="746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860" y="2518915"/>
            <a:ext cx="936104" cy="939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8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497" y="2734939"/>
            <a:ext cx="895283" cy="477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0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47" t="42049" r="3255" b="13100"/>
          <a:stretch/>
        </p:blipFill>
        <p:spPr bwMode="auto">
          <a:xfrm>
            <a:off x="5543725" y="2518915"/>
            <a:ext cx="1077743" cy="725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1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9138"/>
          <a:stretch/>
        </p:blipFill>
        <p:spPr bwMode="auto">
          <a:xfrm>
            <a:off x="7775973" y="2590923"/>
            <a:ext cx="772705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2"/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6" t="12266" r="21061" b="8504"/>
          <a:stretch/>
        </p:blipFill>
        <p:spPr bwMode="auto">
          <a:xfrm>
            <a:off x="8638972" y="2518915"/>
            <a:ext cx="1188720" cy="834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Punthaak 20"/>
          <p:cNvSpPr/>
          <p:nvPr/>
        </p:nvSpPr>
        <p:spPr bwMode="auto">
          <a:xfrm>
            <a:off x="2663404" y="3383011"/>
            <a:ext cx="864096" cy="648072"/>
          </a:xfrm>
          <a:prstGeom prst="chevr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Tahoma" charset="0"/>
            </a:endParaRPr>
          </a:p>
        </p:txBody>
      </p:sp>
      <p:sp>
        <p:nvSpPr>
          <p:cNvPr id="22" name="Punthaak 21"/>
          <p:cNvSpPr/>
          <p:nvPr/>
        </p:nvSpPr>
        <p:spPr bwMode="auto">
          <a:xfrm>
            <a:off x="3527500" y="3383011"/>
            <a:ext cx="864096" cy="648072"/>
          </a:xfrm>
          <a:prstGeom prst="chevr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Tahoma" charset="0"/>
            </a:endParaRPr>
          </a:p>
        </p:txBody>
      </p:sp>
      <p:sp>
        <p:nvSpPr>
          <p:cNvPr id="23" name="Punthaak 22"/>
          <p:cNvSpPr/>
          <p:nvPr/>
        </p:nvSpPr>
        <p:spPr bwMode="auto">
          <a:xfrm>
            <a:off x="4535612" y="3383011"/>
            <a:ext cx="864096" cy="648072"/>
          </a:xfrm>
          <a:prstGeom prst="chevr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Tahoma" charset="0"/>
            </a:endParaRPr>
          </a:p>
        </p:txBody>
      </p:sp>
      <p:sp>
        <p:nvSpPr>
          <p:cNvPr id="24" name="Punthaak 23"/>
          <p:cNvSpPr/>
          <p:nvPr/>
        </p:nvSpPr>
        <p:spPr bwMode="auto">
          <a:xfrm>
            <a:off x="5687740" y="3383011"/>
            <a:ext cx="864096" cy="648072"/>
          </a:xfrm>
          <a:prstGeom prst="chevr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Tahoma" charset="0"/>
            </a:endParaRPr>
          </a:p>
        </p:txBody>
      </p:sp>
      <p:sp>
        <p:nvSpPr>
          <p:cNvPr id="25" name="Punthaak 24"/>
          <p:cNvSpPr/>
          <p:nvPr/>
        </p:nvSpPr>
        <p:spPr bwMode="auto">
          <a:xfrm>
            <a:off x="6911876" y="3383011"/>
            <a:ext cx="864096" cy="648072"/>
          </a:xfrm>
          <a:prstGeom prst="chevr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Tahoma" charset="0"/>
            </a:endParaRPr>
          </a:p>
        </p:txBody>
      </p:sp>
      <p:sp>
        <p:nvSpPr>
          <p:cNvPr id="26" name="Punthaak 25"/>
          <p:cNvSpPr/>
          <p:nvPr/>
        </p:nvSpPr>
        <p:spPr bwMode="auto">
          <a:xfrm>
            <a:off x="7919988" y="3383011"/>
            <a:ext cx="864096" cy="648072"/>
          </a:xfrm>
          <a:prstGeom prst="chevr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Tahoma" charset="0"/>
            </a:endParaRPr>
          </a:p>
        </p:txBody>
      </p:sp>
      <p:sp>
        <p:nvSpPr>
          <p:cNvPr id="27" name="Punthaak 26"/>
          <p:cNvSpPr/>
          <p:nvPr/>
        </p:nvSpPr>
        <p:spPr bwMode="auto">
          <a:xfrm>
            <a:off x="8952206" y="3383011"/>
            <a:ext cx="864096" cy="648072"/>
          </a:xfrm>
          <a:prstGeom prst="chevr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Tahoma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309" y="4085231"/>
            <a:ext cx="761161" cy="73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397" y="4085231"/>
            <a:ext cx="761161" cy="73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493" y="4085231"/>
            <a:ext cx="761161" cy="73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605" y="4103092"/>
            <a:ext cx="761161" cy="73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733" y="4103092"/>
            <a:ext cx="761161" cy="73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9869" y="4103092"/>
            <a:ext cx="761161" cy="73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2077" y="4175100"/>
            <a:ext cx="761161" cy="73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Rechte verbindingslijn 4"/>
          <p:cNvCxnSpPr/>
          <p:nvPr/>
        </p:nvCxnSpPr>
        <p:spPr bwMode="auto">
          <a:xfrm>
            <a:off x="1367260" y="4913040"/>
            <a:ext cx="0" cy="7920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Rechte verbindingslijn 33"/>
          <p:cNvCxnSpPr/>
          <p:nvPr/>
        </p:nvCxnSpPr>
        <p:spPr bwMode="auto">
          <a:xfrm flipH="1">
            <a:off x="1151236" y="5633120"/>
            <a:ext cx="820891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Vrije vorm 8"/>
          <p:cNvSpPr/>
          <p:nvPr/>
        </p:nvSpPr>
        <p:spPr bwMode="auto">
          <a:xfrm>
            <a:off x="1403782" y="4940186"/>
            <a:ext cx="8115300" cy="666676"/>
          </a:xfrm>
          <a:custGeom>
            <a:avLst/>
            <a:gdLst>
              <a:gd name="connsiteX0" fmla="*/ 0 w 8115300"/>
              <a:gd name="connsiteY0" fmla="*/ 666676 h 666676"/>
              <a:gd name="connsiteX1" fmla="*/ 708660 w 8115300"/>
              <a:gd name="connsiteY1" fmla="*/ 460936 h 666676"/>
              <a:gd name="connsiteX2" fmla="*/ 1463040 w 8115300"/>
              <a:gd name="connsiteY2" fmla="*/ 175186 h 666676"/>
              <a:gd name="connsiteX3" fmla="*/ 2411730 w 8115300"/>
              <a:gd name="connsiteY3" fmla="*/ 438076 h 666676"/>
              <a:gd name="connsiteX4" fmla="*/ 3314700 w 8115300"/>
              <a:gd name="connsiteY4" fmla="*/ 563806 h 666676"/>
              <a:gd name="connsiteX5" fmla="*/ 4629150 w 8115300"/>
              <a:gd name="connsiteY5" fmla="*/ 220906 h 666676"/>
              <a:gd name="connsiteX6" fmla="*/ 5589270 w 8115300"/>
              <a:gd name="connsiteY6" fmla="*/ 72316 h 666676"/>
              <a:gd name="connsiteX7" fmla="*/ 7086600 w 8115300"/>
              <a:gd name="connsiteY7" fmla="*/ 3736 h 666676"/>
              <a:gd name="connsiteX8" fmla="*/ 8115300 w 8115300"/>
              <a:gd name="connsiteY8" fmla="*/ 15166 h 666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15300" h="666676">
                <a:moveTo>
                  <a:pt x="0" y="666676"/>
                </a:moveTo>
                <a:cubicBezTo>
                  <a:pt x="232410" y="604763"/>
                  <a:pt x="464820" y="542851"/>
                  <a:pt x="708660" y="460936"/>
                </a:cubicBezTo>
                <a:cubicBezTo>
                  <a:pt x="952500" y="379021"/>
                  <a:pt x="1179195" y="178996"/>
                  <a:pt x="1463040" y="175186"/>
                </a:cubicBezTo>
                <a:cubicBezTo>
                  <a:pt x="1746885" y="171376"/>
                  <a:pt x="2103120" y="373306"/>
                  <a:pt x="2411730" y="438076"/>
                </a:cubicBezTo>
                <a:cubicBezTo>
                  <a:pt x="2720340" y="502846"/>
                  <a:pt x="2945130" y="600001"/>
                  <a:pt x="3314700" y="563806"/>
                </a:cubicBezTo>
                <a:cubicBezTo>
                  <a:pt x="3684270" y="527611"/>
                  <a:pt x="4250055" y="302821"/>
                  <a:pt x="4629150" y="220906"/>
                </a:cubicBezTo>
                <a:cubicBezTo>
                  <a:pt x="5008245" y="138991"/>
                  <a:pt x="5179695" y="108511"/>
                  <a:pt x="5589270" y="72316"/>
                </a:cubicBezTo>
                <a:cubicBezTo>
                  <a:pt x="5998845" y="36121"/>
                  <a:pt x="6665595" y="13261"/>
                  <a:pt x="7086600" y="3736"/>
                </a:cubicBezTo>
                <a:cubicBezTo>
                  <a:pt x="7507605" y="-5789"/>
                  <a:pt x="7811452" y="4688"/>
                  <a:pt x="8115300" y="15166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Tahoma" charset="0"/>
            </a:endParaRPr>
          </a:p>
        </p:txBody>
      </p:sp>
      <p:sp>
        <p:nvSpPr>
          <p:cNvPr id="4" name="Lightning Bolt 3"/>
          <p:cNvSpPr/>
          <p:nvPr/>
        </p:nvSpPr>
        <p:spPr bwMode="auto">
          <a:xfrm>
            <a:off x="3959548" y="4940186"/>
            <a:ext cx="720080" cy="576064"/>
          </a:xfrm>
          <a:prstGeom prst="lightningBol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nl-NL" sz="2400">
              <a:latin typeface="Tahoma" charset="0"/>
            </a:endParaRPr>
          </a:p>
        </p:txBody>
      </p:sp>
      <p:sp>
        <p:nvSpPr>
          <p:cNvPr id="35" name="Title 1"/>
          <p:cNvSpPr>
            <a:spLocks noGrp="1"/>
          </p:cNvSpPr>
          <p:nvPr>
            <p:ph type="title"/>
          </p:nvPr>
        </p:nvSpPr>
        <p:spPr>
          <a:xfrm>
            <a:off x="1105376" y="363257"/>
            <a:ext cx="7772400" cy="780879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  <a:t>Full customer life cycle</a:t>
            </a:r>
          </a:p>
        </p:txBody>
      </p:sp>
    </p:spTree>
    <p:extLst>
      <p:ext uri="{BB962C8B-B14F-4D97-AF65-F5344CB8AC3E}">
        <p14:creationId xmlns:p14="http://schemas.microsoft.com/office/powerpoint/2010/main" val="3099500705"/>
      </p:ext>
    </p:extLst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9" grpId="0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985120" y="1264392"/>
            <a:ext cx="8778688" cy="35933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800" dirty="0"/>
              <a:t>Map a customer journey</a:t>
            </a:r>
          </a:p>
          <a:p>
            <a:r>
              <a:rPr lang="en-US" altLang="en-US" sz="2000" dirty="0"/>
              <a:t>For your idea, define all the “moments of truth” or touchpoints during a customer interaction or typical transaction.</a:t>
            </a:r>
          </a:p>
          <a:p>
            <a:pPr eaLnBrk="1" hangingPunct="1"/>
            <a:r>
              <a:rPr lang="en-US" altLang="en-US" sz="2000" dirty="0"/>
              <a:t>Which touchpoints do you emphasize and reinforce?</a:t>
            </a:r>
          </a:p>
          <a:p>
            <a:pPr eaLnBrk="1" hangingPunct="1"/>
            <a:r>
              <a:rPr lang="en-US" altLang="en-US" sz="2000" dirty="0"/>
              <a:t>What touchpoints do you de-emphasize but may be important to the consumer?</a:t>
            </a:r>
          </a:p>
          <a:p>
            <a:pPr eaLnBrk="1" hangingPunct="1"/>
            <a:r>
              <a:rPr lang="en-US" altLang="en-US" sz="2000" dirty="0"/>
              <a:t>Is there an opportunity to improve, any misalignment you can fix?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05376" y="363257"/>
            <a:ext cx="7772400" cy="7808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>
                <a:solidFill>
                  <a:schemeClr val="accent2">
                    <a:lumMod val="50000"/>
                  </a:schemeClr>
                </a:solidFill>
              </a:rPr>
              <a:t>Full customer life cycle</a:t>
            </a:r>
            <a:endParaRPr lang="en-US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028724-4C3F-A908-4D7E-AAEA36AD2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56" y="4628218"/>
            <a:ext cx="5134075" cy="184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829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3"/>
          <p:cNvSpPr>
            <a:spLocks noGrp="1"/>
          </p:cNvSpPr>
          <p:nvPr>
            <p:ph type="title"/>
          </p:nvPr>
        </p:nvSpPr>
        <p:spPr>
          <a:xfrm>
            <a:off x="804736" y="1504904"/>
            <a:ext cx="8596668" cy="1320800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solidFill>
                  <a:srgbClr val="002B60"/>
                </a:solidFill>
              </a:rPr>
              <a:t>Map the customer Journey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621253"/>
              </p:ext>
            </p:extLst>
          </p:nvPr>
        </p:nvGraphicFramePr>
        <p:xfrm>
          <a:off x="1406016" y="2046056"/>
          <a:ext cx="8458200" cy="3998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9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9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3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Touchpoint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User Viewpoint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Customer Viewpoint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Opportunity for improvement?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 am hungry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What are my options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Where is information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What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is the weather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Is there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a que? 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1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Can I sit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with friends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Do I like the food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How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long do I enjoy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Do I tell friends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1105376" y="363257"/>
            <a:ext cx="7772400" cy="7808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>
                <a:solidFill>
                  <a:schemeClr val="accent2">
                    <a:lumMod val="50000"/>
                  </a:schemeClr>
                </a:solidFill>
              </a:rPr>
              <a:t>Full customer life cycle</a:t>
            </a:r>
            <a:endParaRPr lang="en-US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039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9"/>
          <p:cNvSpPr>
            <a:spLocks noGrp="1"/>
          </p:cNvSpPr>
          <p:nvPr>
            <p:ph type="title"/>
          </p:nvPr>
        </p:nvSpPr>
        <p:spPr>
          <a:xfrm>
            <a:off x="864864" y="422600"/>
            <a:ext cx="8596668" cy="1320800"/>
          </a:xfrm>
        </p:spPr>
        <p:txBody>
          <a:bodyPr/>
          <a:lstStyle/>
          <a:p>
            <a:r>
              <a:rPr lang="en-US" altLang="en-US" dirty="0">
                <a:solidFill>
                  <a:srgbClr val="002B60"/>
                </a:solidFill>
              </a:rPr>
              <a:t>Get to know your user: Journey Mapping</a:t>
            </a:r>
          </a:p>
        </p:txBody>
      </p:sp>
      <p:sp>
        <p:nvSpPr>
          <p:cNvPr id="8195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Do we understand all of the “moments of truth” from a user’s perspective?</a:t>
            </a:r>
          </a:p>
          <a:p>
            <a:endParaRPr lang="en-US" altLang="en-US" dirty="0"/>
          </a:p>
          <a:p>
            <a:r>
              <a:rPr lang="en-US" altLang="en-US" dirty="0"/>
              <a:t>Do we meet or exceed expectations at every moment of truth?  </a:t>
            </a:r>
          </a:p>
          <a:p>
            <a:endParaRPr lang="en-US" altLang="en-US" dirty="0"/>
          </a:p>
          <a:p>
            <a:r>
              <a:rPr lang="en-US" altLang="en-US" dirty="0"/>
              <a:t>If not, are there opportunities for innovation in the full life cycle?</a:t>
            </a:r>
          </a:p>
          <a:p>
            <a:endParaRPr lang="en-US" altLang="en-US" dirty="0"/>
          </a:p>
          <a:p>
            <a:r>
              <a:rPr lang="en-US" altLang="en-US" dirty="0"/>
              <a:t>Are there unmet needs?</a:t>
            </a:r>
          </a:p>
        </p:txBody>
      </p:sp>
    </p:spTree>
    <p:extLst>
      <p:ext uri="{BB962C8B-B14F-4D97-AF65-F5344CB8AC3E}">
        <p14:creationId xmlns:p14="http://schemas.microsoft.com/office/powerpoint/2010/main" val="1606673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1625"/>
            <a:ext cx="7772400" cy="1143000"/>
          </a:xfrm>
          <a:noFill/>
        </p:spPr>
        <p:txBody>
          <a:bodyPr vert="horz" lIns="90488" tIns="44450" rIns="90488" bIns="44450" rtlCol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dirty="0">
                <a:solidFill>
                  <a:srgbClr val="002B60"/>
                </a:solidFill>
              </a:rPr>
              <a:t>High-Level Product Specification</a:t>
            </a:r>
            <a:br>
              <a:rPr lang="en-US" altLang="nl-NL" dirty="0">
                <a:solidFill>
                  <a:srgbClr val="002B60"/>
                </a:solidFill>
              </a:rPr>
            </a:br>
            <a:endParaRPr lang="en-US" altLang="nl-NL" dirty="0">
              <a:solidFill>
                <a:srgbClr val="002B60"/>
              </a:solidFill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20" y="1700808"/>
            <a:ext cx="6364832" cy="3816424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 lvl="1">
              <a:spcBef>
                <a:spcPct val="15000"/>
              </a:spcBef>
              <a:spcAft>
                <a:spcPct val="5000"/>
              </a:spcAft>
              <a:buFontTx/>
              <a:buChar char="-"/>
            </a:pPr>
            <a:r>
              <a:rPr lang="en-US" altLang="nl-NL" sz="1800" dirty="0">
                <a:solidFill>
                  <a:srgbClr val="168CD1"/>
                </a:solidFill>
              </a:rPr>
              <a:t>Draw sketches or visuals how it will look like</a:t>
            </a:r>
          </a:p>
        </p:txBody>
      </p:sp>
      <p:pic>
        <p:nvPicPr>
          <p:cNvPr id="6146" name="Picture 2" descr="C:\Users\VJ\AppData\Local\Temp\Screenshot_2019-09-29 Android Mobile Food Ordering App For Restaurant – Project Idea Source Code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834"/>
          <a:stretch/>
        </p:blipFill>
        <p:spPr bwMode="auto">
          <a:xfrm>
            <a:off x="1524000" y="2276872"/>
            <a:ext cx="3131840" cy="269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VJ\AppData\Local\Temp\Screenshot_2019-09-29 Android Mobile Food Ordering App For Restaurant – Project Idea Source Code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66" b="34734"/>
          <a:stretch/>
        </p:blipFill>
        <p:spPr bwMode="auto">
          <a:xfrm>
            <a:off x="4583832" y="2348880"/>
            <a:ext cx="3120060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VJ\AppData\Local\Temp\Screenshot_2019-09-29 Android Mobile Food Ordering App For Restaurant – Project Idea Source Code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83"/>
          <a:stretch/>
        </p:blipFill>
        <p:spPr bwMode="auto">
          <a:xfrm>
            <a:off x="7608168" y="2294142"/>
            <a:ext cx="3096344" cy="2791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3069629"/>
      </p:ext>
    </p:extLst>
  </p:cSld>
  <p:clrMapOvr>
    <a:masterClrMapping/>
  </p:clrMapOvr>
  <p:transition spd="slow"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1625"/>
            <a:ext cx="7772400" cy="1143000"/>
          </a:xfrm>
          <a:noFill/>
        </p:spPr>
        <p:txBody>
          <a:bodyPr vert="horz" lIns="90488" tIns="44450" rIns="90488" bIns="44450" rtlCol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dirty="0">
                <a:solidFill>
                  <a:srgbClr val="002B60"/>
                </a:solidFill>
              </a:rPr>
              <a:t>High-Level Product Specification</a:t>
            </a:r>
            <a:br>
              <a:rPr lang="en-US" altLang="nl-NL" dirty="0">
                <a:solidFill>
                  <a:srgbClr val="002B60"/>
                </a:solidFill>
              </a:rPr>
            </a:br>
            <a:endParaRPr lang="en-US" altLang="nl-NL" dirty="0">
              <a:solidFill>
                <a:srgbClr val="002B60"/>
              </a:solidFill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816" y="1602856"/>
            <a:ext cx="4464496" cy="4104456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 lvl="1">
              <a:spcBef>
                <a:spcPct val="15000"/>
              </a:spcBef>
              <a:spcAft>
                <a:spcPct val="5000"/>
              </a:spcAft>
              <a:buFontTx/>
              <a:buChar char="-"/>
            </a:pPr>
            <a:r>
              <a:rPr lang="en-US" altLang="nl-NL" sz="1800" dirty="0">
                <a:solidFill>
                  <a:srgbClr val="168CD1"/>
                </a:solidFill>
              </a:rPr>
              <a:t>Draw up a brochure</a:t>
            </a:r>
          </a:p>
          <a:p>
            <a:pPr lvl="1">
              <a:spcBef>
                <a:spcPct val="15000"/>
              </a:spcBef>
              <a:spcAft>
                <a:spcPct val="5000"/>
              </a:spcAft>
              <a:buFontTx/>
              <a:buChar char="-"/>
            </a:pPr>
            <a:endParaRPr lang="en-US" altLang="nl-NL" sz="1800" dirty="0">
              <a:solidFill>
                <a:srgbClr val="168CD1"/>
              </a:solidFill>
            </a:endParaRPr>
          </a:p>
          <a:p>
            <a:pPr lvl="1">
              <a:spcBef>
                <a:spcPct val="15000"/>
              </a:spcBef>
              <a:spcAft>
                <a:spcPct val="5000"/>
              </a:spcAft>
              <a:buFontTx/>
              <a:buChar char="-"/>
            </a:pPr>
            <a:r>
              <a:rPr lang="en-US" altLang="nl-NL" sz="1800" dirty="0">
                <a:solidFill>
                  <a:srgbClr val="168CD1"/>
                </a:solidFill>
              </a:rPr>
              <a:t>Even if you will never use it</a:t>
            </a:r>
          </a:p>
          <a:p>
            <a:pPr lvl="1">
              <a:spcBef>
                <a:spcPct val="15000"/>
              </a:spcBef>
              <a:spcAft>
                <a:spcPct val="5000"/>
              </a:spcAft>
              <a:buFontTx/>
              <a:buChar char="-"/>
            </a:pPr>
            <a:endParaRPr lang="en-US" altLang="nl-NL" sz="1800" dirty="0">
              <a:solidFill>
                <a:srgbClr val="168CD1"/>
              </a:solidFill>
            </a:endParaRPr>
          </a:p>
          <a:p>
            <a:pPr lvl="1">
              <a:spcBef>
                <a:spcPct val="15000"/>
              </a:spcBef>
              <a:spcAft>
                <a:spcPct val="5000"/>
              </a:spcAft>
              <a:buFontTx/>
              <a:buChar char="-"/>
            </a:pPr>
            <a:r>
              <a:rPr lang="en-US" altLang="nl-NL" sz="1800" dirty="0">
                <a:solidFill>
                  <a:srgbClr val="168CD1"/>
                </a:solidFill>
              </a:rPr>
              <a:t>So why?</a:t>
            </a:r>
          </a:p>
          <a:p>
            <a:pPr lvl="1">
              <a:spcBef>
                <a:spcPct val="15000"/>
              </a:spcBef>
              <a:spcAft>
                <a:spcPct val="5000"/>
              </a:spcAft>
              <a:buFontTx/>
              <a:buChar char="-"/>
            </a:pPr>
            <a:endParaRPr lang="en-US" altLang="nl-NL" sz="1800" dirty="0">
              <a:solidFill>
                <a:srgbClr val="168CD1"/>
              </a:solidFill>
            </a:endParaRPr>
          </a:p>
          <a:p>
            <a:pPr lvl="1">
              <a:spcBef>
                <a:spcPct val="15000"/>
              </a:spcBef>
              <a:spcAft>
                <a:spcPct val="5000"/>
              </a:spcAft>
              <a:buFontTx/>
              <a:buChar char="-"/>
            </a:pPr>
            <a:r>
              <a:rPr lang="en-US" altLang="nl-NL" sz="1800" dirty="0">
                <a:solidFill>
                  <a:srgbClr val="168CD1"/>
                </a:solidFill>
              </a:rPr>
              <a:t>Makes it easy to communicate</a:t>
            </a:r>
          </a:p>
          <a:p>
            <a:pPr lvl="1">
              <a:spcBef>
                <a:spcPct val="15000"/>
              </a:spcBef>
              <a:spcAft>
                <a:spcPct val="5000"/>
              </a:spcAft>
              <a:buFontTx/>
              <a:buChar char="-"/>
            </a:pPr>
            <a:r>
              <a:rPr lang="en-US" altLang="nl-NL" sz="1800" dirty="0">
                <a:solidFill>
                  <a:srgbClr val="168CD1"/>
                </a:solidFill>
              </a:rPr>
              <a:t>Gives a focus on the user/ customer</a:t>
            </a:r>
          </a:p>
          <a:p>
            <a:pPr lvl="1">
              <a:spcBef>
                <a:spcPct val="15000"/>
              </a:spcBef>
              <a:spcAft>
                <a:spcPct val="5000"/>
              </a:spcAft>
              <a:buFontTx/>
              <a:buChar char="-"/>
            </a:pPr>
            <a:r>
              <a:rPr lang="en-US" altLang="nl-NL" sz="1800" dirty="0">
                <a:solidFill>
                  <a:srgbClr val="168CD1"/>
                </a:solidFill>
              </a:rPr>
              <a:t>Forces you to distinguish from others</a:t>
            </a:r>
          </a:p>
          <a:p>
            <a:pPr lvl="1">
              <a:spcBef>
                <a:spcPct val="15000"/>
              </a:spcBef>
              <a:spcAft>
                <a:spcPct val="5000"/>
              </a:spcAft>
              <a:buFontTx/>
              <a:buChar char="-"/>
            </a:pPr>
            <a:endParaRPr lang="en-US" altLang="nl-NL" sz="1800" dirty="0">
              <a:solidFill>
                <a:srgbClr val="168CD1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015"/>
          <a:stretch/>
        </p:blipFill>
        <p:spPr bwMode="auto">
          <a:xfrm>
            <a:off x="5795360" y="2466952"/>
            <a:ext cx="3742630" cy="2575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8496267"/>
      </p:ext>
    </p:extLst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24992" y="362472"/>
            <a:ext cx="7772400" cy="9271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marL="2243138" indent="-2243138"/>
            <a:r>
              <a:rPr lang="en-GB" altLang="nl-NL" sz="2800" dirty="0">
                <a:solidFill>
                  <a:srgbClr val="002B60"/>
                </a:solidFill>
              </a:rPr>
              <a:t>Again look at the early steps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54514" y="1144136"/>
            <a:ext cx="8869421" cy="496728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nl-NL" altLang="nl-NL" sz="2000" dirty="0">
                <a:solidFill>
                  <a:srgbClr val="168CD1"/>
                </a:solidFill>
              </a:rPr>
              <a:t>Value </a:t>
            </a:r>
            <a:r>
              <a:rPr lang="nl-NL" altLang="nl-NL" sz="2000" dirty="0" err="1">
                <a:solidFill>
                  <a:srgbClr val="168CD1"/>
                </a:solidFill>
              </a:rPr>
              <a:t>proposition</a:t>
            </a:r>
            <a:r>
              <a:rPr lang="nl-NL" altLang="nl-NL" sz="2000" dirty="0">
                <a:solidFill>
                  <a:srgbClr val="168CD1"/>
                </a:solidFill>
              </a:rPr>
              <a:t> canvas </a:t>
            </a:r>
            <a:r>
              <a:rPr lang="nl-NL" altLang="nl-NL" sz="2000" dirty="0">
                <a:solidFill>
                  <a:srgbClr val="168CD1"/>
                </a:solidFill>
                <a:sym typeface="Wingdings" panose="05000000000000000000" pitchFamily="2" charset="2"/>
              </a:rPr>
              <a:t> </a:t>
            </a:r>
            <a:r>
              <a:rPr lang="nl-NL" altLang="nl-NL" sz="2000" dirty="0" err="1">
                <a:solidFill>
                  <a:srgbClr val="168CD1"/>
                </a:solidFill>
                <a:sym typeface="Wingdings" panose="05000000000000000000" pitchFamily="2" charset="2"/>
              </a:rPr>
              <a:t>the</a:t>
            </a:r>
            <a:r>
              <a:rPr lang="nl-NL" altLang="nl-NL" sz="2000" dirty="0">
                <a:solidFill>
                  <a:srgbClr val="168CD1"/>
                </a:solidFill>
                <a:sym typeface="Wingdings" panose="05000000000000000000" pitchFamily="2" charset="2"/>
              </a:rPr>
              <a:t> </a:t>
            </a:r>
            <a:r>
              <a:rPr lang="nl-NL" altLang="nl-NL" sz="2000" dirty="0" err="1">
                <a:solidFill>
                  <a:srgbClr val="168CD1"/>
                </a:solidFill>
                <a:sym typeface="Wingdings" panose="05000000000000000000" pitchFamily="2" charset="2"/>
              </a:rPr>
              <a:t>pain</a:t>
            </a:r>
            <a:r>
              <a:rPr lang="nl-NL" altLang="nl-NL" sz="2000" dirty="0">
                <a:solidFill>
                  <a:srgbClr val="168CD1"/>
                </a:solidFill>
                <a:sym typeface="Wingdings" panose="05000000000000000000" pitchFamily="2" charset="2"/>
              </a:rPr>
              <a:t> </a:t>
            </a:r>
            <a:r>
              <a:rPr lang="nl-NL" altLang="nl-NL" sz="2000" dirty="0" err="1">
                <a:solidFill>
                  <a:srgbClr val="168CD1"/>
                </a:solidFill>
                <a:sym typeface="Wingdings" panose="05000000000000000000" pitchFamily="2" charset="2"/>
              </a:rPr>
              <a:t>and</a:t>
            </a:r>
            <a:r>
              <a:rPr lang="nl-NL" altLang="nl-NL" sz="2000" dirty="0">
                <a:solidFill>
                  <a:srgbClr val="168CD1"/>
                </a:solidFill>
                <a:sym typeface="Wingdings" panose="05000000000000000000" pitchFamily="2" charset="2"/>
              </a:rPr>
              <a:t> solution  pricing</a:t>
            </a:r>
          </a:p>
          <a:p>
            <a:pPr marL="457200" indent="-457200">
              <a:buFont typeface="+mj-lt"/>
              <a:buAutoNum type="arabicPeriod"/>
              <a:defRPr/>
            </a:pPr>
            <a:endParaRPr lang="nl-NL" altLang="nl-NL" sz="2000" dirty="0">
              <a:solidFill>
                <a:srgbClr val="168CD1"/>
              </a:solidFill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nl-NL" altLang="nl-NL" sz="2000" dirty="0">
                <a:solidFill>
                  <a:srgbClr val="168CD1"/>
                </a:solidFill>
              </a:rPr>
              <a:t>Select </a:t>
            </a:r>
            <a:r>
              <a:rPr lang="nl-NL" altLang="nl-NL" sz="2000" dirty="0" err="1">
                <a:solidFill>
                  <a:srgbClr val="168CD1"/>
                </a:solidFill>
              </a:rPr>
              <a:t>the</a:t>
            </a:r>
            <a:r>
              <a:rPr lang="nl-NL" altLang="nl-NL" sz="2000" dirty="0">
                <a:solidFill>
                  <a:srgbClr val="168CD1"/>
                </a:solidFill>
              </a:rPr>
              <a:t> </a:t>
            </a:r>
            <a:r>
              <a:rPr lang="nl-NL" altLang="nl-NL" sz="2000" dirty="0" err="1">
                <a:solidFill>
                  <a:srgbClr val="168CD1"/>
                </a:solidFill>
              </a:rPr>
              <a:t>Beachhead</a:t>
            </a:r>
            <a:endParaRPr lang="nl-NL" altLang="nl-NL" sz="2000" dirty="0">
              <a:solidFill>
                <a:srgbClr val="168CD1"/>
              </a:solidFill>
            </a:endParaRPr>
          </a:p>
          <a:p>
            <a:pPr marL="0" indent="0">
              <a:buNone/>
              <a:defRPr/>
            </a:pPr>
            <a:r>
              <a:rPr lang="en-GB" altLang="nl-NL" sz="2000" dirty="0">
                <a:solidFill>
                  <a:srgbClr val="168CD1"/>
                </a:solidFill>
              </a:rPr>
              <a:t>	</a:t>
            </a:r>
            <a:r>
              <a:rPr lang="en-GB" altLang="nl-NL" sz="1600" dirty="0">
                <a:solidFill>
                  <a:srgbClr val="168CD1"/>
                </a:solidFill>
              </a:rPr>
              <a:t>- easy entry, option to learn and possibility to grow</a:t>
            </a:r>
          </a:p>
          <a:p>
            <a:pPr marL="0" indent="0">
              <a:buNone/>
              <a:defRPr/>
            </a:pPr>
            <a:endParaRPr lang="nl-NL" altLang="nl-NL" sz="1600" dirty="0">
              <a:solidFill>
                <a:srgbClr val="168CD1"/>
              </a:solidFill>
            </a:endParaRPr>
          </a:p>
          <a:p>
            <a:pPr marL="457200" indent="-457200">
              <a:buFont typeface="+mj-lt"/>
              <a:buAutoNum type="arabicPeriod" startAt="3"/>
              <a:defRPr/>
            </a:pPr>
            <a:r>
              <a:rPr lang="en-GB" altLang="nl-NL" sz="2000" dirty="0">
                <a:solidFill>
                  <a:srgbClr val="168CD1"/>
                </a:solidFill>
              </a:rPr>
              <a:t>Build an end user profile</a:t>
            </a:r>
          </a:p>
          <a:p>
            <a:pPr marL="1179512" indent="-285750">
              <a:buFontTx/>
              <a:buChar char="-"/>
              <a:defRPr/>
            </a:pPr>
            <a:r>
              <a:rPr lang="en-GB" altLang="nl-NL" sz="1600" dirty="0">
                <a:solidFill>
                  <a:srgbClr val="168CD1"/>
                </a:solidFill>
              </a:rPr>
              <a:t>Clear understanding of the user business case</a:t>
            </a:r>
          </a:p>
          <a:p>
            <a:pPr marL="1179512" indent="-285750">
              <a:buFontTx/>
              <a:buChar char="-"/>
              <a:defRPr/>
            </a:pPr>
            <a:r>
              <a:rPr lang="en-GB" altLang="nl-NL" sz="1600" dirty="0">
                <a:solidFill>
                  <a:srgbClr val="168CD1"/>
                </a:solidFill>
              </a:rPr>
              <a:t>What is the value you bring </a:t>
            </a:r>
            <a:r>
              <a:rPr lang="en-GB" altLang="nl-NL" sz="1600" dirty="0">
                <a:solidFill>
                  <a:srgbClr val="168CD1"/>
                </a:solidFill>
                <a:sym typeface="Wingdings" panose="05000000000000000000" pitchFamily="2" charset="2"/>
              </a:rPr>
              <a:t> </a:t>
            </a:r>
            <a:r>
              <a:rPr lang="en-GB" altLang="nl-NL" sz="1600" dirty="0">
                <a:solidFill>
                  <a:srgbClr val="168CD1"/>
                </a:solidFill>
              </a:rPr>
              <a:t>build a user business case</a:t>
            </a:r>
          </a:p>
          <a:p>
            <a:pPr marL="1179512" indent="-285750">
              <a:buFontTx/>
              <a:buChar char="-"/>
              <a:defRPr/>
            </a:pPr>
            <a:endParaRPr lang="nl-NL" altLang="nl-NL" dirty="0">
              <a:solidFill>
                <a:srgbClr val="168CD1"/>
              </a:solidFill>
            </a:endParaRPr>
          </a:p>
          <a:p>
            <a:pPr marL="457200" indent="-457200">
              <a:buFont typeface="+mj-lt"/>
              <a:buAutoNum type="arabicPeriod" startAt="4"/>
              <a:defRPr/>
            </a:pPr>
            <a:r>
              <a:rPr lang="nl-NL" altLang="nl-NL" sz="2000" dirty="0">
                <a:solidFill>
                  <a:srgbClr val="168CD1"/>
                </a:solidFill>
              </a:rPr>
              <a:t>TAM versus SAM</a:t>
            </a:r>
          </a:p>
          <a:p>
            <a:pPr marL="0" indent="0">
              <a:buNone/>
              <a:tabLst>
                <a:tab pos="450850" algn="l"/>
              </a:tabLst>
              <a:defRPr/>
            </a:pPr>
            <a:r>
              <a:rPr lang="en-GB" altLang="nl-NL" sz="2000" dirty="0">
                <a:solidFill>
                  <a:srgbClr val="168CD1"/>
                </a:solidFill>
              </a:rPr>
              <a:t>	</a:t>
            </a:r>
            <a:r>
              <a:rPr lang="en-GB" altLang="nl-NL" sz="1600" dirty="0">
                <a:solidFill>
                  <a:srgbClr val="168CD1"/>
                </a:solidFill>
              </a:rPr>
              <a:t>- Total addressable market and what you can serve (SAM) in the first couple of years</a:t>
            </a:r>
            <a:r>
              <a:rPr lang="nl-NL" altLang="nl-NL" sz="2000" dirty="0">
                <a:solidFill>
                  <a:srgbClr val="168CD1"/>
                </a:solidFill>
              </a:rPr>
              <a:t> </a:t>
            </a:r>
          </a:p>
          <a:p>
            <a:pPr marL="0" indent="0">
              <a:buNone/>
              <a:tabLst>
                <a:tab pos="450850" algn="l"/>
              </a:tabLst>
              <a:defRPr/>
            </a:pPr>
            <a:r>
              <a:rPr lang="en-GB" altLang="nl-NL" sz="2000" dirty="0">
                <a:solidFill>
                  <a:srgbClr val="168CD1"/>
                </a:solidFill>
              </a:rPr>
              <a:t>	</a:t>
            </a:r>
            <a:r>
              <a:rPr lang="en-GB" altLang="nl-NL" sz="1600" dirty="0">
                <a:solidFill>
                  <a:srgbClr val="168CD1"/>
                </a:solidFill>
              </a:rPr>
              <a:t>- </a:t>
            </a:r>
            <a:r>
              <a:rPr lang="nl-NL" altLang="nl-NL" sz="1600" dirty="0" err="1">
                <a:solidFill>
                  <a:srgbClr val="168CD1"/>
                </a:solidFill>
              </a:rPr>
              <a:t>Develop</a:t>
            </a:r>
            <a:r>
              <a:rPr lang="nl-NL" altLang="nl-NL" sz="1600" dirty="0">
                <a:solidFill>
                  <a:srgbClr val="168CD1"/>
                </a:solidFill>
              </a:rPr>
              <a:t> </a:t>
            </a:r>
            <a:r>
              <a:rPr lang="nl-NL" altLang="nl-NL" sz="1600" dirty="0" err="1">
                <a:solidFill>
                  <a:srgbClr val="168CD1"/>
                </a:solidFill>
              </a:rPr>
              <a:t>good</a:t>
            </a:r>
            <a:r>
              <a:rPr lang="nl-NL" altLang="nl-NL" sz="1600" dirty="0">
                <a:solidFill>
                  <a:srgbClr val="168CD1"/>
                </a:solidFill>
              </a:rPr>
              <a:t> </a:t>
            </a:r>
            <a:r>
              <a:rPr lang="nl-NL" altLang="nl-NL" sz="1600" dirty="0" err="1">
                <a:solidFill>
                  <a:srgbClr val="168CD1"/>
                </a:solidFill>
              </a:rPr>
              <a:t>arguments</a:t>
            </a:r>
            <a:r>
              <a:rPr lang="nl-NL" altLang="nl-NL" sz="1600" dirty="0">
                <a:solidFill>
                  <a:srgbClr val="168CD1"/>
                </a:solidFill>
              </a:rPr>
              <a:t> for </a:t>
            </a:r>
            <a:r>
              <a:rPr lang="nl-NL" altLang="nl-NL" sz="1600" dirty="0" err="1">
                <a:solidFill>
                  <a:srgbClr val="168CD1"/>
                </a:solidFill>
              </a:rPr>
              <a:t>segmentation</a:t>
            </a:r>
            <a:r>
              <a:rPr lang="nl-NL" altLang="nl-NL" sz="1600" dirty="0">
                <a:solidFill>
                  <a:srgbClr val="168CD1"/>
                </a:solidFill>
              </a:rPr>
              <a:t> and market </a:t>
            </a:r>
            <a:r>
              <a:rPr lang="nl-NL" altLang="nl-NL" sz="1600" dirty="0" err="1">
                <a:solidFill>
                  <a:srgbClr val="168CD1"/>
                </a:solidFill>
              </a:rPr>
              <a:t>size</a:t>
            </a:r>
            <a:r>
              <a:rPr lang="nl-NL" altLang="nl-NL" sz="1600" dirty="0">
                <a:solidFill>
                  <a:srgbClr val="168CD1"/>
                </a:solidFill>
              </a:rPr>
              <a:t>/ </a:t>
            </a:r>
            <a:r>
              <a:rPr lang="nl-NL" altLang="nl-NL" sz="1600" dirty="0" err="1">
                <a:solidFill>
                  <a:srgbClr val="168CD1"/>
                </a:solidFill>
              </a:rPr>
              <a:t>growth</a:t>
            </a:r>
            <a:endParaRPr lang="nl-NL" altLang="nl-NL" sz="1600" dirty="0">
              <a:solidFill>
                <a:srgbClr val="168C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4165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25632" y="422600"/>
            <a:ext cx="7772400" cy="9271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>
            <a:noAutofit/>
          </a:bodyPr>
          <a:lstStyle/>
          <a:p>
            <a:r>
              <a:rPr lang="en-US" altLang="nl-NL" sz="3200" dirty="0">
                <a:solidFill>
                  <a:srgbClr val="002B60"/>
                </a:solidFill>
              </a:rPr>
              <a:t>Cost of Marketing : </a:t>
            </a:r>
            <a:br>
              <a:rPr lang="en-US" altLang="nl-NL" sz="3200" dirty="0">
                <a:solidFill>
                  <a:srgbClr val="002B60"/>
                </a:solidFill>
              </a:rPr>
            </a:br>
            <a:r>
              <a:rPr lang="en-US" altLang="nl-NL" sz="3200" dirty="0">
                <a:solidFill>
                  <a:srgbClr val="002B60"/>
                </a:solidFill>
              </a:rPr>
              <a:t>How do users know about your offer?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05376" y="2406824"/>
            <a:ext cx="8134350" cy="3167806"/>
          </a:xfrm>
        </p:spPr>
        <p:txBody>
          <a:bodyPr>
            <a:normAutofit lnSpcReduction="10000"/>
          </a:bodyPr>
          <a:lstStyle/>
          <a:p>
            <a:pPr marL="457200" indent="-457200">
              <a:spcBef>
                <a:spcPts val="300"/>
              </a:spcBef>
              <a:spcAft>
                <a:spcPts val="600"/>
              </a:spcAft>
              <a:buFont typeface="Tahoma" pitchFamily="34" charset="0"/>
              <a:buAutoNum type="arabicPeriod"/>
            </a:pPr>
            <a:r>
              <a:rPr lang="nl-NL" altLang="nl-NL" sz="2000" dirty="0" err="1">
                <a:solidFill>
                  <a:srgbClr val="168CD1"/>
                </a:solidFill>
              </a:rPr>
              <a:t>What</a:t>
            </a:r>
            <a:r>
              <a:rPr lang="nl-NL" altLang="nl-NL" sz="2000" dirty="0">
                <a:solidFill>
                  <a:srgbClr val="168CD1"/>
                </a:solidFill>
              </a:rPr>
              <a:t> steps does a customer take </a:t>
            </a:r>
            <a:r>
              <a:rPr lang="nl-NL" altLang="nl-NL" sz="2000" dirty="0" err="1">
                <a:solidFill>
                  <a:srgbClr val="168CD1"/>
                </a:solidFill>
              </a:rPr>
              <a:t>to</a:t>
            </a:r>
            <a:r>
              <a:rPr lang="nl-NL" altLang="nl-NL" sz="2000" dirty="0">
                <a:solidFill>
                  <a:srgbClr val="168CD1"/>
                </a:solidFill>
              </a:rPr>
              <a:t> make a </a:t>
            </a:r>
            <a:r>
              <a:rPr lang="nl-NL" altLang="nl-NL" sz="2000" dirty="0" err="1">
                <a:solidFill>
                  <a:srgbClr val="168CD1"/>
                </a:solidFill>
              </a:rPr>
              <a:t>buy</a:t>
            </a:r>
            <a:endParaRPr lang="nl-NL" altLang="nl-NL" sz="2000" dirty="0">
              <a:solidFill>
                <a:srgbClr val="168CD1"/>
              </a:solidFill>
            </a:endParaRPr>
          </a:p>
          <a:p>
            <a:pPr marL="457200" indent="-457200">
              <a:spcBef>
                <a:spcPts val="300"/>
              </a:spcBef>
              <a:spcAft>
                <a:spcPts val="600"/>
              </a:spcAft>
              <a:buFont typeface="Tahoma" pitchFamily="34" charset="0"/>
              <a:buAutoNum type="arabicPeriod"/>
            </a:pPr>
            <a:r>
              <a:rPr lang="nl-NL" altLang="nl-NL" sz="2000" dirty="0" err="1">
                <a:solidFill>
                  <a:srgbClr val="168CD1"/>
                </a:solidFill>
              </a:rPr>
              <a:t>Identify</a:t>
            </a:r>
            <a:r>
              <a:rPr lang="nl-NL" altLang="nl-NL" sz="2000" dirty="0">
                <a:solidFill>
                  <a:srgbClr val="168CD1"/>
                </a:solidFill>
              </a:rPr>
              <a:t> </a:t>
            </a:r>
            <a:r>
              <a:rPr lang="nl-NL" altLang="nl-NL" sz="2000" dirty="0" err="1">
                <a:solidFill>
                  <a:srgbClr val="168CD1"/>
                </a:solidFill>
              </a:rPr>
              <a:t>all</a:t>
            </a:r>
            <a:r>
              <a:rPr lang="nl-NL" altLang="nl-NL" sz="2000" dirty="0">
                <a:solidFill>
                  <a:srgbClr val="168CD1"/>
                </a:solidFill>
              </a:rPr>
              <a:t> </a:t>
            </a:r>
            <a:r>
              <a:rPr lang="nl-NL" altLang="nl-NL" sz="2000" dirty="0" err="1">
                <a:solidFill>
                  <a:srgbClr val="168CD1"/>
                </a:solidFill>
              </a:rPr>
              <a:t>the</a:t>
            </a:r>
            <a:r>
              <a:rPr lang="nl-NL" altLang="nl-NL" sz="2000" dirty="0">
                <a:solidFill>
                  <a:srgbClr val="168CD1"/>
                </a:solidFill>
              </a:rPr>
              <a:t> </a:t>
            </a:r>
            <a:r>
              <a:rPr lang="nl-NL" altLang="nl-NL" sz="2000" dirty="0" err="1">
                <a:solidFill>
                  <a:srgbClr val="168CD1"/>
                </a:solidFill>
              </a:rPr>
              <a:t>costs</a:t>
            </a:r>
            <a:r>
              <a:rPr lang="nl-NL" altLang="nl-NL" sz="2000" dirty="0">
                <a:solidFill>
                  <a:srgbClr val="168CD1"/>
                </a:solidFill>
              </a:rPr>
              <a:t> of sales </a:t>
            </a:r>
            <a:r>
              <a:rPr lang="nl-NL" altLang="nl-NL" sz="2000" dirty="0" err="1">
                <a:solidFill>
                  <a:srgbClr val="168CD1"/>
                </a:solidFill>
              </a:rPr>
              <a:t>and</a:t>
            </a:r>
            <a:r>
              <a:rPr lang="nl-NL" altLang="nl-NL" sz="2000" dirty="0">
                <a:solidFill>
                  <a:srgbClr val="168CD1"/>
                </a:solidFill>
              </a:rPr>
              <a:t> marketing</a:t>
            </a:r>
          </a:p>
          <a:p>
            <a:pPr marL="857250" lvl="1" indent="-457200">
              <a:spcBef>
                <a:spcPts val="300"/>
              </a:spcBef>
              <a:spcAft>
                <a:spcPts val="600"/>
              </a:spcAft>
              <a:buFont typeface="Tahoma" pitchFamily="34" charset="0"/>
              <a:buAutoNum type="arabicPeriod"/>
            </a:pPr>
            <a:r>
              <a:rPr lang="nl-NL" altLang="nl-NL" sz="2000" dirty="0">
                <a:solidFill>
                  <a:srgbClr val="168CD1"/>
                </a:solidFill>
              </a:rPr>
              <a:t>Brochures, flyers, </a:t>
            </a:r>
            <a:r>
              <a:rPr lang="nl-NL" altLang="nl-NL" sz="2000" dirty="0" err="1">
                <a:solidFill>
                  <a:srgbClr val="168CD1"/>
                </a:solidFill>
              </a:rPr>
              <a:t>salaries</a:t>
            </a:r>
            <a:r>
              <a:rPr lang="nl-NL" altLang="nl-NL" sz="2000" dirty="0">
                <a:solidFill>
                  <a:srgbClr val="168CD1"/>
                </a:solidFill>
              </a:rPr>
              <a:t> of </a:t>
            </a:r>
            <a:r>
              <a:rPr lang="nl-NL" altLang="nl-NL" sz="2000" dirty="0" err="1">
                <a:solidFill>
                  <a:srgbClr val="168CD1"/>
                </a:solidFill>
              </a:rPr>
              <a:t>salespeople</a:t>
            </a:r>
            <a:r>
              <a:rPr lang="nl-NL" altLang="nl-NL" sz="2000" dirty="0">
                <a:solidFill>
                  <a:srgbClr val="168CD1"/>
                </a:solidFill>
              </a:rPr>
              <a:t>, </a:t>
            </a:r>
            <a:r>
              <a:rPr lang="nl-NL" altLang="nl-NL" sz="2000" dirty="0" err="1">
                <a:solidFill>
                  <a:srgbClr val="168CD1"/>
                </a:solidFill>
              </a:rPr>
              <a:t>trade</a:t>
            </a:r>
            <a:r>
              <a:rPr lang="nl-NL" altLang="nl-NL" sz="2000" dirty="0">
                <a:solidFill>
                  <a:srgbClr val="168CD1"/>
                </a:solidFill>
              </a:rPr>
              <a:t> shows</a:t>
            </a:r>
          </a:p>
          <a:p>
            <a:pPr marL="857250" lvl="1" indent="-457200">
              <a:spcBef>
                <a:spcPts val="300"/>
              </a:spcBef>
              <a:spcAft>
                <a:spcPts val="600"/>
              </a:spcAft>
              <a:buFont typeface="Tahoma" pitchFamily="34" charset="0"/>
              <a:buAutoNum type="arabicPeriod"/>
            </a:pPr>
            <a:r>
              <a:rPr lang="nl-NL" altLang="nl-NL" sz="2000" dirty="0" err="1">
                <a:solidFill>
                  <a:srgbClr val="168CD1"/>
                </a:solidFill>
              </a:rPr>
              <a:t>Changing</a:t>
            </a:r>
            <a:r>
              <a:rPr lang="nl-NL" altLang="nl-NL" sz="2000" dirty="0">
                <a:solidFill>
                  <a:srgbClr val="168CD1"/>
                </a:solidFill>
              </a:rPr>
              <a:t> </a:t>
            </a:r>
            <a:r>
              <a:rPr lang="nl-NL" altLang="nl-NL" sz="2000" dirty="0" err="1">
                <a:solidFill>
                  <a:srgbClr val="168CD1"/>
                </a:solidFill>
              </a:rPr>
              <a:t>people</a:t>
            </a:r>
            <a:r>
              <a:rPr lang="nl-NL" altLang="nl-NL" sz="2000" dirty="0">
                <a:solidFill>
                  <a:srgbClr val="168CD1"/>
                </a:solidFill>
              </a:rPr>
              <a:t> in </a:t>
            </a:r>
            <a:r>
              <a:rPr lang="nl-NL" altLang="nl-NL" sz="2000" dirty="0" err="1">
                <a:solidFill>
                  <a:srgbClr val="168CD1"/>
                </a:solidFill>
              </a:rPr>
              <a:t>the</a:t>
            </a:r>
            <a:r>
              <a:rPr lang="nl-NL" altLang="nl-NL" sz="2000" dirty="0">
                <a:solidFill>
                  <a:srgbClr val="168CD1"/>
                </a:solidFill>
              </a:rPr>
              <a:t> DMU, new manager </a:t>
            </a:r>
            <a:r>
              <a:rPr lang="nl-NL" altLang="nl-NL" sz="2000" dirty="0" err="1">
                <a:solidFill>
                  <a:srgbClr val="168CD1"/>
                </a:solidFill>
              </a:rPr>
              <a:t>comes</a:t>
            </a:r>
            <a:r>
              <a:rPr lang="nl-NL" altLang="nl-NL" sz="2000" dirty="0">
                <a:solidFill>
                  <a:srgbClr val="168CD1"/>
                </a:solidFill>
              </a:rPr>
              <a:t> in</a:t>
            </a:r>
          </a:p>
          <a:p>
            <a:pPr marL="457200" indent="-457200">
              <a:spcBef>
                <a:spcPts val="300"/>
              </a:spcBef>
              <a:spcAft>
                <a:spcPts val="600"/>
              </a:spcAft>
              <a:buFont typeface="Tahoma" pitchFamily="34" charset="0"/>
              <a:buAutoNum type="arabicPeriod"/>
            </a:pPr>
            <a:endParaRPr lang="nl-NL" altLang="nl-NL" sz="2000" dirty="0">
              <a:solidFill>
                <a:srgbClr val="168CD1"/>
              </a:solidFill>
            </a:endParaRPr>
          </a:p>
          <a:p>
            <a:pPr marL="457200" indent="-457200">
              <a:spcBef>
                <a:spcPts val="300"/>
              </a:spcBef>
              <a:spcAft>
                <a:spcPts val="600"/>
              </a:spcAft>
              <a:buFont typeface="Tahoma" pitchFamily="34" charset="0"/>
              <a:buAutoNum type="arabicPeriod"/>
            </a:pPr>
            <a:r>
              <a:rPr lang="nl-NL" altLang="nl-NL" sz="2000" dirty="0" err="1">
                <a:solidFill>
                  <a:srgbClr val="168CD1"/>
                </a:solidFill>
              </a:rPr>
              <a:t>Identify</a:t>
            </a:r>
            <a:r>
              <a:rPr lang="nl-NL" altLang="nl-NL" sz="2000" dirty="0">
                <a:solidFill>
                  <a:srgbClr val="168CD1"/>
                </a:solidFill>
              </a:rPr>
              <a:t> </a:t>
            </a:r>
            <a:r>
              <a:rPr lang="nl-NL" altLang="nl-NL" sz="2000" dirty="0" err="1">
                <a:solidFill>
                  <a:srgbClr val="168CD1"/>
                </a:solidFill>
              </a:rPr>
              <a:t>the</a:t>
            </a:r>
            <a:r>
              <a:rPr lang="nl-NL" altLang="nl-NL" sz="2000" dirty="0">
                <a:solidFill>
                  <a:srgbClr val="168CD1"/>
                </a:solidFill>
              </a:rPr>
              <a:t> </a:t>
            </a:r>
            <a:r>
              <a:rPr lang="nl-NL" altLang="nl-NL" sz="2000" dirty="0" err="1">
                <a:solidFill>
                  <a:srgbClr val="168CD1"/>
                </a:solidFill>
              </a:rPr>
              <a:t>costs</a:t>
            </a:r>
            <a:r>
              <a:rPr lang="nl-NL" altLang="nl-NL" sz="2000" dirty="0">
                <a:solidFill>
                  <a:srgbClr val="168CD1"/>
                </a:solidFill>
              </a:rPr>
              <a:t> for </a:t>
            </a:r>
            <a:r>
              <a:rPr lang="nl-NL" altLang="nl-NL" sz="2000" dirty="0" err="1">
                <a:solidFill>
                  <a:srgbClr val="168CD1"/>
                </a:solidFill>
              </a:rPr>
              <a:t>the</a:t>
            </a:r>
            <a:r>
              <a:rPr lang="nl-NL" altLang="nl-NL" sz="2000" dirty="0">
                <a:solidFill>
                  <a:srgbClr val="168CD1"/>
                </a:solidFill>
              </a:rPr>
              <a:t> short, medium and long term</a:t>
            </a:r>
          </a:p>
          <a:p>
            <a:pPr marL="457200" indent="-457200">
              <a:spcBef>
                <a:spcPts val="300"/>
              </a:spcBef>
              <a:spcAft>
                <a:spcPts val="600"/>
              </a:spcAft>
              <a:buFont typeface="Tahoma" pitchFamily="34" charset="0"/>
              <a:buAutoNum type="arabicPeriod"/>
            </a:pPr>
            <a:endParaRPr lang="nl-NL" altLang="nl-NL" sz="2000" dirty="0">
              <a:solidFill>
                <a:srgbClr val="168CD1"/>
              </a:solidFill>
            </a:endParaRPr>
          </a:p>
          <a:p>
            <a:pPr marL="457200" indent="-457200">
              <a:spcBef>
                <a:spcPts val="300"/>
              </a:spcBef>
              <a:spcAft>
                <a:spcPts val="600"/>
              </a:spcAft>
              <a:buFont typeface="Tahoma" pitchFamily="34" charset="0"/>
              <a:buAutoNum type="arabicPeriod"/>
            </a:pPr>
            <a:r>
              <a:rPr lang="nl-NL" altLang="nl-NL" sz="2000" dirty="0">
                <a:solidFill>
                  <a:srgbClr val="168CD1"/>
                </a:solidFill>
              </a:rPr>
              <a:t>Make </a:t>
            </a:r>
            <a:r>
              <a:rPr lang="nl-NL" altLang="nl-NL" sz="2000" dirty="0" err="1">
                <a:solidFill>
                  <a:srgbClr val="168CD1"/>
                </a:solidFill>
              </a:rPr>
              <a:t>sure</a:t>
            </a:r>
            <a:r>
              <a:rPr lang="nl-NL" altLang="nl-NL" sz="2000" dirty="0">
                <a:solidFill>
                  <a:srgbClr val="168CD1"/>
                </a:solidFill>
              </a:rPr>
              <a:t> </a:t>
            </a:r>
            <a:r>
              <a:rPr lang="nl-NL" altLang="nl-NL" sz="2000" dirty="0" err="1">
                <a:solidFill>
                  <a:srgbClr val="168CD1"/>
                </a:solidFill>
              </a:rPr>
              <a:t>every</a:t>
            </a:r>
            <a:r>
              <a:rPr lang="nl-NL" altLang="nl-NL" sz="2000" dirty="0">
                <a:solidFill>
                  <a:srgbClr val="168CD1"/>
                </a:solidFill>
              </a:rPr>
              <a:t> effort is </a:t>
            </a:r>
            <a:r>
              <a:rPr lang="nl-NL" altLang="nl-NL" sz="2000" dirty="0" err="1">
                <a:solidFill>
                  <a:srgbClr val="168CD1"/>
                </a:solidFill>
              </a:rPr>
              <a:t>targeted</a:t>
            </a:r>
            <a:r>
              <a:rPr lang="nl-NL" altLang="nl-NL" sz="2000" dirty="0">
                <a:solidFill>
                  <a:srgbClr val="168CD1"/>
                </a:solidFill>
              </a:rPr>
              <a:t> at </a:t>
            </a:r>
            <a:r>
              <a:rPr lang="nl-NL" altLang="nl-NL" sz="2000" dirty="0" err="1">
                <a:solidFill>
                  <a:srgbClr val="168CD1"/>
                </a:solidFill>
              </a:rPr>
              <a:t>your</a:t>
            </a:r>
            <a:r>
              <a:rPr lang="nl-NL" altLang="nl-NL" sz="2000" dirty="0">
                <a:solidFill>
                  <a:srgbClr val="168CD1"/>
                </a:solidFill>
              </a:rPr>
              <a:t> user </a:t>
            </a:r>
            <a:r>
              <a:rPr lang="nl-NL" altLang="nl-NL" sz="2000" dirty="0" err="1">
                <a:solidFill>
                  <a:srgbClr val="168CD1"/>
                </a:solidFill>
              </a:rPr>
              <a:t>group</a:t>
            </a:r>
            <a:endParaRPr lang="nl-NL" altLang="nl-NL" sz="2000" dirty="0">
              <a:solidFill>
                <a:srgbClr val="168CD1"/>
              </a:solidFill>
            </a:endParaRPr>
          </a:p>
          <a:p>
            <a:pPr marL="857250" lvl="1" indent="-457200">
              <a:spcBef>
                <a:spcPts val="300"/>
              </a:spcBef>
              <a:spcAft>
                <a:spcPts val="600"/>
              </a:spcAft>
              <a:buFont typeface="Tahoma" pitchFamily="34" charset="0"/>
              <a:buAutoNum type="arabicPeriod"/>
            </a:pPr>
            <a:endParaRPr lang="nl-NL" altLang="nl-NL" sz="2000" dirty="0">
              <a:solidFill>
                <a:srgbClr val="168C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443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>
                <a:solidFill>
                  <a:srgbClr val="002B60"/>
                </a:solidFill>
              </a:rPr>
              <a:t>Decision Making Unit (DMU)</a:t>
            </a:r>
          </a:p>
        </p:txBody>
      </p:sp>
      <p:pic>
        <p:nvPicPr>
          <p:cNvPr id="9219" name="Picture 2" descr="C:\Users\aulet\Documents\Book on Entrepreneurship\Cartoons and Diagrams I Really Like\012 Decision Making Unit 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39" b="16508"/>
          <a:stretch>
            <a:fillRect/>
          </a:stretch>
        </p:blipFill>
        <p:spPr bwMode="auto">
          <a:xfrm>
            <a:off x="1738454" y="2364103"/>
            <a:ext cx="5543550" cy="3379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0523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64864" y="1269446"/>
            <a:ext cx="7924800" cy="431993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nl-NL" altLang="nl-NL" sz="2000" dirty="0" err="1">
                <a:solidFill>
                  <a:srgbClr val="168CD1"/>
                </a:solidFill>
              </a:rPr>
              <a:t>You</a:t>
            </a:r>
            <a:r>
              <a:rPr lang="nl-NL" altLang="nl-NL" sz="2000" dirty="0">
                <a:solidFill>
                  <a:srgbClr val="168CD1"/>
                </a:solidFill>
              </a:rPr>
              <a:t> target a user, but </a:t>
            </a:r>
            <a:r>
              <a:rPr lang="nl-NL" altLang="nl-NL" sz="2000" dirty="0" err="1">
                <a:solidFill>
                  <a:srgbClr val="168CD1"/>
                </a:solidFill>
              </a:rPr>
              <a:t>whom</a:t>
            </a:r>
            <a:r>
              <a:rPr lang="nl-NL" altLang="nl-NL" sz="2000" dirty="0">
                <a:solidFill>
                  <a:srgbClr val="168CD1"/>
                </a:solidFill>
              </a:rPr>
              <a:t>? </a:t>
            </a:r>
          </a:p>
          <a:p>
            <a:pPr marL="857250" lvl="1" indent="-457200">
              <a:spcAft>
                <a:spcPts val="600"/>
              </a:spcAft>
              <a:buFont typeface="Tahoma" pitchFamily="34" charset="0"/>
              <a:buAutoNum type="arabicPeriod"/>
            </a:pPr>
            <a:r>
              <a:rPr lang="nl-NL" altLang="nl-NL" sz="1800" dirty="0">
                <a:solidFill>
                  <a:srgbClr val="168CD1"/>
                </a:solidFill>
              </a:rPr>
              <a:t>End User: </a:t>
            </a:r>
            <a:r>
              <a:rPr lang="nl-NL" altLang="nl-NL" sz="1800" dirty="0" err="1">
                <a:solidFill>
                  <a:srgbClr val="168CD1"/>
                </a:solidFill>
              </a:rPr>
              <a:t>the</a:t>
            </a:r>
            <a:r>
              <a:rPr lang="nl-NL" altLang="nl-NL" sz="1800" dirty="0">
                <a:solidFill>
                  <a:srgbClr val="168CD1"/>
                </a:solidFill>
              </a:rPr>
              <a:t> person </a:t>
            </a:r>
            <a:r>
              <a:rPr lang="nl-NL" altLang="nl-NL" sz="1800" dirty="0" err="1">
                <a:solidFill>
                  <a:srgbClr val="168CD1"/>
                </a:solidFill>
              </a:rPr>
              <a:t>that</a:t>
            </a:r>
            <a:r>
              <a:rPr lang="nl-NL" altLang="nl-NL" sz="1800" dirty="0">
                <a:solidFill>
                  <a:srgbClr val="168CD1"/>
                </a:solidFill>
              </a:rPr>
              <a:t> </a:t>
            </a:r>
            <a:r>
              <a:rPr lang="nl-NL" altLang="nl-NL" sz="1800" dirty="0" err="1">
                <a:solidFill>
                  <a:srgbClr val="168CD1"/>
                </a:solidFill>
              </a:rPr>
              <a:t>actually</a:t>
            </a:r>
            <a:r>
              <a:rPr lang="nl-NL" altLang="nl-NL" sz="1800" dirty="0">
                <a:solidFill>
                  <a:srgbClr val="168CD1"/>
                </a:solidFill>
              </a:rPr>
              <a:t> </a:t>
            </a:r>
            <a:r>
              <a:rPr lang="nl-NL" altLang="nl-NL" sz="1800" dirty="0" err="1">
                <a:solidFill>
                  <a:srgbClr val="168CD1"/>
                </a:solidFill>
              </a:rPr>
              <a:t>uses</a:t>
            </a:r>
            <a:r>
              <a:rPr lang="nl-NL" altLang="nl-NL" sz="1800" dirty="0">
                <a:solidFill>
                  <a:srgbClr val="168CD1"/>
                </a:solidFill>
              </a:rPr>
              <a:t>/ </a:t>
            </a:r>
            <a:r>
              <a:rPr lang="nl-NL" altLang="nl-NL" sz="1800" dirty="0" err="1">
                <a:solidFill>
                  <a:srgbClr val="168CD1"/>
                </a:solidFill>
              </a:rPr>
              <a:t>needs</a:t>
            </a:r>
            <a:r>
              <a:rPr lang="nl-NL" altLang="nl-NL" sz="1800" dirty="0">
                <a:solidFill>
                  <a:srgbClr val="168CD1"/>
                </a:solidFill>
              </a:rPr>
              <a:t> </a:t>
            </a:r>
            <a:r>
              <a:rPr lang="nl-NL" altLang="nl-NL" sz="1800" dirty="0" err="1">
                <a:solidFill>
                  <a:srgbClr val="168CD1"/>
                </a:solidFill>
              </a:rPr>
              <a:t>the</a:t>
            </a:r>
            <a:r>
              <a:rPr lang="nl-NL" altLang="nl-NL" sz="1800" dirty="0">
                <a:solidFill>
                  <a:srgbClr val="168CD1"/>
                </a:solidFill>
              </a:rPr>
              <a:t> product or service</a:t>
            </a:r>
          </a:p>
          <a:p>
            <a:pPr marL="857250" lvl="1" indent="-457200">
              <a:spcAft>
                <a:spcPts val="600"/>
              </a:spcAft>
              <a:buFont typeface="Tahoma" pitchFamily="34" charset="0"/>
              <a:buAutoNum type="arabicPeriod"/>
            </a:pPr>
            <a:r>
              <a:rPr lang="nl-NL" altLang="nl-NL" sz="1800" dirty="0">
                <a:solidFill>
                  <a:srgbClr val="168CD1"/>
                </a:solidFill>
              </a:rPr>
              <a:t>Initiator/ </a:t>
            </a:r>
            <a:r>
              <a:rPr lang="nl-NL" altLang="nl-NL" sz="1800" dirty="0" err="1">
                <a:solidFill>
                  <a:srgbClr val="168CD1"/>
                </a:solidFill>
              </a:rPr>
              <a:t>Champion</a:t>
            </a:r>
            <a:r>
              <a:rPr lang="nl-NL" altLang="nl-NL" sz="1800" dirty="0">
                <a:solidFill>
                  <a:srgbClr val="168CD1"/>
                </a:solidFill>
              </a:rPr>
              <a:t>: </a:t>
            </a:r>
            <a:r>
              <a:rPr lang="nl-NL" altLang="nl-NL" sz="1800" dirty="0" err="1">
                <a:solidFill>
                  <a:srgbClr val="168CD1"/>
                </a:solidFill>
              </a:rPr>
              <a:t>Identifies</a:t>
            </a:r>
            <a:r>
              <a:rPr lang="nl-NL" altLang="nl-NL" sz="1800" dirty="0">
                <a:solidFill>
                  <a:srgbClr val="168CD1"/>
                </a:solidFill>
              </a:rPr>
              <a:t> the </a:t>
            </a:r>
            <a:r>
              <a:rPr lang="nl-NL" altLang="nl-NL" sz="1800" dirty="0" err="1">
                <a:solidFill>
                  <a:srgbClr val="168CD1"/>
                </a:solidFill>
              </a:rPr>
              <a:t>problem</a:t>
            </a:r>
            <a:r>
              <a:rPr lang="nl-NL" altLang="nl-NL" sz="1800" dirty="0">
                <a:solidFill>
                  <a:srgbClr val="168CD1"/>
                </a:solidFill>
              </a:rPr>
              <a:t> </a:t>
            </a:r>
            <a:r>
              <a:rPr lang="nl-NL" altLang="nl-NL" sz="1800" dirty="0" err="1">
                <a:solidFill>
                  <a:srgbClr val="168CD1"/>
                </a:solidFill>
              </a:rPr>
              <a:t>that</a:t>
            </a:r>
            <a:r>
              <a:rPr lang="nl-NL" altLang="nl-NL" sz="1800" dirty="0">
                <a:solidFill>
                  <a:srgbClr val="168CD1"/>
                </a:solidFill>
              </a:rPr>
              <a:t> </a:t>
            </a:r>
            <a:r>
              <a:rPr lang="nl-NL" altLang="nl-NL" sz="1800" dirty="0" err="1">
                <a:solidFill>
                  <a:srgbClr val="168CD1"/>
                </a:solidFill>
              </a:rPr>
              <a:t>needs</a:t>
            </a:r>
            <a:r>
              <a:rPr lang="nl-NL" altLang="nl-NL" sz="1800" dirty="0">
                <a:solidFill>
                  <a:srgbClr val="168CD1"/>
                </a:solidFill>
              </a:rPr>
              <a:t> </a:t>
            </a:r>
            <a:r>
              <a:rPr lang="nl-NL" altLang="nl-NL" sz="1800" dirty="0" err="1">
                <a:solidFill>
                  <a:srgbClr val="168CD1"/>
                </a:solidFill>
              </a:rPr>
              <a:t>to</a:t>
            </a:r>
            <a:r>
              <a:rPr lang="nl-NL" altLang="nl-NL" sz="1800" dirty="0">
                <a:solidFill>
                  <a:srgbClr val="168CD1"/>
                </a:solidFill>
              </a:rPr>
              <a:t> </a:t>
            </a:r>
            <a:r>
              <a:rPr lang="nl-NL" altLang="nl-NL" sz="1800" dirty="0" err="1">
                <a:solidFill>
                  <a:srgbClr val="168CD1"/>
                </a:solidFill>
              </a:rPr>
              <a:t>be</a:t>
            </a:r>
            <a:r>
              <a:rPr lang="nl-NL" altLang="nl-NL" sz="1800" dirty="0">
                <a:solidFill>
                  <a:srgbClr val="168CD1"/>
                </a:solidFill>
              </a:rPr>
              <a:t> </a:t>
            </a:r>
            <a:r>
              <a:rPr lang="nl-NL" altLang="nl-NL" sz="1800" dirty="0" err="1">
                <a:solidFill>
                  <a:srgbClr val="168CD1"/>
                </a:solidFill>
              </a:rPr>
              <a:t>overcome</a:t>
            </a:r>
            <a:endParaRPr lang="nl-NL" altLang="nl-NL" sz="1800" dirty="0">
              <a:solidFill>
                <a:srgbClr val="168CD1"/>
              </a:solidFill>
            </a:endParaRPr>
          </a:p>
          <a:p>
            <a:pPr marL="857250" lvl="1" indent="-457200">
              <a:spcAft>
                <a:spcPts val="600"/>
              </a:spcAft>
              <a:buFont typeface="Tahoma" pitchFamily="34" charset="0"/>
              <a:buAutoNum type="arabicPeriod"/>
            </a:pPr>
            <a:r>
              <a:rPr lang="nl-NL" altLang="nl-NL" sz="1800" dirty="0">
                <a:solidFill>
                  <a:srgbClr val="168CD1"/>
                </a:solidFill>
              </a:rPr>
              <a:t>Gatekeeper: </a:t>
            </a:r>
            <a:r>
              <a:rPr lang="nl-NL" altLang="nl-NL" sz="1800" dirty="0" err="1">
                <a:solidFill>
                  <a:srgbClr val="168CD1"/>
                </a:solidFill>
              </a:rPr>
              <a:t>Provides</a:t>
            </a:r>
            <a:r>
              <a:rPr lang="nl-NL" altLang="nl-NL" sz="1800" dirty="0">
                <a:solidFill>
                  <a:srgbClr val="168CD1"/>
                </a:solidFill>
              </a:rPr>
              <a:t> and </a:t>
            </a:r>
            <a:r>
              <a:rPr lang="nl-NL" altLang="nl-NL" sz="1800" dirty="0" err="1">
                <a:solidFill>
                  <a:srgbClr val="168CD1"/>
                </a:solidFill>
              </a:rPr>
              <a:t>denies</a:t>
            </a:r>
            <a:r>
              <a:rPr lang="nl-NL" altLang="nl-NL" sz="1800" dirty="0">
                <a:solidFill>
                  <a:srgbClr val="168CD1"/>
                </a:solidFill>
              </a:rPr>
              <a:t> access </a:t>
            </a:r>
            <a:r>
              <a:rPr lang="nl-NL" altLang="nl-NL" sz="1800" dirty="0" err="1">
                <a:solidFill>
                  <a:srgbClr val="168CD1"/>
                </a:solidFill>
              </a:rPr>
              <a:t>to</a:t>
            </a:r>
            <a:r>
              <a:rPr lang="nl-NL" altLang="nl-NL" sz="1800" dirty="0">
                <a:solidFill>
                  <a:srgbClr val="168CD1"/>
                </a:solidFill>
              </a:rPr>
              <a:t> the members 	of </a:t>
            </a:r>
            <a:r>
              <a:rPr lang="nl-NL" altLang="nl-NL" sz="1800" dirty="0" err="1">
                <a:solidFill>
                  <a:srgbClr val="168CD1"/>
                </a:solidFill>
              </a:rPr>
              <a:t>the</a:t>
            </a:r>
            <a:r>
              <a:rPr lang="nl-NL" altLang="nl-NL" sz="1800" dirty="0">
                <a:solidFill>
                  <a:srgbClr val="168CD1"/>
                </a:solidFill>
              </a:rPr>
              <a:t> DMU, but </a:t>
            </a:r>
            <a:r>
              <a:rPr lang="nl-NL" altLang="nl-NL" sz="1800" dirty="0" err="1">
                <a:solidFill>
                  <a:srgbClr val="168CD1"/>
                </a:solidFill>
              </a:rPr>
              <a:t>may</a:t>
            </a:r>
            <a:r>
              <a:rPr lang="nl-NL" altLang="nl-NL" sz="1800" dirty="0">
                <a:solidFill>
                  <a:srgbClr val="168CD1"/>
                </a:solidFill>
              </a:rPr>
              <a:t> </a:t>
            </a:r>
            <a:r>
              <a:rPr lang="nl-NL" altLang="nl-NL" sz="1800" dirty="0" err="1">
                <a:solidFill>
                  <a:srgbClr val="168CD1"/>
                </a:solidFill>
              </a:rPr>
              <a:t>also</a:t>
            </a:r>
            <a:r>
              <a:rPr lang="nl-NL" altLang="nl-NL" sz="1800" dirty="0">
                <a:solidFill>
                  <a:srgbClr val="168CD1"/>
                </a:solidFill>
              </a:rPr>
              <a:t> forward information</a:t>
            </a:r>
          </a:p>
          <a:p>
            <a:pPr marL="857250" lvl="1" indent="-457200">
              <a:spcAft>
                <a:spcPts val="600"/>
              </a:spcAft>
              <a:buFont typeface="+mj-lt"/>
              <a:buAutoNum type="arabicPeriod" startAt="4"/>
            </a:pPr>
            <a:r>
              <a:rPr lang="nl-NL" altLang="nl-NL" sz="1800" dirty="0" err="1">
                <a:solidFill>
                  <a:srgbClr val="168CD1"/>
                </a:solidFill>
              </a:rPr>
              <a:t>Influencer</a:t>
            </a:r>
            <a:r>
              <a:rPr lang="nl-NL" altLang="nl-NL" sz="1800" dirty="0">
                <a:solidFill>
                  <a:srgbClr val="168CD1"/>
                </a:solidFill>
              </a:rPr>
              <a:t>: Is </a:t>
            </a:r>
            <a:r>
              <a:rPr lang="nl-NL" altLang="nl-NL" sz="1800" dirty="0" err="1">
                <a:solidFill>
                  <a:srgbClr val="168CD1"/>
                </a:solidFill>
              </a:rPr>
              <a:t>not</a:t>
            </a:r>
            <a:r>
              <a:rPr lang="nl-NL" altLang="nl-NL" sz="1800" dirty="0">
                <a:solidFill>
                  <a:srgbClr val="168CD1"/>
                </a:solidFill>
              </a:rPr>
              <a:t> </a:t>
            </a:r>
            <a:r>
              <a:rPr lang="nl-NL" altLang="nl-NL" sz="1800" dirty="0" err="1">
                <a:solidFill>
                  <a:srgbClr val="168CD1"/>
                </a:solidFill>
              </a:rPr>
              <a:t>directly</a:t>
            </a:r>
            <a:r>
              <a:rPr lang="nl-NL" altLang="nl-NL" sz="1800" dirty="0">
                <a:solidFill>
                  <a:srgbClr val="168CD1"/>
                </a:solidFill>
              </a:rPr>
              <a:t> </a:t>
            </a:r>
            <a:r>
              <a:rPr lang="nl-NL" altLang="nl-NL" sz="1800" dirty="0" err="1">
                <a:solidFill>
                  <a:srgbClr val="168CD1"/>
                </a:solidFill>
              </a:rPr>
              <a:t>responsible</a:t>
            </a:r>
            <a:r>
              <a:rPr lang="nl-NL" altLang="nl-NL" sz="1800" dirty="0">
                <a:solidFill>
                  <a:srgbClr val="168CD1"/>
                </a:solidFill>
              </a:rPr>
              <a:t> </a:t>
            </a:r>
            <a:r>
              <a:rPr lang="nl-NL" altLang="nl-NL" sz="1800" dirty="0" err="1">
                <a:solidFill>
                  <a:srgbClr val="168CD1"/>
                </a:solidFill>
              </a:rPr>
              <a:t>for</a:t>
            </a:r>
            <a:r>
              <a:rPr lang="nl-NL" altLang="nl-NL" sz="1800" dirty="0">
                <a:solidFill>
                  <a:srgbClr val="168CD1"/>
                </a:solidFill>
              </a:rPr>
              <a:t> the </a:t>
            </a:r>
            <a:r>
              <a:rPr lang="nl-NL" altLang="nl-NL" sz="1800" dirty="0" err="1">
                <a:solidFill>
                  <a:srgbClr val="168CD1"/>
                </a:solidFill>
              </a:rPr>
              <a:t>decision</a:t>
            </a:r>
            <a:r>
              <a:rPr lang="nl-NL" altLang="nl-NL" sz="1800" dirty="0">
                <a:solidFill>
                  <a:srgbClr val="168CD1"/>
                </a:solidFill>
              </a:rPr>
              <a:t> but has significant </a:t>
            </a:r>
            <a:r>
              <a:rPr lang="nl-NL" altLang="nl-NL" sz="1800" dirty="0" err="1">
                <a:solidFill>
                  <a:srgbClr val="168CD1"/>
                </a:solidFill>
              </a:rPr>
              <a:t>influence</a:t>
            </a:r>
            <a:r>
              <a:rPr lang="nl-NL" altLang="nl-NL" sz="1800" dirty="0">
                <a:solidFill>
                  <a:srgbClr val="168CD1"/>
                </a:solidFill>
              </a:rPr>
              <a:t> on </a:t>
            </a:r>
            <a:r>
              <a:rPr lang="nl-NL" altLang="nl-NL" sz="1800" dirty="0" err="1">
                <a:solidFill>
                  <a:srgbClr val="168CD1"/>
                </a:solidFill>
              </a:rPr>
              <a:t>it</a:t>
            </a:r>
            <a:endParaRPr lang="nl-NL" altLang="nl-NL" sz="1800" dirty="0">
              <a:solidFill>
                <a:srgbClr val="168CD1"/>
              </a:solidFill>
            </a:endParaRPr>
          </a:p>
          <a:p>
            <a:pPr marL="857250" lvl="1" indent="-457200">
              <a:spcAft>
                <a:spcPts val="600"/>
              </a:spcAft>
              <a:buFont typeface="+mj-lt"/>
              <a:buAutoNum type="arabicPeriod" startAt="5"/>
            </a:pPr>
            <a:r>
              <a:rPr lang="nl-NL" altLang="nl-NL" sz="1800" dirty="0" err="1">
                <a:solidFill>
                  <a:srgbClr val="168CD1"/>
                </a:solidFill>
              </a:rPr>
              <a:t>Economic</a:t>
            </a:r>
            <a:r>
              <a:rPr lang="nl-NL" altLang="nl-NL" sz="1800" dirty="0">
                <a:solidFill>
                  <a:srgbClr val="168CD1"/>
                </a:solidFill>
              </a:rPr>
              <a:t> </a:t>
            </a:r>
            <a:r>
              <a:rPr lang="nl-NL" altLang="nl-NL" sz="1800" dirty="0" err="1">
                <a:solidFill>
                  <a:srgbClr val="168CD1"/>
                </a:solidFill>
              </a:rPr>
              <a:t>decider</a:t>
            </a:r>
            <a:r>
              <a:rPr lang="nl-NL" altLang="nl-NL" sz="1800" dirty="0">
                <a:solidFill>
                  <a:srgbClr val="168CD1"/>
                </a:solidFill>
              </a:rPr>
              <a:t>: The </a:t>
            </a:r>
            <a:r>
              <a:rPr lang="nl-NL" altLang="nl-NL" sz="1800" dirty="0" err="1">
                <a:solidFill>
                  <a:srgbClr val="168CD1"/>
                </a:solidFill>
              </a:rPr>
              <a:t>individual</a:t>
            </a:r>
            <a:r>
              <a:rPr lang="nl-NL" altLang="nl-NL" sz="1800" dirty="0">
                <a:solidFill>
                  <a:srgbClr val="168CD1"/>
                </a:solidFill>
              </a:rPr>
              <a:t> </a:t>
            </a:r>
            <a:r>
              <a:rPr lang="nl-NL" altLang="nl-NL" sz="1800" dirty="0" err="1">
                <a:solidFill>
                  <a:srgbClr val="168CD1"/>
                </a:solidFill>
              </a:rPr>
              <a:t>that</a:t>
            </a:r>
            <a:r>
              <a:rPr lang="nl-NL" altLang="nl-NL" sz="1800" dirty="0">
                <a:solidFill>
                  <a:srgbClr val="168CD1"/>
                </a:solidFill>
              </a:rPr>
              <a:t> </a:t>
            </a:r>
            <a:r>
              <a:rPr lang="nl-NL" altLang="nl-NL" sz="1800" dirty="0" err="1">
                <a:solidFill>
                  <a:srgbClr val="168CD1"/>
                </a:solidFill>
              </a:rPr>
              <a:t>makes</a:t>
            </a:r>
            <a:r>
              <a:rPr lang="nl-NL" altLang="nl-NL" sz="1800" dirty="0">
                <a:solidFill>
                  <a:srgbClr val="168CD1"/>
                </a:solidFill>
              </a:rPr>
              <a:t> the </a:t>
            </a:r>
            <a:r>
              <a:rPr lang="nl-NL" altLang="nl-NL" sz="1800" dirty="0" err="1">
                <a:solidFill>
                  <a:srgbClr val="168CD1"/>
                </a:solidFill>
              </a:rPr>
              <a:t>final</a:t>
            </a:r>
            <a:r>
              <a:rPr lang="nl-NL" altLang="nl-NL" sz="1800" dirty="0">
                <a:solidFill>
                  <a:srgbClr val="168CD1"/>
                </a:solidFill>
              </a:rPr>
              <a:t> </a:t>
            </a:r>
            <a:r>
              <a:rPr lang="nl-NL" altLang="nl-NL" sz="1800" dirty="0" err="1">
                <a:solidFill>
                  <a:srgbClr val="168CD1"/>
                </a:solidFill>
              </a:rPr>
              <a:t>decision</a:t>
            </a:r>
            <a:r>
              <a:rPr lang="nl-NL" altLang="nl-NL" sz="1800" dirty="0">
                <a:solidFill>
                  <a:srgbClr val="168CD1"/>
                </a:solidFill>
              </a:rPr>
              <a:t> </a:t>
            </a:r>
            <a:r>
              <a:rPr lang="nl-NL" altLang="nl-NL" sz="1800" dirty="0" err="1">
                <a:solidFill>
                  <a:srgbClr val="168CD1"/>
                </a:solidFill>
              </a:rPr>
              <a:t>to</a:t>
            </a:r>
            <a:r>
              <a:rPr lang="nl-NL" altLang="nl-NL" sz="1800" dirty="0">
                <a:solidFill>
                  <a:srgbClr val="168CD1"/>
                </a:solidFill>
              </a:rPr>
              <a:t> </a:t>
            </a:r>
            <a:r>
              <a:rPr lang="nl-NL" altLang="nl-NL" sz="1800" dirty="0" err="1">
                <a:solidFill>
                  <a:srgbClr val="168CD1"/>
                </a:solidFill>
              </a:rPr>
              <a:t>buy</a:t>
            </a:r>
            <a:r>
              <a:rPr lang="nl-NL" altLang="nl-NL" sz="1800" dirty="0">
                <a:solidFill>
                  <a:srgbClr val="168CD1"/>
                </a:solidFill>
              </a:rPr>
              <a:t> or </a:t>
            </a:r>
            <a:r>
              <a:rPr lang="nl-NL" altLang="nl-NL" sz="1800" dirty="0" err="1">
                <a:solidFill>
                  <a:srgbClr val="168CD1"/>
                </a:solidFill>
              </a:rPr>
              <a:t>not</a:t>
            </a:r>
            <a:r>
              <a:rPr lang="nl-NL" altLang="nl-NL" sz="1800" dirty="0">
                <a:solidFill>
                  <a:srgbClr val="168CD1"/>
                </a:solidFill>
              </a:rPr>
              <a:t>, </a:t>
            </a:r>
            <a:r>
              <a:rPr lang="nl-NL" altLang="nl-NL" sz="1800" dirty="0" err="1">
                <a:solidFill>
                  <a:srgbClr val="168CD1"/>
                </a:solidFill>
              </a:rPr>
              <a:t>typically</a:t>
            </a:r>
            <a:r>
              <a:rPr lang="nl-NL" altLang="nl-NL" sz="1800" dirty="0">
                <a:solidFill>
                  <a:srgbClr val="168CD1"/>
                </a:solidFill>
              </a:rPr>
              <a:t> budget </a:t>
            </a:r>
            <a:r>
              <a:rPr lang="nl-NL" altLang="nl-NL" sz="1800" dirty="0" err="1">
                <a:solidFill>
                  <a:srgbClr val="168CD1"/>
                </a:solidFill>
              </a:rPr>
              <a:t>holder</a:t>
            </a:r>
            <a:endParaRPr lang="nl-NL" altLang="nl-NL" sz="1800" dirty="0">
              <a:solidFill>
                <a:srgbClr val="168CD1"/>
              </a:solidFill>
            </a:endParaRPr>
          </a:p>
          <a:p>
            <a:pPr marL="857250" lvl="1" indent="-457200">
              <a:spcAft>
                <a:spcPts val="600"/>
              </a:spcAft>
              <a:buFont typeface="+mj-lt"/>
              <a:buAutoNum type="arabicPeriod" startAt="6"/>
            </a:pPr>
            <a:r>
              <a:rPr lang="nl-NL" altLang="nl-NL" sz="1800" dirty="0" err="1">
                <a:solidFill>
                  <a:srgbClr val="168CD1"/>
                </a:solidFill>
              </a:rPr>
              <a:t>Purchaser</a:t>
            </a:r>
            <a:r>
              <a:rPr lang="nl-NL" altLang="nl-NL" sz="1800" dirty="0">
                <a:solidFill>
                  <a:srgbClr val="168CD1"/>
                </a:solidFill>
              </a:rPr>
              <a:t> (</a:t>
            </a:r>
            <a:r>
              <a:rPr lang="nl-NL" altLang="nl-NL" sz="1800" dirty="0" err="1">
                <a:solidFill>
                  <a:srgbClr val="168CD1"/>
                </a:solidFill>
              </a:rPr>
              <a:t>department</a:t>
            </a:r>
            <a:r>
              <a:rPr lang="nl-NL" altLang="nl-NL" sz="1800" dirty="0">
                <a:solidFill>
                  <a:srgbClr val="168CD1"/>
                </a:solidFill>
              </a:rPr>
              <a:t>) </a:t>
            </a:r>
            <a:r>
              <a:rPr lang="nl-NL" altLang="nl-NL" sz="1800" dirty="0" err="1">
                <a:solidFill>
                  <a:srgbClr val="168CD1"/>
                </a:solidFill>
              </a:rPr>
              <a:t>carries</a:t>
            </a:r>
            <a:r>
              <a:rPr lang="nl-NL" altLang="nl-NL" sz="1800" dirty="0">
                <a:solidFill>
                  <a:srgbClr val="168CD1"/>
                </a:solidFill>
              </a:rPr>
              <a:t> out the </a:t>
            </a:r>
            <a:r>
              <a:rPr lang="nl-NL" altLang="nl-NL" sz="1800" dirty="0" err="1">
                <a:solidFill>
                  <a:srgbClr val="168CD1"/>
                </a:solidFill>
              </a:rPr>
              <a:t>buying</a:t>
            </a:r>
            <a:r>
              <a:rPr lang="nl-NL" altLang="nl-NL" sz="1800" dirty="0">
                <a:solidFill>
                  <a:srgbClr val="168CD1"/>
                </a:solidFill>
              </a:rPr>
              <a:t> </a:t>
            </a:r>
            <a:r>
              <a:rPr lang="nl-NL" altLang="nl-NL" sz="1800" dirty="0" err="1">
                <a:solidFill>
                  <a:srgbClr val="168CD1"/>
                </a:solidFill>
              </a:rPr>
              <a:t>process</a:t>
            </a:r>
            <a:r>
              <a:rPr lang="nl-NL" altLang="nl-NL" sz="1800" dirty="0">
                <a:solidFill>
                  <a:srgbClr val="168CD1"/>
                </a:solidFill>
              </a:rPr>
              <a:t>, negotiaties</a:t>
            </a:r>
          </a:p>
          <a:p>
            <a:pPr marL="400050" lvl="1" indent="0">
              <a:spcAft>
                <a:spcPts val="600"/>
              </a:spcAft>
              <a:buNone/>
            </a:pPr>
            <a:endParaRPr lang="nl-NL" altLang="nl-NL" sz="1800" dirty="0">
              <a:solidFill>
                <a:srgbClr val="168CD1"/>
              </a:solidFill>
            </a:endParaRPr>
          </a:p>
          <a:p>
            <a:pPr marL="457200" indent="-457200">
              <a:lnSpc>
                <a:spcPct val="150000"/>
              </a:lnSpc>
              <a:buFont typeface="Tahoma" pitchFamily="34" charset="0"/>
              <a:buAutoNum type="arabicPeriod"/>
            </a:pPr>
            <a:endParaRPr lang="nl-NL" altLang="nl-NL" dirty="0">
              <a:solidFill>
                <a:srgbClr val="168CD1"/>
              </a:solidFill>
            </a:endParaRPr>
          </a:p>
          <a:p>
            <a:pPr marL="457200" indent="-457200">
              <a:lnSpc>
                <a:spcPct val="150000"/>
              </a:lnSpc>
              <a:buFont typeface="Tahoma" pitchFamily="34" charset="0"/>
              <a:buAutoNum type="arabicPeriod"/>
            </a:pPr>
            <a:endParaRPr lang="nl-NL" altLang="nl-NL" dirty="0">
              <a:solidFill>
                <a:srgbClr val="168CD1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225632" y="342346"/>
            <a:ext cx="777240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99C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99CC"/>
                </a:solidFill>
                <a:latin typeface="Tahoma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99CC"/>
                </a:solidFill>
                <a:latin typeface="Tahoma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99CC"/>
                </a:solidFill>
                <a:latin typeface="Tahoma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99CC"/>
                </a:solidFill>
                <a:latin typeface="Tahoma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99CC"/>
                </a:solidFill>
                <a:latin typeface="Tahoma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99CC"/>
                </a:solidFill>
                <a:latin typeface="Tahoma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99CC"/>
                </a:solidFill>
                <a:latin typeface="Tahoma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99CC"/>
                </a:solidFill>
                <a:latin typeface="Tahoma" charset="0"/>
              </a:defRPr>
            </a:lvl9pPr>
          </a:lstStyle>
          <a:p>
            <a:r>
              <a:rPr lang="en-GB" altLang="nl-NL" dirty="0">
                <a:solidFill>
                  <a:srgbClr val="002B60"/>
                </a:solidFill>
              </a:rPr>
              <a:t>Decision Making Unit of your customer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912" y="2901503"/>
            <a:ext cx="1122333" cy="105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1504" y="4932200"/>
            <a:ext cx="1881188" cy="102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039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985120" y="362478"/>
            <a:ext cx="7772400" cy="9271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r>
              <a:rPr lang="en-GB" altLang="nl-NL" sz="2800" dirty="0">
                <a:solidFill>
                  <a:srgbClr val="002B60"/>
                </a:solidFill>
              </a:rPr>
              <a:t>Decision Making Unit of your User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06" t="33294" r="2538" b="13908"/>
          <a:stretch/>
        </p:blipFill>
        <p:spPr bwMode="auto">
          <a:xfrm>
            <a:off x="2127552" y="824023"/>
            <a:ext cx="7464056" cy="5209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kstvak 1"/>
          <p:cNvSpPr txBox="1"/>
          <p:nvPr/>
        </p:nvSpPr>
        <p:spPr>
          <a:xfrm>
            <a:off x="360257" y="3008104"/>
            <a:ext cx="19476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>
                <a:solidFill>
                  <a:srgbClr val="000000"/>
                </a:solidFill>
              </a:rPr>
              <a:t>electronic medical records</a:t>
            </a:r>
            <a:r>
              <a:rPr lang="en-GB" sz="1600" dirty="0">
                <a:solidFill>
                  <a:srgbClr val="000000"/>
                </a:solidFill>
              </a:rPr>
              <a:t> (</a:t>
            </a:r>
            <a:r>
              <a:rPr lang="en-GB" sz="1600" i="1" dirty="0">
                <a:solidFill>
                  <a:srgbClr val="000000"/>
                </a:solidFill>
              </a:rPr>
              <a:t>EMR</a:t>
            </a:r>
            <a:r>
              <a:rPr lang="en-GB" sz="1600" dirty="0">
                <a:solidFill>
                  <a:srgbClr val="000000"/>
                </a:solidFill>
              </a:rPr>
              <a:t>) </a:t>
            </a:r>
          </a:p>
        </p:txBody>
      </p:sp>
      <p:cxnSp>
        <p:nvCxnSpPr>
          <p:cNvPr id="4" name="Straight Arrow Connector 3"/>
          <p:cNvCxnSpPr/>
          <p:nvPr/>
        </p:nvCxnSpPr>
        <p:spPr bwMode="auto">
          <a:xfrm flipH="1">
            <a:off x="9450128" y="4892013"/>
            <a:ext cx="47928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flipH="1">
            <a:off x="9463168" y="4391048"/>
            <a:ext cx="47928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314696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32907" y="362472"/>
            <a:ext cx="7772400" cy="9271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marL="2243138" indent="-2243138"/>
            <a:r>
              <a:rPr lang="en-GB" altLang="nl-NL" sz="2800" dirty="0">
                <a:solidFill>
                  <a:srgbClr val="002B60"/>
                </a:solidFill>
              </a:rPr>
              <a:t>Time and Cost of getting to your user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25632" y="1084008"/>
          <a:ext cx="6840762" cy="4829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878">
                  <a:extLst>
                    <a:ext uri="{9D8B030D-6E8A-4147-A177-3AD203B41FA5}">
                      <a16:colId xmlns:a16="http://schemas.microsoft.com/office/drawing/2014/main" val="4056386457"/>
                    </a:ext>
                  </a:extLst>
                </a:gridCol>
                <a:gridCol w="1324389">
                  <a:extLst>
                    <a:ext uri="{9D8B030D-6E8A-4147-A177-3AD203B41FA5}">
                      <a16:colId xmlns:a16="http://schemas.microsoft.com/office/drawing/2014/main" val="4245896211"/>
                    </a:ext>
                  </a:extLst>
                </a:gridCol>
                <a:gridCol w="1312873">
                  <a:extLst>
                    <a:ext uri="{9D8B030D-6E8A-4147-A177-3AD203B41FA5}">
                      <a16:colId xmlns:a16="http://schemas.microsoft.com/office/drawing/2014/main" val="1838357001"/>
                    </a:ext>
                  </a:extLst>
                </a:gridCol>
                <a:gridCol w="371405">
                  <a:extLst>
                    <a:ext uri="{9D8B030D-6E8A-4147-A177-3AD203B41FA5}">
                      <a16:colId xmlns:a16="http://schemas.microsoft.com/office/drawing/2014/main" val="2661468391"/>
                    </a:ext>
                  </a:extLst>
                </a:gridCol>
                <a:gridCol w="149714">
                  <a:extLst>
                    <a:ext uri="{9D8B030D-6E8A-4147-A177-3AD203B41FA5}">
                      <a16:colId xmlns:a16="http://schemas.microsoft.com/office/drawing/2014/main" val="1737305412"/>
                    </a:ext>
                  </a:extLst>
                </a:gridCol>
                <a:gridCol w="644921">
                  <a:extLst>
                    <a:ext uri="{9D8B030D-6E8A-4147-A177-3AD203B41FA5}">
                      <a16:colId xmlns:a16="http://schemas.microsoft.com/office/drawing/2014/main" val="3751290816"/>
                    </a:ext>
                  </a:extLst>
                </a:gridCol>
                <a:gridCol w="95011">
                  <a:extLst>
                    <a:ext uri="{9D8B030D-6E8A-4147-A177-3AD203B41FA5}">
                      <a16:colId xmlns:a16="http://schemas.microsoft.com/office/drawing/2014/main" val="2149415781"/>
                    </a:ext>
                  </a:extLst>
                </a:gridCol>
                <a:gridCol w="647799">
                  <a:extLst>
                    <a:ext uri="{9D8B030D-6E8A-4147-A177-3AD203B41FA5}">
                      <a16:colId xmlns:a16="http://schemas.microsoft.com/office/drawing/2014/main" val="577613098"/>
                    </a:ext>
                  </a:extLst>
                </a:gridCol>
                <a:gridCol w="92133">
                  <a:extLst>
                    <a:ext uri="{9D8B030D-6E8A-4147-A177-3AD203B41FA5}">
                      <a16:colId xmlns:a16="http://schemas.microsoft.com/office/drawing/2014/main" val="2139805363"/>
                    </a:ext>
                  </a:extLst>
                </a:gridCol>
                <a:gridCol w="656436">
                  <a:extLst>
                    <a:ext uri="{9D8B030D-6E8A-4147-A177-3AD203B41FA5}">
                      <a16:colId xmlns:a16="http://schemas.microsoft.com/office/drawing/2014/main" val="3171810759"/>
                    </a:ext>
                  </a:extLst>
                </a:gridCol>
                <a:gridCol w="95011">
                  <a:extLst>
                    <a:ext uri="{9D8B030D-6E8A-4147-A177-3AD203B41FA5}">
                      <a16:colId xmlns:a16="http://schemas.microsoft.com/office/drawing/2014/main" val="2648067133"/>
                    </a:ext>
                  </a:extLst>
                </a:gridCol>
                <a:gridCol w="633404">
                  <a:extLst>
                    <a:ext uri="{9D8B030D-6E8A-4147-A177-3AD203B41FA5}">
                      <a16:colId xmlns:a16="http://schemas.microsoft.com/office/drawing/2014/main" val="853902779"/>
                    </a:ext>
                  </a:extLst>
                </a:gridCol>
                <a:gridCol w="552788">
                  <a:extLst>
                    <a:ext uri="{9D8B030D-6E8A-4147-A177-3AD203B41FA5}">
                      <a16:colId xmlns:a16="http://schemas.microsoft.com/office/drawing/2014/main" val="3508718540"/>
                    </a:ext>
                  </a:extLst>
                </a:gridCol>
              </a:tblGrid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699227975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Costs of a sale: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2506333852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626815735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Prospect 1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Prospect 2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 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Prospect 3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 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Prospect 4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2779124729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1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Appointment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Desk research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 dirty="0">
                          <a:effectLst/>
                        </a:rPr>
                        <a:t>0,3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 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943521233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Phone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0,2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3335218785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Travel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1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2050071963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 err="1">
                          <a:effectLst/>
                        </a:rPr>
                        <a:t>Preso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1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421294996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Follow-up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0,1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2,6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2,6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2,6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2,6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74450462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412498317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2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Fullfillment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Internal discussion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0,2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1489241762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Letter/Mail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0,2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0,4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0,4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0,4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0,4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3253524986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1680900517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3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2nd appointment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Phone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 dirty="0">
                          <a:effectLst/>
                        </a:rPr>
                        <a:t>0,2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 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1338840212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Travel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1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 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3393755137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Preso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1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3506708537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Follow-up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0,1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2,3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 dirty="0">
                          <a:effectLst/>
                        </a:rPr>
                        <a:t>2,3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2,3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X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1297457430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 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1234361030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4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Proposal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Desk research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0,6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 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 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117703814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Internal discussion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2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 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1525458477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Production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2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 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1780993447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Accompanying letter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1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5,6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5,6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5,6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 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3031524286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 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1887535219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5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Endgame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External discussion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0,2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0,2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0,2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0,2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 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4043619268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Travel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1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x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 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x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 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1505118512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Signing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1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 dirty="0">
                          <a:effectLst/>
                        </a:rPr>
                        <a:t>2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 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</a:rPr>
                        <a:t> 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2345226496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1455120462"/>
                  </a:ext>
                </a:extLst>
              </a:tr>
              <a:tr h="15944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</a:rPr>
                        <a:t>No of Hours: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u="none" strike="noStrike">
                          <a:effectLst/>
                        </a:rPr>
                        <a:t>38,3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6" marR="6746" marT="6747" marB="0" anchor="b"/>
                </a:tc>
                <a:extLst>
                  <a:ext uri="{0D108BD9-81ED-4DB2-BD59-A6C34878D82A}">
                    <a16:rowId xmlns:a16="http://schemas.microsoft.com/office/drawing/2014/main" val="4214001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58849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4863" y="1331913"/>
            <a:ext cx="8787879" cy="45362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2000" dirty="0">
                <a:solidFill>
                  <a:srgbClr val="168CD1"/>
                </a:solidFill>
              </a:rPr>
              <a:t>How many clients do you think you can address and convince to purchase?</a:t>
            </a:r>
          </a:p>
          <a:p>
            <a:pPr>
              <a:defRPr/>
            </a:pPr>
            <a:endParaRPr lang="en-US" sz="2000" dirty="0">
              <a:solidFill>
                <a:srgbClr val="168CD1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rgbClr val="168CD1"/>
                </a:solidFill>
              </a:rPr>
              <a:t>How long will it take, what are the costs involved? </a:t>
            </a:r>
          </a:p>
          <a:p>
            <a:pPr>
              <a:defRPr/>
            </a:pPr>
            <a:endParaRPr lang="en-US" sz="2000" dirty="0">
              <a:solidFill>
                <a:srgbClr val="168CD1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rgbClr val="168CD1"/>
                </a:solidFill>
              </a:rPr>
              <a:t>Marketing costs: how do customers know about the product/ service</a:t>
            </a:r>
          </a:p>
          <a:p>
            <a:pPr lvl="1">
              <a:defRPr/>
            </a:pPr>
            <a:r>
              <a:rPr lang="en-US" dirty="0">
                <a:solidFill>
                  <a:srgbClr val="168CD1"/>
                </a:solidFill>
              </a:rPr>
              <a:t>(salary, brochures, trade shows, website, advertorials, …)</a:t>
            </a:r>
          </a:p>
          <a:p>
            <a:pPr lvl="1">
              <a:defRPr/>
            </a:pPr>
            <a:r>
              <a:rPr lang="en-US" dirty="0">
                <a:solidFill>
                  <a:srgbClr val="168CD1"/>
                </a:solidFill>
              </a:rPr>
              <a:t>Clients that buy and that don’t</a:t>
            </a:r>
          </a:p>
          <a:p>
            <a:pPr lvl="1">
              <a:defRPr/>
            </a:pPr>
            <a:r>
              <a:rPr lang="en-US" dirty="0">
                <a:solidFill>
                  <a:srgbClr val="168CD1"/>
                </a:solidFill>
              </a:rPr>
              <a:t>Conversion rate of clients reached and who will become a customer </a:t>
            </a:r>
          </a:p>
          <a:p>
            <a:pPr>
              <a:defRPr/>
            </a:pPr>
            <a:endParaRPr lang="en-US" sz="2000" dirty="0">
              <a:solidFill>
                <a:srgbClr val="168CD1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rgbClr val="168CD1"/>
                </a:solidFill>
              </a:rPr>
              <a:t>Sales costs: costs of installing and servicing a customer</a:t>
            </a:r>
          </a:p>
          <a:p>
            <a:pPr lvl="1">
              <a:defRPr/>
            </a:pPr>
            <a:r>
              <a:rPr lang="en-US" dirty="0">
                <a:solidFill>
                  <a:srgbClr val="168CD1"/>
                </a:solidFill>
              </a:rPr>
              <a:t>Installation cost: How long does implementation take? Is your product compatible?</a:t>
            </a:r>
          </a:p>
          <a:p>
            <a:pPr lvl="1">
              <a:defRPr/>
            </a:pPr>
            <a:r>
              <a:rPr lang="en-US" dirty="0">
                <a:solidFill>
                  <a:srgbClr val="168CD1"/>
                </a:solidFill>
              </a:rPr>
              <a:t>What service/ maintenance do you provide? </a:t>
            </a:r>
          </a:p>
          <a:p>
            <a:pPr lvl="1">
              <a:defRPr/>
            </a:pPr>
            <a:endParaRPr lang="en-US" dirty="0">
              <a:solidFill>
                <a:srgbClr val="168CD1"/>
              </a:solidFill>
            </a:endParaRPr>
          </a:p>
          <a:p>
            <a:pPr lvl="1">
              <a:defRPr/>
            </a:pPr>
            <a:endParaRPr lang="en-US" dirty="0">
              <a:solidFill>
                <a:srgbClr val="168CD1"/>
              </a:solidFill>
            </a:endParaRPr>
          </a:p>
          <a:p>
            <a:pPr marL="0" indent="0">
              <a:buNone/>
              <a:defRPr/>
            </a:pPr>
            <a:endParaRPr lang="en-US" dirty="0">
              <a:solidFill>
                <a:srgbClr val="168CD1"/>
              </a:solidFill>
            </a:endParaRPr>
          </a:p>
        </p:txBody>
      </p:sp>
      <p:sp>
        <p:nvSpPr>
          <p:cNvPr id="23555" name="Text Box 4"/>
          <p:cNvSpPr txBox="1">
            <a:spLocks noChangeArrowheads="1"/>
          </p:cNvSpPr>
          <p:nvPr/>
        </p:nvSpPr>
        <p:spPr bwMode="auto">
          <a:xfrm>
            <a:off x="9280525" y="6381751"/>
            <a:ext cx="37221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Times" pitchFamily="18" charset="0"/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Font typeface="Times" pitchFamily="18" charset="0"/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Font typeface="Times" pitchFamily="18" charset="0"/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Font typeface="Times" pitchFamily="18" charset="0"/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Font typeface="Times" pitchFamily="18" charset="0"/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nl-NL" sz="1000">
                <a:solidFill>
                  <a:srgbClr val="000000"/>
                </a:solidFill>
              </a:rPr>
              <a:t>7-3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864864" y="423652"/>
            <a:ext cx="8658432" cy="9271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>
            <a:normAutofit fontScale="90000"/>
          </a:bodyPr>
          <a:lstStyle/>
          <a:p>
            <a:pPr marL="2243138" indent="-2243138"/>
            <a:r>
              <a:rPr lang="en-GB" altLang="nl-NL" sz="2800" dirty="0">
                <a:solidFill>
                  <a:srgbClr val="002B60"/>
                </a:solidFill>
              </a:rPr>
              <a:t>Sales process – Time and Cost of customer Acquisition</a:t>
            </a:r>
          </a:p>
        </p:txBody>
      </p:sp>
    </p:spTree>
    <p:extLst>
      <p:ext uri="{BB962C8B-B14F-4D97-AF65-F5344CB8AC3E}">
        <p14:creationId xmlns:p14="http://schemas.microsoft.com/office/powerpoint/2010/main" val="14601669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25632" y="362472"/>
            <a:ext cx="8532812" cy="9271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marL="2243138" indent="-2243138"/>
            <a:r>
              <a:rPr lang="en-GB" altLang="nl-NL" sz="2800" dirty="0">
                <a:solidFill>
                  <a:srgbClr val="002B60"/>
                </a:solidFill>
              </a:rPr>
              <a:t>Sales process – Cost of customer Acquisition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2" t="33402" r="5144" b="14987"/>
          <a:stretch/>
        </p:blipFill>
        <p:spPr bwMode="auto">
          <a:xfrm>
            <a:off x="1225632" y="1144136"/>
            <a:ext cx="6498007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69308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59" t="35341" r="3897" b="16711"/>
          <a:stretch/>
        </p:blipFill>
        <p:spPr bwMode="auto">
          <a:xfrm>
            <a:off x="2351584" y="1440676"/>
            <a:ext cx="6627902" cy="429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5188" y="404813"/>
            <a:ext cx="7772400" cy="9271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marL="2243138" indent="-2243138"/>
            <a:r>
              <a:rPr lang="en-GB" altLang="nl-NL" sz="2800" dirty="0"/>
              <a:t>The sales process to reach your buyer</a:t>
            </a:r>
          </a:p>
        </p:txBody>
      </p:sp>
      <p:sp>
        <p:nvSpPr>
          <p:cNvPr id="2" name="Tekstvak 1"/>
          <p:cNvSpPr txBox="1"/>
          <p:nvPr/>
        </p:nvSpPr>
        <p:spPr>
          <a:xfrm>
            <a:off x="5633247" y="5229200"/>
            <a:ext cx="3312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i="1" dirty="0">
                <a:solidFill>
                  <a:srgbClr val="000000"/>
                </a:solidFill>
              </a:rPr>
              <a:t>electronic medical records</a:t>
            </a:r>
            <a:r>
              <a:rPr lang="en-GB" sz="1600" dirty="0">
                <a:solidFill>
                  <a:srgbClr val="000000"/>
                </a:solidFill>
              </a:rPr>
              <a:t> (</a:t>
            </a:r>
            <a:r>
              <a:rPr lang="en-GB" sz="1600" i="1" dirty="0">
                <a:solidFill>
                  <a:srgbClr val="000000"/>
                </a:solidFill>
              </a:rPr>
              <a:t>EMR</a:t>
            </a:r>
            <a:r>
              <a:rPr lang="en-GB" sz="1600" dirty="0">
                <a:solidFill>
                  <a:srgbClr val="000000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1019244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FAFB01C0-3700-A66A-E627-50525A74C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kern="0" dirty="0">
                <a:solidFill>
                  <a:srgbClr val="002B60"/>
                </a:solidFill>
              </a:rPr>
              <a:t>Communication narrative</a:t>
            </a:r>
            <a:endParaRPr lang="nl-NL" sz="3200" kern="0" dirty="0">
              <a:solidFill>
                <a:srgbClr val="002B60"/>
              </a:solidFill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846FFBF-4AF6-E173-CAE7-A9000BCB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116"/>
            <a:ext cx="10515600" cy="47117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Communication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users =/= Sales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sz="2000" dirty="0"/>
              <a:t>Communication supports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en-US" sz="2000" dirty="0"/>
              <a:t>process of </a:t>
            </a:r>
          </a:p>
          <a:p>
            <a:pPr>
              <a:buFontTx/>
              <a:buChar char="-"/>
            </a:pPr>
            <a:r>
              <a:rPr lang="en-US" sz="1600" dirty="0"/>
              <a:t>Identifying, anticipating, and satisfying user needs (VPC)</a:t>
            </a:r>
          </a:p>
          <a:p>
            <a:pPr>
              <a:buFontTx/>
              <a:buChar char="-"/>
            </a:pPr>
            <a:endParaRPr lang="en-US" sz="1600" dirty="0"/>
          </a:p>
          <a:p>
            <a:pPr>
              <a:buFontTx/>
              <a:buChar char="-"/>
            </a:pPr>
            <a:r>
              <a:rPr lang="en-US" sz="1600" dirty="0"/>
              <a:t>Understand, creating and communicate the value you offer to users , stakeholders, your organization</a:t>
            </a:r>
          </a:p>
          <a:p>
            <a:pPr lvl="1">
              <a:buFontTx/>
              <a:buChar char="-"/>
            </a:pPr>
            <a:r>
              <a:rPr lang="en-US" sz="1600" dirty="0"/>
              <a:t>understanding your audience </a:t>
            </a:r>
          </a:p>
          <a:p>
            <a:pPr lvl="1">
              <a:buFontTx/>
              <a:buChar char="-"/>
            </a:pPr>
            <a:endParaRPr lang="en-US" sz="1600" dirty="0"/>
          </a:p>
          <a:p>
            <a:pPr>
              <a:buFontTx/>
              <a:buChar char="-"/>
            </a:pPr>
            <a:r>
              <a:rPr lang="en-US" sz="1600" dirty="0"/>
              <a:t>Delivering a message that resonate with them through a marketing communication strategy</a:t>
            </a:r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r>
              <a:rPr lang="en-US" sz="1600" dirty="0"/>
              <a:t>Ultimately driving engagement and long-term relationships.</a:t>
            </a: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5742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308D4FD-4E74-F9D8-82EF-E8AA026265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6021261"/>
              </p:ext>
            </p:extLst>
          </p:nvPr>
        </p:nvGraphicFramePr>
        <p:xfrm>
          <a:off x="2067424" y="992187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el 4">
            <a:extLst>
              <a:ext uri="{FF2B5EF4-FFF2-40B4-BE49-F238E27FC236}">
                <a16:creationId xmlns:a16="http://schemas.microsoft.com/office/drawing/2014/main" id="{B081E69B-A2D0-FB4D-E976-39F9FF9ED67D}"/>
              </a:ext>
            </a:extLst>
          </p:cNvPr>
          <p:cNvSpPr txBox="1">
            <a:spLocks/>
          </p:cNvSpPr>
          <p:nvPr/>
        </p:nvSpPr>
        <p:spPr>
          <a:xfrm>
            <a:off x="677334" y="356391"/>
            <a:ext cx="8596668" cy="54723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kern="0">
                <a:solidFill>
                  <a:srgbClr val="002B60"/>
                </a:solidFill>
              </a:rPr>
              <a:t>Communication narrative</a:t>
            </a:r>
            <a:endParaRPr lang="nl-NL" sz="3200" kern="0" dirty="0">
              <a:solidFill>
                <a:srgbClr val="002B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4551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g1a61987af95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459" y="1281942"/>
            <a:ext cx="7207877" cy="532803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1a61987af95_0_79"/>
          <p:cNvSpPr txBox="1"/>
          <p:nvPr/>
        </p:nvSpPr>
        <p:spPr>
          <a:xfrm>
            <a:off x="935067" y="317100"/>
            <a:ext cx="9447200" cy="9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609630">
              <a:lnSpc>
                <a:spcPct val="115000"/>
              </a:lnSpc>
              <a:buClr>
                <a:srgbClr val="000000"/>
              </a:buClr>
              <a:buSzPts val="2500"/>
              <a:defRPr/>
            </a:pPr>
            <a:r>
              <a:rPr lang="en-GB" sz="3334" kern="0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Communicate your value proposition</a:t>
            </a:r>
            <a:endParaRPr sz="3334" kern="0" dirty="0">
              <a:solidFill>
                <a:prstClr val="black"/>
              </a:solidFill>
              <a:latin typeface="Arial"/>
              <a:ea typeface="Arial"/>
              <a:cs typeface="Arial"/>
              <a:sym typeface="Arial"/>
            </a:endParaRPr>
          </a:p>
          <a:p>
            <a:pPr defTabSz="609630">
              <a:lnSpc>
                <a:spcPct val="115000"/>
              </a:lnSpc>
              <a:buClr>
                <a:srgbClr val="000000"/>
              </a:buClr>
              <a:buSzPts val="2500"/>
              <a:defRPr/>
            </a:pPr>
            <a:endParaRPr sz="3334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CFBE56-7EB0-47A2-7B60-1217382F38CA}"/>
              </a:ext>
            </a:extLst>
          </p:cNvPr>
          <p:cNvSpPr txBox="1"/>
          <p:nvPr/>
        </p:nvSpPr>
        <p:spPr>
          <a:xfrm>
            <a:off x="7605486" y="2129749"/>
            <a:ext cx="4518780" cy="3232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875" defTabSz="609630">
              <a:lnSpc>
                <a:spcPct val="115000"/>
              </a:lnSpc>
              <a:spcBef>
                <a:spcPts val="800"/>
              </a:spcBef>
              <a:buClr>
                <a:prstClr val="black"/>
              </a:buClr>
              <a:buSzPts val="1700"/>
              <a:defRPr/>
            </a:pPr>
            <a:r>
              <a:rPr lang="en-GB" sz="1600" kern="0" dirty="0">
                <a:solidFill>
                  <a:prstClr val="black"/>
                </a:solidFill>
              </a:rPr>
              <a:t>The value proposition is:</a:t>
            </a:r>
          </a:p>
          <a:p>
            <a:pPr marL="160875" defTabSz="609630">
              <a:lnSpc>
                <a:spcPct val="115000"/>
              </a:lnSpc>
              <a:spcBef>
                <a:spcPts val="800"/>
              </a:spcBef>
              <a:buClr>
                <a:prstClr val="black"/>
              </a:buClr>
              <a:buSzPts val="1700"/>
              <a:defRPr/>
            </a:pPr>
            <a:r>
              <a:rPr lang="en-GB" sz="1600" b="1" kern="0" dirty="0">
                <a:solidFill>
                  <a:prstClr val="black"/>
                </a:solidFill>
              </a:rPr>
              <a:t>Our</a:t>
            </a:r>
            <a:r>
              <a:rPr lang="en-GB" sz="1600" kern="0" dirty="0">
                <a:solidFill>
                  <a:prstClr val="black"/>
                </a:solidFill>
              </a:rPr>
              <a:t> ocean thermal energy converter, </a:t>
            </a:r>
          </a:p>
          <a:p>
            <a:pPr marL="160875" defTabSz="609630">
              <a:lnSpc>
                <a:spcPct val="115000"/>
              </a:lnSpc>
              <a:spcBef>
                <a:spcPts val="800"/>
              </a:spcBef>
              <a:buClr>
                <a:prstClr val="black"/>
              </a:buClr>
              <a:buSzPts val="1700"/>
              <a:defRPr/>
            </a:pPr>
            <a:r>
              <a:rPr lang="en-GB" sz="1600" b="1" kern="0" dirty="0">
                <a:solidFill>
                  <a:prstClr val="black"/>
                </a:solidFill>
              </a:rPr>
              <a:t>helps</a:t>
            </a:r>
            <a:r>
              <a:rPr lang="en-GB" sz="1600" kern="0" dirty="0">
                <a:solidFill>
                  <a:prstClr val="black"/>
                </a:solidFill>
              </a:rPr>
              <a:t> beach resort hotels </a:t>
            </a:r>
          </a:p>
          <a:p>
            <a:pPr marL="160875" defTabSz="609630">
              <a:lnSpc>
                <a:spcPct val="115000"/>
              </a:lnSpc>
              <a:spcBef>
                <a:spcPts val="800"/>
              </a:spcBef>
              <a:buClr>
                <a:prstClr val="black"/>
              </a:buClr>
              <a:buSzPts val="1700"/>
              <a:defRPr/>
            </a:pPr>
            <a:r>
              <a:rPr lang="en-GB" sz="1600" b="1" kern="0" dirty="0">
                <a:solidFill>
                  <a:prstClr val="black"/>
                </a:solidFill>
              </a:rPr>
              <a:t>who want to</a:t>
            </a:r>
            <a:r>
              <a:rPr lang="en-GB" sz="1600" kern="0" dirty="0">
                <a:solidFill>
                  <a:prstClr val="black"/>
                </a:solidFill>
              </a:rPr>
              <a:t> offer good services and luxury to their tourists, such as ACs,</a:t>
            </a:r>
          </a:p>
          <a:p>
            <a:pPr marL="160875" defTabSz="609630">
              <a:lnSpc>
                <a:spcPct val="115000"/>
              </a:lnSpc>
              <a:spcBef>
                <a:spcPts val="800"/>
              </a:spcBef>
              <a:buClr>
                <a:prstClr val="black"/>
              </a:buClr>
              <a:buSzPts val="1700"/>
              <a:defRPr/>
            </a:pPr>
            <a:r>
              <a:rPr lang="en-GB" sz="1600" b="1" kern="0" dirty="0">
                <a:solidFill>
                  <a:prstClr val="black"/>
                </a:solidFill>
              </a:rPr>
              <a:t>by</a:t>
            </a:r>
            <a:r>
              <a:rPr lang="en-GB" sz="1600" kern="0" dirty="0">
                <a:solidFill>
                  <a:prstClr val="black"/>
                </a:solidFill>
              </a:rPr>
              <a:t> having stable energy delivery </a:t>
            </a:r>
          </a:p>
          <a:p>
            <a:pPr marL="160875" defTabSz="609630">
              <a:lnSpc>
                <a:spcPct val="115000"/>
              </a:lnSpc>
              <a:spcBef>
                <a:spcPts val="800"/>
              </a:spcBef>
              <a:buClr>
                <a:prstClr val="black"/>
              </a:buClr>
              <a:buSzPts val="1700"/>
              <a:defRPr/>
            </a:pPr>
            <a:r>
              <a:rPr lang="en-GB" sz="1600" b="1" kern="0" dirty="0">
                <a:solidFill>
                  <a:prstClr val="black"/>
                </a:solidFill>
              </a:rPr>
              <a:t>and </a:t>
            </a:r>
            <a:r>
              <a:rPr lang="en-GB" sz="1600" kern="0" dirty="0">
                <a:solidFill>
                  <a:prstClr val="black"/>
                </a:solidFill>
              </a:rPr>
              <a:t>low maintenance and low pollution</a:t>
            </a:r>
          </a:p>
          <a:p>
            <a:pPr marL="160875" defTabSz="609630">
              <a:lnSpc>
                <a:spcPct val="115000"/>
              </a:lnSpc>
              <a:spcBef>
                <a:spcPts val="800"/>
              </a:spcBef>
              <a:buClr>
                <a:prstClr val="black"/>
              </a:buClr>
              <a:buSzPts val="1700"/>
              <a:defRPr/>
            </a:pPr>
            <a:r>
              <a:rPr lang="en-GB" sz="1600" b="1" kern="0" dirty="0">
                <a:solidFill>
                  <a:prstClr val="black"/>
                </a:solidFill>
              </a:rPr>
              <a:t>unlike </a:t>
            </a:r>
            <a:r>
              <a:rPr lang="en-GB" sz="1600" kern="0" dirty="0">
                <a:solidFill>
                  <a:prstClr val="black"/>
                </a:solidFill>
              </a:rPr>
              <a:t>being dependent on weather conditions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97c40029fb_0_15"/>
          <p:cNvSpPr txBox="1"/>
          <p:nvPr/>
        </p:nvSpPr>
        <p:spPr>
          <a:xfrm>
            <a:off x="800849" y="279424"/>
            <a:ext cx="9447200" cy="9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609630">
              <a:lnSpc>
                <a:spcPct val="115000"/>
              </a:lnSpc>
              <a:buClr>
                <a:srgbClr val="000000"/>
              </a:buClr>
              <a:buSzPts val="2500"/>
              <a:defRPr/>
            </a:pPr>
            <a:r>
              <a:rPr lang="en-GB" sz="3334" kern="0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sz="3334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100295-E0B2-0D81-8D27-025EA19F6191}"/>
              </a:ext>
            </a:extLst>
          </p:cNvPr>
          <p:cNvSpPr txBox="1"/>
          <p:nvPr/>
        </p:nvSpPr>
        <p:spPr>
          <a:xfrm>
            <a:off x="800850" y="1496156"/>
            <a:ext cx="6344463" cy="395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>
              <a:lnSpc>
                <a:spcPct val="115000"/>
              </a:lnSpc>
              <a:buClr>
                <a:srgbClr val="000000"/>
              </a:buClr>
              <a:buSzPts val="2500"/>
              <a:defRPr/>
            </a:pPr>
            <a:r>
              <a:rPr lang="en-US" sz="1867" b="1" kern="0" dirty="0">
                <a:solidFill>
                  <a:prstClr val="black"/>
                </a:solidFill>
              </a:rPr>
              <a:t>- </a:t>
            </a:r>
            <a:endParaRPr lang="en-US" sz="1867" kern="0" dirty="0">
              <a:solidFill>
                <a:prstClr val="blac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44447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-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14157</TotalTime>
  <Words>1589</Words>
  <Application>Microsoft Office PowerPoint</Application>
  <PresentationFormat>Widescreen</PresentationFormat>
  <Paragraphs>424</Paragraphs>
  <Slides>32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Calibri</vt:lpstr>
      <vt:lpstr>Source Code Pro</vt:lpstr>
      <vt:lpstr>Tahoma</vt:lpstr>
      <vt:lpstr>Times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Channels</vt:lpstr>
      <vt:lpstr>Channels  plan to go to market</vt:lpstr>
      <vt:lpstr>For all: Full customer life cycle</vt:lpstr>
      <vt:lpstr>Full customer life cycle</vt:lpstr>
      <vt:lpstr>Full customer life cycle</vt:lpstr>
      <vt:lpstr>Full customer life cycle</vt:lpstr>
      <vt:lpstr>Full customer life cycle</vt:lpstr>
      <vt:lpstr>Full customer life cycle</vt:lpstr>
      <vt:lpstr>PowerPoint Presentation</vt:lpstr>
      <vt:lpstr>Map the customer Journey</vt:lpstr>
      <vt:lpstr>Get to know your user: Journey Mapping</vt:lpstr>
      <vt:lpstr>High-Level Product Specification </vt:lpstr>
      <vt:lpstr>High-Level Product Specification </vt:lpstr>
      <vt:lpstr>Again look at the early steps</vt:lpstr>
      <vt:lpstr>Cost of Marketing :  How do users know about your offer?</vt:lpstr>
      <vt:lpstr>Decision Making Unit (DMU)</vt:lpstr>
      <vt:lpstr>PowerPoint Presentation</vt:lpstr>
      <vt:lpstr>Decision Making Unit of your User</vt:lpstr>
      <vt:lpstr>Time and Cost of getting to your user</vt:lpstr>
      <vt:lpstr>Sales process – Time and Cost of customer Acquisition</vt:lpstr>
      <vt:lpstr>Sales process – Cost of customer Acquisition</vt:lpstr>
      <vt:lpstr>The sales process to reach your buyer</vt:lpstr>
      <vt:lpstr>Communication narrative</vt:lpstr>
      <vt:lpstr>PowerPoint Presentation</vt:lpstr>
      <vt:lpstr>PowerPoint Presentation</vt:lpstr>
      <vt:lpstr>PowerPoint Presentation</vt:lpstr>
    </vt:vector>
  </TitlesOfParts>
  <Company>TU Delft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Netwerkgebruiker SBS</dc:creator>
  <cp:lastModifiedBy>Victor Scholten</cp:lastModifiedBy>
  <cp:revision>676</cp:revision>
  <cp:lastPrinted>2012-09-05T09:25:10Z</cp:lastPrinted>
  <dcterms:created xsi:type="dcterms:W3CDTF">2003-02-14T12:59:34Z</dcterms:created>
  <dcterms:modified xsi:type="dcterms:W3CDTF">2026-04-08T09:22:53Z</dcterms:modified>
</cp:coreProperties>
</file>